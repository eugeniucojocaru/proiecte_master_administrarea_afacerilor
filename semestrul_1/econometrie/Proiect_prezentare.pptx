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8615-C5B1-A935-8D25-7719C49F1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E2ADA-731E-801F-2EE0-83193FC77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2F27-B97F-4B37-03F0-B669019A4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C51E2-E556-C83E-F3DB-50050933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BE31E-7F84-3A5E-69D6-2B801CF9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20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72F6-135B-79C5-B23B-79FAF974D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E6A6F-AF15-DE66-1579-830A102D0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C8133-6082-7FDC-72D6-4580D3E07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FD7F8-4A80-183A-4186-77BEA6CA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72912-F25A-1E0D-D283-C537EDDB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0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6B9B-A5DD-967F-7719-DD1CA927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2BC3F-91F9-B5DC-DA60-D08937F9F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A62F1-A446-6EC4-BCC9-0AF23CA8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A326F-3B06-CD8F-8872-481A612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03631-0E00-FF47-38D2-8BC219EA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0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09C2-2E41-BC52-291F-F4994DD0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505B-50E9-EC85-FD22-58EA94505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5BE44-5A32-D3CE-A89E-3F303D43F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D2248-2737-ED1D-7591-C5234FBF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60BE4-731B-3CEF-14E4-93413668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A81BC-14D5-CEF9-3722-762FFC38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8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1378-E6D6-272C-C284-04431D85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4F62D-5468-2891-C2D8-E5A614FAB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49416-8571-8558-A72C-A02EA8F21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93AAB-C0C3-8B41-A9C9-57510BF72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DD5C0-315E-2EFA-0157-CF8849F84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F8532-9E6D-BB51-A01C-0068F000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197F2-84AB-5255-3567-8D7A0725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2AB1DB-4BD5-7C81-436C-2C8F1336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31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A4AD4-38DC-0290-9231-8228C2733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A8510-2435-09AD-E155-9E903CCC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1FF29-E08F-0134-F71D-46B5B6B5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E3348-04B9-82E3-6F73-807406CC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2CC66D-2C0D-9734-A142-91CEF2C81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3B0D2-ABE1-7E40-1064-AAFBE64C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80DF3-CCDD-EE5A-02E9-E11EEE06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2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6665-5556-7328-0B30-9CDD8C7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30E6-F8A9-5A91-D896-B0F6781ED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702D9-25D3-BB8D-FA16-0E2CDA45D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E06C1-A37D-1C6B-33FC-FD5EE341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40936-0033-4465-C10E-DDCFCF6D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DEAA2-64CE-DB34-DFE8-B0A3921B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14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A23E-C125-776C-0370-54A320A87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C67E8-13CD-178B-7285-584EE6D4B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2005C-1B27-F7CB-2255-F8329DC4F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07C0DD-8301-EC94-5212-FC0E826C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FFA7B-7804-4195-E279-D0F81E2E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C6EE6-84A6-7651-80B0-76901C6B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1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4C30-2F88-77B4-A3D8-424CE4CD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13633-00CB-2D8A-0635-71EEB270C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2F029-4E73-1CD5-529C-D1EE40F5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8E8A2-31EC-5758-47AF-818E6B78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41A18-0DAC-54F7-A612-DB6B0E74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25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506AE-6B56-4CE7-98F7-81690EBB1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781F3-A95B-044A-4766-E79F88343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CF945-D54B-6AD3-E274-C781427D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F3BAB-D710-7CA4-4DA4-A2EAC9E6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F3795-9987-004C-7D6C-950628A5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4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CBA4CD-8C0D-287D-F917-BA54ED107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2705F-C3ED-D49E-6C66-EC1F13206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C3F64-A8E6-886B-D69B-707B3BDE7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88266-4B05-486E-BBF7-C08C5479F506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3338C-9966-4576-0B1B-6DDE12B0B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1CEAF-BF75-8946-0E8B-13B7AFF68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BFA55-2377-4FF3-AF22-84CBD20CC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12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statistics/292516/pc-online-game-market-value-worldwide/" TargetMode="External"/><Relationship Id="rId7" Type="http://schemas.openxmlformats.org/officeDocument/2006/relationships/image" Target="../media/image9.jpeg"/><Relationship Id="rId2" Type="http://schemas.openxmlformats.org/officeDocument/2006/relationships/hyperlink" Target="https://investor.activision.com/annual-repor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tatista.com/topics/8033/activision-blizzard/#statisticChapter" TargetMode="External"/><Relationship Id="rId5" Type="http://schemas.openxmlformats.org/officeDocument/2006/relationships/hyperlink" Target="https://www.statista.com/statistics/269665/activison-blizzards-revenue-by-region/" TargetMode="External"/><Relationship Id="rId4" Type="http://schemas.openxmlformats.org/officeDocument/2006/relationships/hyperlink" Target="https://www.statista.com/statistics/269660/activision-blizzards-net-annual-revenu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A816-12D1-CCE7-D179-08215E696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9670"/>
            <a:ext cx="9144000" cy="2387600"/>
          </a:xfrm>
        </p:spPr>
        <p:txBody>
          <a:bodyPr>
            <a:noAutofit/>
          </a:bodyPr>
          <a:lstStyle/>
          <a:p>
            <a:r>
              <a:rPr lang="en-US" sz="4400" dirty="0" err="1"/>
              <a:t>Influenta</a:t>
            </a:r>
            <a:r>
              <a:rPr lang="en-US" sz="4400" dirty="0"/>
              <a:t> </a:t>
            </a:r>
            <a:r>
              <a:rPr lang="en-US" sz="4400" dirty="0" err="1"/>
              <a:t>firmei</a:t>
            </a:r>
            <a:r>
              <a:rPr lang="en-US" sz="4400" dirty="0"/>
              <a:t> Activision Blizzard in EMEA </a:t>
            </a:r>
            <a:r>
              <a:rPr lang="en-US" sz="4400" dirty="0" err="1"/>
              <a:t>asupra</a:t>
            </a:r>
            <a:r>
              <a:rPr lang="en-US" sz="4400" dirty="0"/>
              <a:t> </a:t>
            </a:r>
            <a:r>
              <a:rPr lang="en-US" sz="4400" dirty="0" err="1"/>
              <a:t>valorii</a:t>
            </a:r>
            <a:r>
              <a:rPr lang="en-US" sz="4400" dirty="0"/>
              <a:t> </a:t>
            </a:r>
            <a:r>
              <a:rPr lang="en-US" sz="4400" dirty="0" err="1"/>
              <a:t>pietei</a:t>
            </a:r>
            <a:r>
              <a:rPr lang="en-US" sz="4400" dirty="0"/>
              <a:t> de gaming pe calculator la </a:t>
            </a:r>
            <a:r>
              <a:rPr lang="en-US" sz="4400" dirty="0" err="1"/>
              <a:t>nivel</a:t>
            </a:r>
            <a:r>
              <a:rPr lang="en-US" sz="4400" dirty="0"/>
              <a:t> global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3AAB1-594A-659E-B57F-6DF671C0C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34395" y="6162805"/>
            <a:ext cx="2657605" cy="31628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Cojocaru Eugeniu</a:t>
            </a:r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76CEBA79-51BF-DE40-16AC-F8B41277FB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260" y="350204"/>
            <a:ext cx="1792804" cy="1255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6421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D755A-DFFB-EA1D-6651-5EF9CCD46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85" y="397087"/>
            <a:ext cx="6231675" cy="3141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Subiect:</a:t>
            </a:r>
            <a:r>
              <a:rPr lang="ro-RO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Influenta firmei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Activision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Blizzard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EMEA asupra valorii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pietei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gaming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 calculator global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o-RO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Ipoteza:</a:t>
            </a:r>
            <a:r>
              <a:rPr lang="ro-RO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Firma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Activision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Blizzard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are un impact puternic asupra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gaming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-ului global, iar regiunea EMEA a avut un rol importat in etapa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initiala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expansiunii companiei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Activision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Blizzard</a:t>
            </a:r>
            <a:r>
              <a:rPr lang="ro-R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Pc Master Race - GIF - Imgur">
            <a:extLst>
              <a:ext uri="{FF2B5EF4-FFF2-40B4-BE49-F238E27FC236}">
                <a16:creationId xmlns:a16="http://schemas.microsoft.com/office/drawing/2014/main" id="{CE41374D-7DCC-56D3-DE15-9E71352C0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571" y="4832819"/>
            <a:ext cx="3264535" cy="183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ctivision Blizzard First Quarter 2022 Financial Results - Faltering CoD  Sales, Upcoming Warcraft Mobile Announcement : r/wow">
            <a:extLst>
              <a:ext uri="{FF2B5EF4-FFF2-40B4-BE49-F238E27FC236}">
                <a16:creationId xmlns:a16="http://schemas.microsoft.com/office/drawing/2014/main" id="{BFC3B901-32AD-44EE-5032-BAB6312DF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713" y="0"/>
            <a:ext cx="4792249" cy="479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8" descr="EMEA - NamuWiki">
            <a:extLst>
              <a:ext uri="{FF2B5EF4-FFF2-40B4-BE49-F238E27FC236}">
                <a16:creationId xmlns:a16="http://schemas.microsoft.com/office/drawing/2014/main" id="{DA22F7F8-AC0C-B04B-69C6-CEF5B3BC58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09333" y="658707"/>
            <a:ext cx="6156959" cy="615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10" descr="File:EMEA">
            <a:extLst>
              <a:ext uri="{FF2B5EF4-FFF2-40B4-BE49-F238E27FC236}">
                <a16:creationId xmlns:a16="http://schemas.microsoft.com/office/drawing/2014/main" id="{1D7ADAF3-FD0F-0B11-BDC1-4AE38A64C0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8027" y="171027"/>
            <a:ext cx="3410373" cy="341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B8E9532B-42E2-891D-DC44-7E693FCC66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8" name="Picture 14" descr="Khu vực EMEA là gì? Các khu vực liên quan đến EMEA">
            <a:extLst>
              <a:ext uri="{FF2B5EF4-FFF2-40B4-BE49-F238E27FC236}">
                <a16:creationId xmlns:a16="http://schemas.microsoft.com/office/drawing/2014/main" id="{78D56C87-615D-3ECA-AC33-6133DEA0F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85" y="4069080"/>
            <a:ext cx="5325315" cy="266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847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E9B07B-0A16-D0DB-F3E6-D11372460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245" y="0"/>
            <a:ext cx="5669280" cy="68655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9050E8-8B52-55D9-4C58-BFE57E148778}"/>
              </a:ext>
            </a:extLst>
          </p:cNvPr>
          <p:cNvSpPr txBox="1"/>
          <p:nvPr/>
        </p:nvSpPr>
        <p:spPr>
          <a:xfrm>
            <a:off x="618245" y="35539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Variabile</a:t>
            </a: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</a:t>
            </a: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model</a:t>
            </a:r>
            <a:r>
              <a:rPr lang="ro-RO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ro-RO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0474DE-7927-6F26-C74B-0F9F08A95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45" y="838764"/>
            <a:ext cx="7481815" cy="1632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EDB351-28A5-5754-D6D4-14314EA48202}"/>
              </a:ext>
            </a:extLst>
          </p:cNvPr>
          <p:cNvSpPr txBox="1"/>
          <p:nvPr/>
        </p:nvSpPr>
        <p:spPr>
          <a:xfrm>
            <a:off x="532848" y="2471404"/>
            <a:ext cx="59573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15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WMV = 3.4895 + 2.8273 * NRAB – 3.1125 * NRABE + 6.1487 * SIGPR</a:t>
            </a:r>
            <a:endParaRPr lang="en-US" sz="15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4319A0-838D-30A4-40E4-71DDA22DE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45" y="3028748"/>
            <a:ext cx="5647901" cy="3588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43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3FF2-A7BE-BB0C-E959-021860248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" y="1635125"/>
            <a:ext cx="10515600" cy="4351338"/>
          </a:xfrm>
        </p:spPr>
        <p:txBody>
          <a:bodyPr/>
          <a:lstStyle/>
          <a:p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veniturile nete ale firmei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Activision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Blizzard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EMEA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influenteaza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mod semnificativ valoarea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pietei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jocurilor online pe calculator la nivel Mondial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o-RO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o-RO" sz="1800" b="1" baseline="-25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NRAB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/2 = 0.5982/ 2 = 0.2991 &gt; 0.05 = α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veniturile nete ale firmei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Activision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Blizzard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EMEA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 </a:t>
            </a:r>
            <a:r>
              <a:rPr lang="ro-RO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influenteaza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mod semnificativ valoarea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pietei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jocurilor online pe calculator la nivel Mondial</a:t>
            </a:r>
            <a:r>
              <a:rPr lang="en-US" sz="1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o-RO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o-RO" sz="1800" b="1" baseline="-25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NRABE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/2 = 0.7298 / 2 = 0.3649 &gt; 0.05 = α</a:t>
            </a:r>
            <a:r>
              <a:rPr lang="en-US" sz="1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US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veniturile nete ale firmei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Activision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Blizzard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provenite din abonamente si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cumparaturi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in-game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influenteaza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mod semnificativ valoarea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pietei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jocurilor online pe calculator la nivel Mondial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(</a:t>
            </a:r>
            <a:r>
              <a:rPr lang="ro-RO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o-RO" sz="1800" b="1" baseline="-25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SIGPR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/2 = 0.2971/ 2 = 0.1485 &gt; 0.05 = α</a:t>
            </a:r>
            <a:r>
              <a:rPr lang="en-US" sz="1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US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NRAB, NRABE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SIGPR </a:t>
            </a:r>
            <a:r>
              <a:rPr lang="ro-RO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influenteaza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mod semnificativ valoarea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pietei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jocurilor online pe calculator la nivel Mondial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p-</a:t>
            </a:r>
            <a:r>
              <a:rPr lang="ro-RO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9.7805 * 10</a:t>
            </a:r>
            <a:r>
              <a:rPr lang="ro-RO" sz="1800" b="1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-9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&lt; 0.05 = α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B920A0-28EE-1676-BA41-56B3CCDCE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1020" y="384429"/>
            <a:ext cx="4137660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Interpretare</a:t>
            </a: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semnificatie</a:t>
            </a:r>
            <a:r>
              <a:rPr lang="ro-RO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ro-RO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00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91DC43-0F0F-0E2D-D93C-107FD5ACD3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384270"/>
            <a:ext cx="4114800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Concluzii</a:t>
            </a:r>
            <a:r>
              <a:rPr lang="ro-RO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ro-RO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A6D75B-B7D6-3C6E-2265-E58F9DE21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2061845"/>
            <a:ext cx="6126480" cy="3256915"/>
          </a:xfrm>
        </p:spPr>
        <p:txBody>
          <a:bodyPr>
            <a:normAutofit/>
          </a:bodyPr>
          <a:lstStyle/>
          <a:p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Activision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Blizzard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reprezentat, in tot intervalul cercetat, un pilon puternic al industriei,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aducand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medie de 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18.4276% din venituri pe an</a:t>
            </a:r>
            <a:endParaRPr lang="en-US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regiunea EMEA a avut un rol importat in etapa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initiala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expansiunii companiei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Activision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Blizzard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cu o medie de 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41.51% 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din totalul de venituri ale companiei in intervalul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2005-2010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 mai apoi </a:t>
            </a:r>
            <a:r>
              <a:rPr lang="ro-RO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scazand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38.26%</a:t>
            </a:r>
            <a:r>
              <a:rPr lang="ro-RO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din totalul de venituri ale companiei in intervalul complet de cercetare </a:t>
            </a:r>
            <a:r>
              <a:rPr lang="ro-RO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2005-2022</a:t>
            </a:r>
            <a:endParaRPr lang="en-US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36 World of Warcraft Memes to Buff Your Day (November 20, 2023) - Geek  Universe - Geek | Fanart | Cosplay | Pokémon GO | Geek Memes | Funny  pictures">
            <a:extLst>
              <a:ext uri="{FF2B5EF4-FFF2-40B4-BE49-F238E27FC236}">
                <a16:creationId xmlns:a16="http://schemas.microsoft.com/office/drawing/2014/main" id="{A4D5485F-B01C-CD58-EB81-23C216658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990600"/>
            <a:ext cx="4706337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39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73AE10-B62E-F1E0-C57F-E9B08C0D5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80" y="2061845"/>
            <a:ext cx="4914900" cy="4415695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o-RO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https://investor.activision.com/annual-reports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o-RO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https://www.statista.com/statistics/292516/pc-online-game-market-value-worldwide/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o-RO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https://www.statista.com/statistics/269660/activision-blizzards-net-annual-revenue/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o-RO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https://www.statista.com/statistics/269665/activison-blizzards-revenue-by-region/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o-RO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6"/>
              </a:rPr>
              <a:t>https://www.statista.com/topics/8033/activision-blizzard/#statisticChapter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EFEFC57-4BE4-52B5-BE25-2ABB7E2AEC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380460"/>
            <a:ext cx="2377440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Bibliografie</a:t>
            </a:r>
            <a:r>
              <a:rPr lang="ro-RO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ro-RO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hearthing_dev (@hearthing_dev) / X">
            <a:extLst>
              <a:ext uri="{FF2B5EF4-FFF2-40B4-BE49-F238E27FC236}">
                <a16:creationId xmlns:a16="http://schemas.microsoft.com/office/drawing/2014/main" id="{F5740756-672C-C2F8-EF63-FCF04C211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840" y="1746647"/>
            <a:ext cx="5981700" cy="336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33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A5F6EB5D19843B73E94E441B06D3D" ma:contentTypeVersion="8" ma:contentTypeDescription="Create a new document." ma:contentTypeScope="" ma:versionID="7357dec691a77d955b7e3c7f4461a36b">
  <xsd:schema xmlns:xsd="http://www.w3.org/2001/XMLSchema" xmlns:xs="http://www.w3.org/2001/XMLSchema" xmlns:p="http://schemas.microsoft.com/office/2006/metadata/properties" xmlns:ns2="49784997-9299-4d5f-a5cd-8c5e29601753" targetNamespace="http://schemas.microsoft.com/office/2006/metadata/properties" ma:root="true" ma:fieldsID="7870958557621804624b830161e26597" ns2:_="">
    <xsd:import namespace="49784997-9299-4d5f-a5cd-8c5e296017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784997-9299-4d5f-a5cd-8c5e296017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3FA4445-FE90-4458-8651-39980CAF6BA3}"/>
</file>

<file path=customXml/itemProps2.xml><?xml version="1.0" encoding="utf-8"?>
<ds:datastoreItem xmlns:ds="http://schemas.openxmlformats.org/officeDocument/2006/customXml" ds:itemID="{6B8DAE12-BF9B-4E3B-A03F-FBD4D0D497D7}"/>
</file>

<file path=customXml/itemProps3.xml><?xml version="1.0" encoding="utf-8"?>
<ds:datastoreItem xmlns:ds="http://schemas.openxmlformats.org/officeDocument/2006/customXml" ds:itemID="{2F314CDE-9B80-415A-81A9-8AF201A44E62}"/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375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Symbol</vt:lpstr>
      <vt:lpstr>Office Theme</vt:lpstr>
      <vt:lpstr>Influenta firmei Activision Blizzard in EMEA asupra valorii pietei de gaming pe calculator la nivel global</vt:lpstr>
      <vt:lpstr>PowerPoint Presentation</vt:lpstr>
      <vt:lpstr>PowerPoint Presentation</vt:lpstr>
      <vt:lpstr>Interpretare semnificatie: </vt:lpstr>
      <vt:lpstr>Concluzii: </vt:lpstr>
      <vt:lpstr>Bibliografie: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EUGENIU COJOCARU</dc:creator>
  <cp:lastModifiedBy>EUGENIU COJOCARU</cp:lastModifiedBy>
  <cp:revision>1</cp:revision>
  <dcterms:created xsi:type="dcterms:W3CDTF">2025-01-13T10:25:28Z</dcterms:created>
  <dcterms:modified xsi:type="dcterms:W3CDTF">2025-01-13T11:14:00Z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0x010100F70A5F6EB5D19843B73E94E441B06D3D</vt:lpwstr>
  </property>
</Properties>
</file>