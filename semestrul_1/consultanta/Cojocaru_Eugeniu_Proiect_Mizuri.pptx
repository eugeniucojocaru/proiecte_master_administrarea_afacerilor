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61" r:id="rId7"/>
    <p:sldId id="262" r:id="rId8"/>
    <p:sldId id="274" r:id="rId9"/>
    <p:sldId id="273" r:id="rId10"/>
    <p:sldId id="266" r:id="rId11"/>
    <p:sldId id="267" r:id="rId12"/>
    <p:sldId id="268" r:id="rId13"/>
    <p:sldId id="269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69F"/>
    <a:srgbClr val="1A6081"/>
    <a:srgbClr val="DF7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F569-6723-73C3-2010-BB534FF55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CFE8F-B1E3-95A9-0B5D-72011052A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D7E4F-28F3-BFC1-D3CD-FBFE1320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D36AE-DB69-B14E-FA48-CA7F5D04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3962-5840-A1A5-244B-52616C1C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7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529D-65D0-AC96-9B6B-E47C2FCF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01D9-8E58-95A5-F3F7-21DD1D9B7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525CD-973E-1A7A-4FC6-B722CAF3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AD228-5CA6-C912-3DB0-24D798BC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CE08B-43EC-B5A1-6C41-BE08FC39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4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4DF4-B15B-8D27-BDE7-18D89E0A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9BEFD-6C9E-5433-6EBA-3552074CD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E9EFE-7254-34F9-BCFF-5DF0B5F8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9EF8D-8856-0574-A886-0FD665CF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F925C-1729-D313-5762-E26A93AE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0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C600-801B-9297-E63B-4ED06FB1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7F350-5568-82B3-E39D-3457EFFE9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BB8D7-6500-7608-E1E6-D2B19EA0F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C7AEF-0A59-6439-1CF3-A527EAAB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B0635-6ED4-0EB5-ADA0-DDA600EB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9E137-FA7D-9DB2-D0BA-7198E81E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0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FDB4-44B3-C8E3-5EED-5D57B9E8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C7295-D422-49C2-5D98-AE4FEAB82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7746-E710-38AC-D423-781AFA374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30D20-7761-27E3-DB75-D60FC99B4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9808DD-45D3-A688-A888-421B50D4E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B5E53F-5730-9854-3488-D98C9ADD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F7555-F93E-E0F1-28A0-9F702776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ED9C5-72C8-3491-A85D-185DEF5B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3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B145-BA6B-E80C-DB42-D535192D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8D2D0-B47E-7404-7DDB-CC5F03470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3B55B-F487-54C7-3A8F-716D8E48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D339B-6D88-C958-DF77-BFD699D2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7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CFAA0-A384-FAB9-A97A-FA760405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459FC-4386-5591-D98A-4BF846CA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D9EBF-F319-B8E2-9BBC-BCC4403D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0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899C-2BD6-59CD-C3CE-2C63EE53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3F9B-D83B-9183-4E3E-1B101F2DE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AAEC3-10A7-82C7-B2BA-E11DC2FD2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15169-326A-E250-51E3-C7B94907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99F5C-7AAD-1D4E-7085-BEF323F8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5DE7E-6CD0-616D-3607-5F0B66BF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6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1680-46A1-A48A-F077-1D1C13D2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741F2-9083-C625-4936-E818173ECC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7B6F2-5C15-BA7E-ED81-2A5FCD497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612E3-154C-89DB-2EC6-9C132C1DD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B20E5-D7B2-6056-9ED5-987C8540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99012-67E3-3668-D4E0-2BE6C6C4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1006-056E-C0ED-C920-19AB00D2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DD21F-FA71-67B2-E43A-351C4179D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877A9-901D-2E20-E011-30A62BDD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04155-0A7D-DE75-B57A-51A67B1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8BB6C-61B2-0570-25AE-0BC5CC96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4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A0C30-CDC8-5C13-4FB4-8D7D2B903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021E2-2F5C-8F5F-3AA3-5BA8F8A1F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156B4-AB7B-2586-2B84-D8B9DB39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A0244-870C-09D2-842D-AEA14816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53C01-2F03-0BE9-7CB7-8B410BCD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1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210E1-06C3-24E9-00C7-8CD89BC5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900CA-2109-6AB3-4B02-449D32C3A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7FB3D-676A-448D-753F-48A4BE48C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672D6-1517-464B-8915-FE7F8BDCAA1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4D844-94BF-A9CA-1955-6CCB4E927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B09EA-5335-3C2C-1570-3591BE80F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BA102-73EA-42B7-BA61-F478D37EE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8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64134-2B58-B65B-279F-4F71DACB9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6549" y="652864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b="1" dirty="0">
                <a:solidFill>
                  <a:srgbClr val="FFFFFF"/>
                </a:solidFill>
              </a:rPr>
              <a:t>MIZURI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BC0E8-7841-DDC8-66CD-05905DA50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406" y="3628476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ro-RO" sz="2000" dirty="0">
                <a:solidFill>
                  <a:srgbClr val="FFFFFF"/>
                </a:solidFill>
              </a:rPr>
              <a:t>NAVETA NU TREBUIE SĂ FIE UN FACTOR DE STRES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28EC9C6-9EE4-90A5-822B-A9D3096D6739}"/>
              </a:ext>
            </a:extLst>
          </p:cNvPr>
          <p:cNvSpPr txBox="1">
            <a:spLocks/>
          </p:cNvSpPr>
          <p:nvPr/>
        </p:nvSpPr>
        <p:spPr>
          <a:xfrm>
            <a:off x="856114" y="6205136"/>
            <a:ext cx="2288739" cy="5048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FFFFFF"/>
                </a:solidFill>
              </a:rPr>
              <a:t>COJOCARU EUGENIU</a:t>
            </a:r>
          </a:p>
        </p:txBody>
      </p:sp>
    </p:spTree>
    <p:extLst>
      <p:ext uri="{BB962C8B-B14F-4D97-AF65-F5344CB8AC3E}">
        <p14:creationId xmlns:p14="http://schemas.microsoft.com/office/powerpoint/2010/main" val="720967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F70D13-A4AE-6896-6439-1ACC435A5EB6}"/>
              </a:ext>
            </a:extLst>
          </p:cNvPr>
          <p:cNvSpPr txBox="1"/>
          <p:nvPr/>
        </p:nvSpPr>
        <p:spPr>
          <a:xfrm>
            <a:off x="1804988" y="1442172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6600" kern="12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O SOLUȚIE</a:t>
            </a:r>
            <a:endParaRPr lang="en-US" sz="6600" kern="1200" dirty="0">
              <a:solidFill>
                <a:srgbClr val="1A608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04F10-F831-E717-5E68-0ADBAC450E36}"/>
              </a:ext>
            </a:extLst>
          </p:cNvPr>
          <p:cNvSpPr txBox="1"/>
          <p:nvPr/>
        </p:nvSpPr>
        <p:spPr>
          <a:xfrm>
            <a:off x="2566988" y="3962400"/>
            <a:ext cx="7058025" cy="581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ro-RO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CE?</a:t>
            </a:r>
            <a:endParaRPr lang="en-US" sz="28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82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59BCC-07C2-5F6D-097E-F092B3BEA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72FCD1-8AF4-9EF1-1476-D4A7D7416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AC98A16-4CF7-F227-60AF-ECD2D93D1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DCBC3-C950-9D7C-A4AB-786EFAA49153}"/>
              </a:ext>
            </a:extLst>
          </p:cNvPr>
          <p:cNvSpPr txBox="1"/>
          <p:nvPr/>
        </p:nvSpPr>
        <p:spPr>
          <a:xfrm>
            <a:off x="1804988" y="1442172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6600" kern="12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SĂ CA</a:t>
            </a:r>
            <a:r>
              <a:rPr lang="ro-RO" sz="66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ȘTIGĂM TIMP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6600" kern="12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SĂ NE UȘURĂM VIAȚA</a:t>
            </a:r>
            <a:endParaRPr lang="en-US" sz="6600" kern="1200" dirty="0">
              <a:solidFill>
                <a:srgbClr val="1A608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225D12-81E7-6131-B2BC-D59519A28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B6CCD-1C69-8E13-617F-E0CBE7B70028}"/>
              </a:ext>
            </a:extLst>
          </p:cNvPr>
          <p:cNvSpPr txBox="1"/>
          <p:nvPr/>
        </p:nvSpPr>
        <p:spPr>
          <a:xfrm>
            <a:off x="2566988" y="3962400"/>
            <a:ext cx="7058025" cy="581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ro-RO" sz="2800" dirty="0">
                <a:solidFill>
                  <a:srgbClr val="FFFFFF"/>
                </a:solidFill>
              </a:rPr>
              <a:t>CU CE SCOP?</a:t>
            </a:r>
            <a:endParaRPr lang="en-US" sz="28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557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3B3D-B8E6-EC1B-56D8-4A5A2687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F94064-B15B-A759-2516-1E627B373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BF960-7FB7-45F0-A70F-11B6246BB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4847D8-0DE8-029B-DF0A-3C5C88D1DDE8}"/>
              </a:ext>
            </a:extLst>
          </p:cNvPr>
          <p:cNvSpPr txBox="1"/>
          <p:nvPr/>
        </p:nvSpPr>
        <p:spPr>
          <a:xfrm>
            <a:off x="1804988" y="1442172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4800" kern="12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SĂ </a:t>
            </a:r>
            <a:r>
              <a:rPr lang="en-US" sz="4800" kern="12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CRE</a:t>
            </a:r>
            <a:r>
              <a:rPr lang="ro-RO" sz="48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ȘTEM PREDICTIBILITATEA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4800" kern="12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SĂ REDUCEM STRESUL</a:t>
            </a:r>
            <a:endParaRPr lang="en-US" sz="6600" kern="1200" dirty="0">
              <a:solidFill>
                <a:srgbClr val="1A608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8E3437-5066-64C7-965C-C8169F57F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C5FF5-E19A-1EDC-7D68-74AFF88047AB}"/>
              </a:ext>
            </a:extLst>
          </p:cNvPr>
          <p:cNvSpPr txBox="1"/>
          <p:nvPr/>
        </p:nvSpPr>
        <p:spPr>
          <a:xfrm>
            <a:off x="2566988" y="3962400"/>
            <a:ext cx="7058025" cy="581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FFFFFF"/>
                </a:solidFill>
              </a:rPr>
              <a:t>DE CE</a:t>
            </a:r>
            <a:r>
              <a:rPr lang="ro-RO" sz="2800" dirty="0">
                <a:solidFill>
                  <a:srgbClr val="FFFFFF"/>
                </a:solidFill>
              </a:rPr>
              <a:t>?</a:t>
            </a:r>
            <a:endParaRPr lang="en-US" sz="28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91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B3ED4-94EE-2CD6-A0D0-C8F3BE32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E34DD8F-85DD-DE6C-3102-3147CE140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9EB28B-0521-BCCD-3C21-A31BC511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7017BB-CF1B-384D-8D82-D3C44DC3CFFF}"/>
              </a:ext>
            </a:extLst>
          </p:cNvPr>
          <p:cNvSpPr txBox="1"/>
          <p:nvPr/>
        </p:nvSpPr>
        <p:spPr>
          <a:xfrm>
            <a:off x="1804988" y="1442172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6600" kern="1200" dirty="0">
                <a:solidFill>
                  <a:srgbClr val="1A6081"/>
                </a:solidFill>
                <a:latin typeface="+mj-lt"/>
                <a:ea typeface="+mj-ea"/>
                <a:cs typeface="+mj-cs"/>
              </a:rPr>
              <a:t>STANDARDIZAREA PROCESELOR</a:t>
            </a:r>
            <a:endParaRPr lang="en-US" sz="8800" kern="1200" dirty="0">
              <a:solidFill>
                <a:srgbClr val="1A608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A1F53F-65EA-A0F1-28F9-296EB08EE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F3CA0-357B-CBDA-61E6-FCFB01B24441}"/>
              </a:ext>
            </a:extLst>
          </p:cNvPr>
          <p:cNvSpPr txBox="1"/>
          <p:nvPr/>
        </p:nvSpPr>
        <p:spPr>
          <a:xfrm>
            <a:off x="2566988" y="3962400"/>
            <a:ext cx="7058025" cy="581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ro-RO" sz="2800" dirty="0">
                <a:solidFill>
                  <a:srgbClr val="FFFFFF"/>
                </a:solidFill>
              </a:rPr>
              <a:t>CUM?</a:t>
            </a:r>
            <a:endParaRPr lang="en-US" sz="28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63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uple of people with a puzzle piece&#10;&#10;Description automatically generated">
            <a:extLst>
              <a:ext uri="{FF2B5EF4-FFF2-40B4-BE49-F238E27FC236}">
                <a16:creationId xmlns:a16="http://schemas.microsoft.com/office/drawing/2014/main" id="{F5484DDA-1C82-5969-4818-1E0D553FB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160" y="526278"/>
            <a:ext cx="6221679" cy="6221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CC4635-FC33-6522-8149-7E3C6ECBB50A}"/>
              </a:ext>
            </a:extLst>
          </p:cNvPr>
          <p:cNvSpPr txBox="1"/>
          <p:nvPr/>
        </p:nvSpPr>
        <p:spPr>
          <a:xfrm>
            <a:off x="3339979" y="1916293"/>
            <a:ext cx="2112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A6081"/>
                </a:solidFill>
              </a:rPr>
              <a:t>O</a:t>
            </a:r>
            <a:r>
              <a:rPr lang="ro-RO" sz="3200" b="1" dirty="0">
                <a:solidFill>
                  <a:srgbClr val="1A6081"/>
                </a:solidFill>
              </a:rPr>
              <a:t>K</a:t>
            </a:r>
            <a:r>
              <a:rPr lang="en-US" sz="3200" b="1" dirty="0">
                <a:solidFill>
                  <a:srgbClr val="1A6081"/>
                </a:solidFill>
              </a:rPr>
              <a:t>, </a:t>
            </a:r>
            <a:r>
              <a:rPr lang="ro-RO" sz="3200" b="1" dirty="0">
                <a:solidFill>
                  <a:srgbClr val="1A6081"/>
                </a:solidFill>
              </a:rPr>
              <a:t>DECI</a:t>
            </a:r>
            <a:r>
              <a:rPr lang="en-US" sz="3200" b="1" dirty="0">
                <a:solidFill>
                  <a:srgbClr val="1A6081"/>
                </a:solidFill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A1B74-EDD0-05C8-3B0C-004E50CDAE58}"/>
              </a:ext>
            </a:extLst>
          </p:cNvPr>
          <p:cNvSpPr txBox="1"/>
          <p:nvPr/>
        </p:nvSpPr>
        <p:spPr>
          <a:xfrm>
            <a:off x="7409202" y="1608515"/>
            <a:ext cx="1632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400" b="1" dirty="0">
                <a:solidFill>
                  <a:srgbClr val="1A6081"/>
                </a:solidFill>
              </a:rPr>
              <a:t>SĂ NE APUCAM DE LUCRU</a:t>
            </a:r>
            <a:endParaRPr lang="en-US" sz="2400" b="1" dirty="0">
              <a:solidFill>
                <a:srgbClr val="1A60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orange rectangle&#10;&#10;Description automatically generated">
            <a:extLst>
              <a:ext uri="{FF2B5EF4-FFF2-40B4-BE49-F238E27FC236}">
                <a16:creationId xmlns:a16="http://schemas.microsoft.com/office/drawing/2014/main" id="{A06EB97C-0035-8768-BB37-BED4CE5C7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397" y="3821088"/>
            <a:ext cx="3361208" cy="3361208"/>
          </a:xfrm>
          <a:prstGeom prst="rect">
            <a:avLst/>
          </a:prstGeom>
        </p:spPr>
      </p:pic>
      <p:pic>
        <p:nvPicPr>
          <p:cNvPr id="10" name="Picture 9" descr="A blue and orange rectangle&#10;&#10;Description automatically generated">
            <a:extLst>
              <a:ext uri="{FF2B5EF4-FFF2-40B4-BE49-F238E27FC236}">
                <a16:creationId xmlns:a16="http://schemas.microsoft.com/office/drawing/2014/main" id="{9AC30D1C-F545-99D2-9287-D4F6C21CF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44" y="1170988"/>
            <a:ext cx="3361208" cy="3361208"/>
          </a:xfrm>
          <a:prstGeom prst="rect">
            <a:avLst/>
          </a:prstGeom>
        </p:spPr>
      </p:pic>
      <p:pic>
        <p:nvPicPr>
          <p:cNvPr id="9" name="Picture 8" descr="A blue and orange rectangle&#10;&#10;Description automatically generated">
            <a:extLst>
              <a:ext uri="{FF2B5EF4-FFF2-40B4-BE49-F238E27FC236}">
                <a16:creationId xmlns:a16="http://schemas.microsoft.com/office/drawing/2014/main" id="{B626BA47-3DD2-01F1-DD7D-D60393075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449" y="1170988"/>
            <a:ext cx="3361208" cy="33612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F8160D-223E-B194-4A45-CFFB9FEA6AB5}"/>
              </a:ext>
            </a:extLst>
          </p:cNvPr>
          <p:cNvSpPr txBox="1"/>
          <p:nvPr/>
        </p:nvSpPr>
        <p:spPr>
          <a:xfrm>
            <a:off x="1201449" y="402344"/>
            <a:ext cx="2529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A6081"/>
                </a:solidFill>
              </a:rPr>
              <a:t>IDEEA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EB03D-C606-6172-3BA7-3DF979528D1E}"/>
              </a:ext>
            </a:extLst>
          </p:cNvPr>
          <p:cNvSpPr txBox="1"/>
          <p:nvPr/>
        </p:nvSpPr>
        <p:spPr>
          <a:xfrm>
            <a:off x="1547078" y="2112928"/>
            <a:ext cx="26699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Aplica</a:t>
            </a:r>
            <a:r>
              <a:rPr lang="ro-RO" sz="2000" dirty="0">
                <a:solidFill>
                  <a:schemeClr val="bg1"/>
                </a:solidFill>
              </a:rPr>
              <a:t>ț</a:t>
            </a:r>
            <a:r>
              <a:rPr lang="en-US" sz="2000" dirty="0" err="1">
                <a:solidFill>
                  <a:schemeClr val="bg1"/>
                </a:solidFill>
              </a:rPr>
              <a:t>ie</a:t>
            </a:r>
            <a:r>
              <a:rPr lang="en-US" sz="2000" dirty="0">
                <a:solidFill>
                  <a:schemeClr val="bg1"/>
                </a:solidFill>
              </a:rPr>
              <a:t> web care </a:t>
            </a:r>
            <a:r>
              <a:rPr lang="en-US" sz="2000" dirty="0" err="1">
                <a:solidFill>
                  <a:schemeClr val="bg1"/>
                </a:solidFill>
              </a:rPr>
              <a:t>permite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unui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utilizator</a:t>
            </a:r>
            <a:r>
              <a:rPr lang="en-US" sz="2000" dirty="0">
                <a:solidFill>
                  <a:schemeClr val="bg1"/>
                </a:solidFill>
              </a:rPr>
              <a:t> s</a:t>
            </a:r>
            <a:r>
              <a:rPr lang="ro-RO" sz="2000" dirty="0">
                <a:solidFill>
                  <a:schemeClr val="bg1"/>
                </a:solidFill>
              </a:rPr>
              <a:t>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o-RO" sz="2000" dirty="0" err="1">
                <a:solidFill>
                  <a:schemeClr val="bg1"/>
                </a:solidFill>
              </a:rPr>
              <a:t>îș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rezerve</a:t>
            </a:r>
            <a:r>
              <a:rPr lang="en-US" sz="2000" dirty="0">
                <a:solidFill>
                  <a:schemeClr val="bg1"/>
                </a:solidFill>
              </a:rPr>
              <a:t> un loc </a:t>
            </a:r>
            <a:r>
              <a:rPr lang="ro-RO" sz="2000" dirty="0">
                <a:solidFill>
                  <a:schemeClr val="bg1"/>
                </a:solidFill>
              </a:rPr>
              <a:t>î</a:t>
            </a:r>
            <a:r>
              <a:rPr lang="en-US" sz="2000" dirty="0">
                <a:solidFill>
                  <a:schemeClr val="bg1"/>
                </a:solidFill>
              </a:rPr>
              <a:t>n </a:t>
            </a:r>
            <a:r>
              <a:rPr lang="en-US" sz="2000" dirty="0" err="1">
                <a:solidFill>
                  <a:schemeClr val="bg1"/>
                </a:solidFill>
              </a:rPr>
              <a:t>mijlocul</a:t>
            </a:r>
            <a:r>
              <a:rPr lang="en-US" sz="2000" dirty="0">
                <a:solidFill>
                  <a:schemeClr val="bg1"/>
                </a:solidFill>
              </a:rPr>
              <a:t> de transport </a:t>
            </a:r>
            <a:r>
              <a:rPr lang="en-US" sz="2000" dirty="0" err="1">
                <a:solidFill>
                  <a:schemeClr val="bg1"/>
                </a:solidFill>
              </a:rPr>
              <a:t>selectat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AE44B-6252-B184-8042-D4206366D2B3}"/>
              </a:ext>
            </a:extLst>
          </p:cNvPr>
          <p:cNvSpPr txBox="1"/>
          <p:nvPr/>
        </p:nvSpPr>
        <p:spPr>
          <a:xfrm>
            <a:off x="7916254" y="1882096"/>
            <a:ext cx="27403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Aplica</a:t>
            </a:r>
            <a:r>
              <a:rPr lang="ro-RO" sz="2000" dirty="0">
                <a:solidFill>
                  <a:schemeClr val="bg1"/>
                </a:solidFill>
              </a:rPr>
              <a:t>ț</a:t>
            </a:r>
            <a:r>
              <a:rPr lang="en-US" sz="2000" dirty="0" err="1">
                <a:solidFill>
                  <a:schemeClr val="bg1"/>
                </a:solidFill>
              </a:rPr>
              <a:t>ie</a:t>
            </a:r>
            <a:r>
              <a:rPr lang="en-US" sz="2000" dirty="0">
                <a:solidFill>
                  <a:schemeClr val="bg1"/>
                </a:solidFill>
              </a:rPr>
              <a:t> web care </a:t>
            </a:r>
            <a:r>
              <a:rPr lang="en-US" sz="2000" dirty="0" err="1">
                <a:solidFill>
                  <a:schemeClr val="bg1"/>
                </a:solidFill>
              </a:rPr>
              <a:t>permite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firmei</a:t>
            </a:r>
            <a:r>
              <a:rPr lang="en-US" sz="2000" dirty="0">
                <a:solidFill>
                  <a:schemeClr val="bg1"/>
                </a:solidFill>
              </a:rPr>
              <a:t> de transport s</a:t>
            </a:r>
            <a:r>
              <a:rPr lang="ro-RO" sz="2000" dirty="0">
                <a:solidFill>
                  <a:schemeClr val="bg1"/>
                </a:solidFill>
              </a:rPr>
              <a:t>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o-RO" sz="2000" dirty="0" err="1">
                <a:solidFill>
                  <a:schemeClr val="bg1"/>
                </a:solidFill>
              </a:rPr>
              <a:t>îș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promoveze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serviciile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o-RO" sz="2000" dirty="0">
                <a:solidFill>
                  <a:schemeClr val="bg1"/>
                </a:solidFill>
              </a:rPr>
              <a:t>ș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s</a:t>
            </a:r>
            <a:r>
              <a:rPr lang="ro-RO" sz="2000" dirty="0">
                <a:solidFill>
                  <a:schemeClr val="bg1"/>
                </a:solidFill>
              </a:rPr>
              <a:t>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o-RO" sz="2000" dirty="0" err="1">
                <a:solidFill>
                  <a:schemeClr val="bg1"/>
                </a:solidFill>
              </a:rPr>
              <a:t>îș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eficientizeze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procesele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20CCB-1C59-3B39-6026-83BA384148CE}"/>
              </a:ext>
            </a:extLst>
          </p:cNvPr>
          <p:cNvSpPr txBox="1"/>
          <p:nvPr/>
        </p:nvSpPr>
        <p:spPr>
          <a:xfrm>
            <a:off x="4670642" y="4609140"/>
            <a:ext cx="285071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Platform</a:t>
            </a:r>
            <a:r>
              <a:rPr lang="ro-RO" sz="1500" dirty="0">
                <a:solidFill>
                  <a:schemeClr val="bg1"/>
                </a:solidFill>
              </a:rPr>
              <a:t>ă</a:t>
            </a:r>
            <a:r>
              <a:rPr lang="en-US" sz="1500" dirty="0">
                <a:solidFill>
                  <a:schemeClr val="bg1"/>
                </a:solidFill>
              </a:rPr>
              <a:t> web </a:t>
            </a:r>
            <a:r>
              <a:rPr lang="ro-RO" sz="1500" dirty="0">
                <a:solidFill>
                  <a:schemeClr val="bg1"/>
                </a:solidFill>
              </a:rPr>
              <a:t>ș</a:t>
            </a:r>
            <a:r>
              <a:rPr lang="en-US" sz="1500" dirty="0" err="1">
                <a:solidFill>
                  <a:schemeClr val="bg1"/>
                </a:solidFill>
              </a:rPr>
              <a:t>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aplica</a:t>
            </a:r>
            <a:r>
              <a:rPr lang="ro-RO" sz="1500" dirty="0">
                <a:solidFill>
                  <a:schemeClr val="bg1"/>
                </a:solidFill>
              </a:rPr>
              <a:t>ț</a:t>
            </a:r>
            <a:r>
              <a:rPr lang="en-US" sz="1500" dirty="0" err="1">
                <a:solidFill>
                  <a:schemeClr val="bg1"/>
                </a:solidFill>
              </a:rPr>
              <a:t>ie</a:t>
            </a:r>
            <a:r>
              <a:rPr lang="en-US" sz="1500" dirty="0">
                <a:solidFill>
                  <a:schemeClr val="bg1"/>
                </a:solidFill>
              </a:rPr>
              <a:t> mobile care </a:t>
            </a:r>
            <a:r>
              <a:rPr lang="en-US" sz="1500" dirty="0" err="1">
                <a:solidFill>
                  <a:schemeClr val="bg1"/>
                </a:solidFill>
              </a:rPr>
              <a:t>orchestreaz</a:t>
            </a:r>
            <a:r>
              <a:rPr lang="ro-RO" sz="1500" dirty="0">
                <a:solidFill>
                  <a:schemeClr val="bg1"/>
                </a:solidFill>
              </a:rPr>
              <a:t>ă</a:t>
            </a:r>
            <a:r>
              <a:rPr lang="en-US" sz="1500" dirty="0">
                <a:solidFill>
                  <a:schemeClr val="bg1"/>
                </a:solidFill>
              </a:rPr>
              <a:t> at</a:t>
            </a:r>
            <a:r>
              <a:rPr lang="ro-RO" sz="1500" dirty="0">
                <a:solidFill>
                  <a:schemeClr val="bg1"/>
                </a:solidFill>
              </a:rPr>
              <a:t>â</a:t>
            </a:r>
            <a:r>
              <a:rPr lang="en-US" sz="1500" dirty="0">
                <a:solidFill>
                  <a:schemeClr val="bg1"/>
                </a:solidFill>
              </a:rPr>
              <a:t>t </a:t>
            </a:r>
            <a:r>
              <a:rPr lang="en-US" sz="1500" dirty="0" err="1">
                <a:solidFill>
                  <a:schemeClr val="bg1"/>
                </a:solidFill>
              </a:rPr>
              <a:t>servicii</a:t>
            </a:r>
            <a:r>
              <a:rPr lang="en-US" sz="1500" dirty="0">
                <a:solidFill>
                  <a:schemeClr val="bg1"/>
                </a:solidFill>
              </a:rPr>
              <a:t> din </a:t>
            </a:r>
            <a:r>
              <a:rPr lang="en-US" sz="1500" dirty="0" err="1">
                <a:solidFill>
                  <a:schemeClr val="bg1"/>
                </a:solidFill>
              </a:rPr>
              <a:t>industria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transportului</a:t>
            </a:r>
            <a:r>
              <a:rPr lang="en-US" sz="1500" dirty="0">
                <a:solidFill>
                  <a:schemeClr val="bg1"/>
                </a:solidFill>
              </a:rPr>
              <a:t> de </a:t>
            </a:r>
            <a:r>
              <a:rPr lang="en-US" sz="1500" dirty="0" err="1">
                <a:solidFill>
                  <a:schemeClr val="bg1"/>
                </a:solidFill>
              </a:rPr>
              <a:t>persoane</a:t>
            </a:r>
            <a:r>
              <a:rPr lang="en-US" sz="1500" dirty="0">
                <a:solidFill>
                  <a:schemeClr val="bg1"/>
                </a:solidFill>
              </a:rPr>
              <a:t> c</a:t>
            </a:r>
            <a:r>
              <a:rPr lang="ro-RO" sz="1500" dirty="0">
                <a:solidFill>
                  <a:schemeClr val="bg1"/>
                </a:solidFill>
              </a:rPr>
              <a:t>â</a:t>
            </a:r>
            <a:r>
              <a:rPr lang="en-US" sz="1500" dirty="0">
                <a:solidFill>
                  <a:schemeClr val="bg1"/>
                </a:solidFill>
              </a:rPr>
              <a:t>t </a:t>
            </a:r>
            <a:r>
              <a:rPr lang="ro-RO" sz="1500" dirty="0">
                <a:solidFill>
                  <a:schemeClr val="bg1"/>
                </a:solidFill>
              </a:rPr>
              <a:t>ș</a:t>
            </a:r>
            <a:r>
              <a:rPr lang="en-US" sz="1500" dirty="0" err="1">
                <a:solidFill>
                  <a:schemeClr val="bg1"/>
                </a:solidFill>
              </a:rPr>
              <a:t>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servicii</a:t>
            </a:r>
            <a:r>
              <a:rPr lang="en-US" sz="1500" dirty="0">
                <a:solidFill>
                  <a:schemeClr val="bg1"/>
                </a:solidFill>
              </a:rPr>
              <a:t> de </a:t>
            </a:r>
            <a:r>
              <a:rPr lang="en-US" sz="1500" dirty="0" err="1">
                <a:solidFill>
                  <a:schemeClr val="bg1"/>
                </a:solidFill>
              </a:rPr>
              <a:t>analiz</a:t>
            </a:r>
            <a:r>
              <a:rPr lang="ro-RO" sz="1500" dirty="0">
                <a:solidFill>
                  <a:schemeClr val="bg1"/>
                </a:solidFill>
              </a:rPr>
              <a:t>ă</a:t>
            </a:r>
            <a:r>
              <a:rPr lang="en-US" sz="1500" dirty="0">
                <a:solidFill>
                  <a:schemeClr val="bg1"/>
                </a:solidFill>
              </a:rPr>
              <a:t>, </a:t>
            </a:r>
            <a:r>
              <a:rPr lang="en-US" sz="1500" dirty="0" err="1">
                <a:solidFill>
                  <a:schemeClr val="bg1"/>
                </a:solidFill>
              </a:rPr>
              <a:t>gestiune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ro-RO" sz="1500" dirty="0">
                <a:solidFill>
                  <a:schemeClr val="bg1"/>
                </a:solidFill>
              </a:rPr>
              <a:t>ș</a:t>
            </a:r>
            <a:r>
              <a:rPr lang="en-US" sz="1500" dirty="0" err="1">
                <a:solidFill>
                  <a:schemeClr val="bg1"/>
                </a:solidFill>
              </a:rPr>
              <a:t>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eficientizare</a:t>
            </a:r>
            <a:r>
              <a:rPr lang="en-US" sz="1500" dirty="0">
                <a:solidFill>
                  <a:schemeClr val="bg1"/>
                </a:solidFill>
              </a:rPr>
              <a:t> ale </a:t>
            </a:r>
            <a:r>
              <a:rPr lang="en-US" sz="1500" dirty="0" err="1">
                <a:solidFill>
                  <a:schemeClr val="bg1"/>
                </a:solidFill>
              </a:rPr>
              <a:t>informa</a:t>
            </a:r>
            <a:r>
              <a:rPr lang="ro-RO" sz="1500" dirty="0">
                <a:solidFill>
                  <a:schemeClr val="bg1"/>
                </a:solidFill>
              </a:rPr>
              <a:t>ț</a:t>
            </a:r>
            <a:r>
              <a:rPr lang="en-US" sz="1500" dirty="0" err="1">
                <a:solidFill>
                  <a:schemeClr val="bg1"/>
                </a:solidFill>
              </a:rPr>
              <a:t>iilor</a:t>
            </a:r>
            <a:r>
              <a:rPr lang="en-US" sz="1500" dirty="0">
                <a:solidFill>
                  <a:schemeClr val="bg1"/>
                </a:solidFill>
              </a:rPr>
              <a:t> generate de </a:t>
            </a:r>
            <a:r>
              <a:rPr lang="en-US" sz="1500" dirty="0" err="1">
                <a:solidFill>
                  <a:schemeClr val="bg1"/>
                </a:solidFill>
              </a:rPr>
              <a:t>clien</a:t>
            </a:r>
            <a:r>
              <a:rPr lang="ro-RO" sz="1500" dirty="0">
                <a:solidFill>
                  <a:schemeClr val="bg1"/>
                </a:solidFill>
              </a:rPr>
              <a:t>ț</a:t>
            </a:r>
            <a:r>
              <a:rPr lang="en-US" sz="1500" dirty="0" err="1">
                <a:solidFill>
                  <a:schemeClr val="bg1"/>
                </a:solidFill>
              </a:rPr>
              <a:t>i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4DA44307-C060-EB73-3E9F-12D553E447CA}"/>
              </a:ext>
            </a:extLst>
          </p:cNvPr>
          <p:cNvSpPr/>
          <p:nvPr/>
        </p:nvSpPr>
        <p:spPr>
          <a:xfrm>
            <a:off x="5234231" y="1882096"/>
            <a:ext cx="1723539" cy="1708160"/>
          </a:xfrm>
          <a:prstGeom prst="mathPlus">
            <a:avLst/>
          </a:prstGeom>
          <a:solidFill>
            <a:srgbClr val="1A60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A4E402FF-528B-5843-9EB4-037EFA19EAD9}"/>
              </a:ext>
            </a:extLst>
          </p:cNvPr>
          <p:cNvSpPr/>
          <p:nvPr/>
        </p:nvSpPr>
        <p:spPr>
          <a:xfrm rot="5400000" flipV="1">
            <a:off x="8305317" y="4315627"/>
            <a:ext cx="1428344" cy="1529697"/>
          </a:xfrm>
          <a:prstGeom prst="bentUpArrow">
            <a:avLst/>
          </a:prstGeom>
          <a:solidFill>
            <a:srgbClr val="1A60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D5EB87CD-E931-D9E4-F6BB-D032D08AC045}"/>
              </a:ext>
            </a:extLst>
          </p:cNvPr>
          <p:cNvSpPr/>
          <p:nvPr/>
        </p:nvSpPr>
        <p:spPr>
          <a:xfrm rot="16200000" flipH="1" flipV="1">
            <a:off x="2458341" y="4315628"/>
            <a:ext cx="1428344" cy="1529697"/>
          </a:xfrm>
          <a:prstGeom prst="bentUpArrow">
            <a:avLst/>
          </a:prstGeom>
          <a:solidFill>
            <a:srgbClr val="1A60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9" name="Picture 18" descr="A check mark in a circle&#10;&#10;Description automatically generated">
            <a:extLst>
              <a:ext uri="{FF2B5EF4-FFF2-40B4-BE49-F238E27FC236}">
                <a16:creationId xmlns:a16="http://schemas.microsoft.com/office/drawing/2014/main" id="{9BFA573B-477A-74B7-719B-A8075E35C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24" y="2375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0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68A3-825D-7927-5DF3-811399413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E60CE-CA10-135F-D120-B5126FD24DA9}"/>
              </a:ext>
            </a:extLst>
          </p:cNvPr>
          <p:cNvSpPr txBox="1"/>
          <p:nvPr/>
        </p:nvSpPr>
        <p:spPr>
          <a:xfrm>
            <a:off x="1201448" y="402344"/>
            <a:ext cx="10647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A6081"/>
                </a:solidFill>
              </a:rPr>
              <a:t>EFICIENTIZARE PRIN SIMPLIFICARE </a:t>
            </a:r>
            <a:r>
              <a:rPr lang="ro-RO" sz="3200" b="1" dirty="0">
                <a:solidFill>
                  <a:srgbClr val="1A6081"/>
                </a:solidFill>
              </a:rPr>
              <a:t>Ș</a:t>
            </a:r>
            <a:r>
              <a:rPr lang="en-US" sz="3200" b="1" dirty="0">
                <a:solidFill>
                  <a:srgbClr val="1A6081"/>
                </a:solidFill>
              </a:rPr>
              <a:t>I STANDARDIZARE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8446C8-070E-C7CC-BD20-FBC7B289B180}"/>
              </a:ext>
            </a:extLst>
          </p:cNvPr>
          <p:cNvGrpSpPr/>
          <p:nvPr/>
        </p:nvGrpSpPr>
        <p:grpSpPr>
          <a:xfrm>
            <a:off x="1535395" y="1082369"/>
            <a:ext cx="3361208" cy="3361208"/>
            <a:chOff x="153824" y="987119"/>
            <a:chExt cx="3361208" cy="3361208"/>
          </a:xfrm>
        </p:grpSpPr>
        <p:pic>
          <p:nvPicPr>
            <p:cNvPr id="9" name="Picture 8" descr="A blue and orange rectangle&#10;&#10;Description automatically generated">
              <a:extLst>
                <a:ext uri="{FF2B5EF4-FFF2-40B4-BE49-F238E27FC236}">
                  <a16:creationId xmlns:a16="http://schemas.microsoft.com/office/drawing/2014/main" id="{D09C466F-7AF1-8C15-D218-9BAE42637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824" y="987119"/>
              <a:ext cx="3361208" cy="336120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822E34A-0872-371F-E71F-8F0E20B85EFA}"/>
                </a:ext>
              </a:extLst>
            </p:cNvPr>
            <p:cNvSpPr txBox="1"/>
            <p:nvPr/>
          </p:nvSpPr>
          <p:spPr>
            <a:xfrm>
              <a:off x="499453" y="2006003"/>
              <a:ext cx="266994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O </a:t>
              </a:r>
              <a:r>
                <a:rPr lang="en-US" sz="2000" dirty="0" err="1">
                  <a:solidFill>
                    <a:schemeClr val="bg1"/>
                  </a:solidFill>
                </a:rPr>
                <a:t>unealt</a:t>
              </a:r>
              <a:r>
                <a:rPr lang="ro-RO" sz="2000" dirty="0">
                  <a:solidFill>
                    <a:schemeClr val="bg1"/>
                  </a:solidFill>
                </a:rPr>
                <a:t>ă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indispesabil</a:t>
              </a:r>
              <a:r>
                <a:rPr lang="ro-RO" sz="2000" dirty="0">
                  <a:solidFill>
                    <a:schemeClr val="bg1"/>
                  </a:solidFill>
                </a:rPr>
                <a:t>ă</a:t>
              </a:r>
              <a:r>
                <a:rPr lang="en-US" sz="2000" dirty="0">
                  <a:solidFill>
                    <a:schemeClr val="bg1"/>
                  </a:solidFill>
                </a:rPr>
                <a:t> din </a:t>
              </a:r>
              <a:r>
                <a:rPr lang="en-US" sz="2000" dirty="0" err="1">
                  <a:solidFill>
                    <a:schemeClr val="bg1"/>
                  </a:solidFill>
                </a:rPr>
                <a:t>arsenalul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b="1" dirty="0" err="1">
                  <a:solidFill>
                    <a:schemeClr val="bg1"/>
                  </a:solidFill>
                </a:rPr>
                <a:t>oric</a:t>
              </a:r>
              <a:r>
                <a:rPr lang="ro-RO" sz="2000" b="1" dirty="0">
                  <a:solidFill>
                    <a:schemeClr val="bg1"/>
                  </a:solidFill>
                </a:rPr>
                <a:t>ă</a:t>
              </a:r>
              <a:r>
                <a:rPr lang="en-US" sz="2000" b="1" dirty="0" err="1">
                  <a:solidFill>
                    <a:schemeClr val="bg1"/>
                  </a:solidFill>
                </a:rPr>
                <a:t>rui</a:t>
              </a:r>
              <a:r>
                <a:rPr lang="en-US" sz="2000" b="1" dirty="0">
                  <a:solidFill>
                    <a:schemeClr val="bg1"/>
                  </a:solidFill>
                </a:rPr>
                <a:t> </a:t>
              </a:r>
              <a:r>
                <a:rPr lang="en-US" sz="2000" b="1" dirty="0" err="1">
                  <a:solidFill>
                    <a:schemeClr val="bg1"/>
                  </a:solidFill>
                </a:rPr>
                <a:t>navetist</a:t>
              </a:r>
              <a:r>
                <a:rPr lang="en-US" sz="200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671478-D5C3-6AFE-631C-F05DFFC48F02}"/>
              </a:ext>
            </a:extLst>
          </p:cNvPr>
          <p:cNvGrpSpPr/>
          <p:nvPr/>
        </p:nvGrpSpPr>
        <p:grpSpPr>
          <a:xfrm>
            <a:off x="7295397" y="1082368"/>
            <a:ext cx="3361208" cy="3361208"/>
            <a:chOff x="7629345" y="1082369"/>
            <a:chExt cx="3361208" cy="3361208"/>
          </a:xfrm>
        </p:grpSpPr>
        <p:pic>
          <p:nvPicPr>
            <p:cNvPr id="10" name="Picture 9" descr="A blue and orange rectangle&#10;&#10;Description automatically generated">
              <a:extLst>
                <a:ext uri="{FF2B5EF4-FFF2-40B4-BE49-F238E27FC236}">
                  <a16:creationId xmlns:a16="http://schemas.microsoft.com/office/drawing/2014/main" id="{95DA4EB7-7DE4-4D07-ACB6-53C9688D1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345" y="1082369"/>
              <a:ext cx="3361208" cy="336120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CEA890-5172-D07F-E675-1E94471802C1}"/>
                </a:ext>
              </a:extLst>
            </p:cNvPr>
            <p:cNvSpPr txBox="1"/>
            <p:nvPr/>
          </p:nvSpPr>
          <p:spPr>
            <a:xfrm>
              <a:off x="7916254" y="1882096"/>
              <a:ext cx="2740351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solidFill>
                    <a:schemeClr val="bg1"/>
                  </a:solidFill>
                </a:rPr>
                <a:t>Procesarea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informa</a:t>
              </a:r>
              <a:r>
                <a:rPr lang="ro-RO" sz="2000" dirty="0">
                  <a:solidFill>
                    <a:schemeClr val="bg1"/>
                  </a:solidFill>
                </a:rPr>
                <a:t>ț</a:t>
              </a:r>
              <a:r>
                <a:rPr lang="en-US" sz="2000" dirty="0" err="1">
                  <a:solidFill>
                    <a:schemeClr val="bg1"/>
                  </a:solidFill>
                </a:rPr>
                <a:t>iilor</a:t>
              </a:r>
              <a:r>
                <a:rPr lang="en-US" sz="2000" dirty="0">
                  <a:solidFill>
                    <a:schemeClr val="bg1"/>
                  </a:solidFill>
                </a:rPr>
                <a:t> generate de </a:t>
              </a:r>
              <a:r>
                <a:rPr lang="en-US" sz="2000" dirty="0" err="1">
                  <a:solidFill>
                    <a:schemeClr val="bg1"/>
                  </a:solidFill>
                </a:rPr>
                <a:t>aplica</a:t>
              </a:r>
              <a:r>
                <a:rPr lang="ro-RO" sz="2000" dirty="0">
                  <a:solidFill>
                    <a:schemeClr val="bg1"/>
                  </a:solidFill>
                </a:rPr>
                <a:t>ț</a:t>
              </a:r>
              <a:r>
                <a:rPr lang="en-US" sz="2000" dirty="0" err="1">
                  <a:solidFill>
                    <a:schemeClr val="bg1"/>
                  </a:solidFill>
                </a:rPr>
                <a:t>ie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pentru</a:t>
              </a:r>
              <a:r>
                <a:rPr lang="en-US" sz="2000" dirty="0">
                  <a:solidFill>
                    <a:schemeClr val="bg1"/>
                  </a:solidFill>
                </a:rPr>
                <a:t> a </a:t>
              </a:r>
              <a:r>
                <a:rPr lang="en-US" sz="2000" dirty="0" err="1">
                  <a:solidFill>
                    <a:schemeClr val="bg1"/>
                  </a:solidFill>
                </a:rPr>
                <a:t>oferi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statistici</a:t>
              </a:r>
              <a:r>
                <a:rPr lang="en-US" sz="2000" dirty="0">
                  <a:solidFill>
                    <a:schemeClr val="bg1"/>
                  </a:solidFill>
                </a:rPr>
                <a:t> utile </a:t>
              </a:r>
              <a:r>
                <a:rPr lang="ro-RO" sz="2000" dirty="0">
                  <a:solidFill>
                    <a:schemeClr val="bg1"/>
                  </a:solidFill>
                </a:rPr>
                <a:t>ș</a:t>
              </a:r>
              <a:r>
                <a:rPr lang="en-US" sz="2000" dirty="0" err="1">
                  <a:solidFill>
                    <a:schemeClr val="bg1"/>
                  </a:solidFill>
                </a:rPr>
                <a:t>i</a:t>
              </a:r>
              <a:r>
                <a:rPr lang="en-US" sz="2000" dirty="0">
                  <a:solidFill>
                    <a:schemeClr val="bg1"/>
                  </a:solidFill>
                </a:rPr>
                <a:t> u</a:t>
              </a:r>
              <a:r>
                <a:rPr lang="ro-RO" sz="2000" dirty="0">
                  <a:solidFill>
                    <a:schemeClr val="bg1"/>
                  </a:solidFill>
                </a:rPr>
                <a:t>ș</a:t>
              </a:r>
              <a:r>
                <a:rPr lang="en-US" sz="2000" dirty="0">
                  <a:solidFill>
                    <a:schemeClr val="bg1"/>
                  </a:solidFill>
                </a:rPr>
                <a:t>or </a:t>
              </a:r>
              <a:r>
                <a:rPr lang="en-US" sz="2000" dirty="0" err="1">
                  <a:solidFill>
                    <a:schemeClr val="bg1"/>
                  </a:solidFill>
                </a:rPr>
                <a:t>interpreta</a:t>
              </a:r>
              <a:r>
                <a:rPr lang="ro-RO" sz="2000" dirty="0">
                  <a:solidFill>
                    <a:schemeClr val="bg1"/>
                  </a:solidFill>
                </a:rPr>
                <a:t>b</a:t>
              </a:r>
              <a:r>
                <a:rPr lang="en-US" sz="2000" dirty="0" err="1">
                  <a:solidFill>
                    <a:schemeClr val="bg1"/>
                  </a:solidFill>
                </a:rPr>
                <a:t>ile</a:t>
              </a:r>
              <a:r>
                <a:rPr lang="ro-RO" sz="2000" dirty="0">
                  <a:solidFill>
                    <a:schemeClr val="bg1"/>
                  </a:solidFill>
                </a:rPr>
                <a:t>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9" name="Picture 18" descr="A check mark in a circle&#10;&#10;Description automatically generated">
            <a:extLst>
              <a:ext uri="{FF2B5EF4-FFF2-40B4-BE49-F238E27FC236}">
                <a16:creationId xmlns:a16="http://schemas.microsoft.com/office/drawing/2014/main" id="{5A5D1B1B-326C-3C37-4B25-35582019B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24" y="237532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4D2807D-47D4-E4C4-222F-E53AD6AA37D4}"/>
              </a:ext>
            </a:extLst>
          </p:cNvPr>
          <p:cNvGrpSpPr/>
          <p:nvPr/>
        </p:nvGrpSpPr>
        <p:grpSpPr>
          <a:xfrm>
            <a:off x="1535395" y="3821088"/>
            <a:ext cx="3361208" cy="3361208"/>
            <a:chOff x="153824" y="3686607"/>
            <a:chExt cx="3361208" cy="3361208"/>
          </a:xfrm>
        </p:grpSpPr>
        <p:pic>
          <p:nvPicPr>
            <p:cNvPr id="13" name="Picture 12" descr="A blue and orange rectangle&#10;&#10;Description automatically generated">
              <a:extLst>
                <a:ext uri="{FF2B5EF4-FFF2-40B4-BE49-F238E27FC236}">
                  <a16:creationId xmlns:a16="http://schemas.microsoft.com/office/drawing/2014/main" id="{798D298F-E99E-5358-EDCB-AB5488536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824" y="3686607"/>
              <a:ext cx="3361208" cy="336120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6F0F2D-34A2-255C-873C-E8803104F842}"/>
                </a:ext>
              </a:extLst>
            </p:cNvPr>
            <p:cNvSpPr txBox="1"/>
            <p:nvPr/>
          </p:nvSpPr>
          <p:spPr>
            <a:xfrm>
              <a:off x="499453" y="4933102"/>
              <a:ext cx="255837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 </a:t>
              </a:r>
              <a:r>
                <a:rPr lang="en-US" dirty="0" err="1">
                  <a:solidFill>
                    <a:schemeClr val="bg1"/>
                  </a:solidFill>
                </a:rPr>
                <a:t>interfa</a:t>
              </a:r>
              <a:r>
                <a:rPr lang="ro-RO" dirty="0" err="1">
                  <a:solidFill>
                    <a:schemeClr val="bg1"/>
                  </a:solidFill>
                </a:rPr>
                <a:t>ță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clar</a:t>
              </a:r>
              <a:r>
                <a:rPr lang="ro-RO" dirty="0">
                  <a:solidFill>
                    <a:schemeClr val="bg1"/>
                  </a:solidFill>
                </a:rPr>
                <a:t>ă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ro-RO" dirty="0">
                  <a:solidFill>
                    <a:schemeClr val="bg1"/>
                  </a:solidFill>
                </a:rPr>
                <a:t>ș</a:t>
              </a:r>
              <a:r>
                <a:rPr lang="en-US" dirty="0" err="1">
                  <a:solidFill>
                    <a:schemeClr val="bg1"/>
                  </a:solidFill>
                </a:rPr>
                <a:t>i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usor</a:t>
              </a:r>
              <a:r>
                <a:rPr lang="en-US" dirty="0">
                  <a:solidFill>
                    <a:schemeClr val="bg1"/>
                  </a:solidFill>
                </a:rPr>
                <a:t> de </a:t>
              </a:r>
              <a:r>
                <a:rPr lang="en-US" dirty="0" err="1">
                  <a:solidFill>
                    <a:schemeClr val="bg1"/>
                  </a:solidFill>
                </a:rPr>
                <a:t>folosit</a:t>
              </a:r>
              <a:r>
                <a:rPr lang="en-US" dirty="0">
                  <a:solidFill>
                    <a:schemeClr val="bg1"/>
                  </a:solidFill>
                </a:rPr>
                <a:t>, </a:t>
              </a:r>
              <a:r>
                <a:rPr lang="en-US" dirty="0" err="1">
                  <a:solidFill>
                    <a:schemeClr val="bg1"/>
                  </a:solidFill>
                </a:rPr>
                <a:t>adecvat</a:t>
              </a:r>
              <a:r>
                <a:rPr lang="ro-RO" dirty="0">
                  <a:solidFill>
                    <a:schemeClr val="bg1"/>
                  </a:solidFill>
                </a:rPr>
                <a:t>ă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pentru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b="1" dirty="0" err="1">
                  <a:solidFill>
                    <a:schemeClr val="bg1"/>
                  </a:solidFill>
                </a:rPr>
                <a:t>orice</a:t>
              </a:r>
              <a:r>
                <a:rPr lang="en-US" b="1" dirty="0">
                  <a:solidFill>
                    <a:schemeClr val="bg1"/>
                  </a:solidFill>
                </a:rPr>
                <a:t> </a:t>
              </a:r>
              <a:r>
                <a:rPr lang="en-US" b="1" dirty="0" err="1">
                  <a:solidFill>
                    <a:schemeClr val="bg1"/>
                  </a:solidFill>
                </a:rPr>
                <a:t>audien</a:t>
              </a:r>
              <a:r>
                <a:rPr lang="ro-RO" b="1" dirty="0" err="1">
                  <a:solidFill>
                    <a:schemeClr val="bg1"/>
                  </a:solidFill>
                </a:rPr>
                <a:t>ță</a:t>
              </a:r>
              <a:r>
                <a:rPr lang="en-US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7E743F-B471-2A76-C7F1-7B32CBFDC763}"/>
              </a:ext>
            </a:extLst>
          </p:cNvPr>
          <p:cNvGrpSpPr/>
          <p:nvPr/>
        </p:nvGrpSpPr>
        <p:grpSpPr>
          <a:xfrm>
            <a:off x="7295397" y="3821088"/>
            <a:ext cx="3361208" cy="3361208"/>
            <a:chOff x="153823" y="987119"/>
            <a:chExt cx="3361208" cy="3361208"/>
          </a:xfrm>
        </p:grpSpPr>
        <p:pic>
          <p:nvPicPr>
            <p:cNvPr id="18" name="Picture 17" descr="A blue and orange rectangle&#10;&#10;Description automatically generated">
              <a:extLst>
                <a:ext uri="{FF2B5EF4-FFF2-40B4-BE49-F238E27FC236}">
                  <a16:creationId xmlns:a16="http://schemas.microsoft.com/office/drawing/2014/main" id="{363F0FD1-A8EF-3E99-20A7-E541239AA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823" y="987119"/>
              <a:ext cx="3361208" cy="336120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3AC467-E242-50F1-A378-7E75D9912969}"/>
                </a:ext>
              </a:extLst>
            </p:cNvPr>
            <p:cNvSpPr txBox="1"/>
            <p:nvPr/>
          </p:nvSpPr>
          <p:spPr>
            <a:xfrm>
              <a:off x="534655" y="1852115"/>
              <a:ext cx="266994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Economii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at</a:t>
              </a:r>
              <a:r>
                <a:rPr lang="ro-RO" sz="20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â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t </a:t>
              </a:r>
              <a:r>
                <a:rPr lang="ro-RO" sz="20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la </a:t>
              </a:r>
              <a:r>
                <a:rPr lang="en-US" sz="2000" dirty="0" err="1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combustibil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c</a:t>
              </a:r>
              <a:r>
                <a:rPr lang="ro-RO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â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t </a:t>
              </a:r>
              <a:r>
                <a:rPr lang="ro-RO" sz="20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ș</a:t>
              </a:r>
              <a:r>
                <a:rPr lang="en-US" sz="2000" dirty="0" err="1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ro-RO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la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costuril</a:t>
              </a:r>
              <a:r>
                <a:rPr lang="ro-RO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de </a:t>
              </a:r>
              <a:r>
                <a:rPr lang="en-US" sz="2000" dirty="0" err="1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mentenant</a:t>
              </a:r>
              <a:r>
                <a:rPr lang="ro-RO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ă</a:t>
              </a:r>
              <a:r>
                <a:rPr lang="en-US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ale </a:t>
              </a:r>
              <a:r>
                <a:rPr lang="en-US" sz="2000" dirty="0" err="1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vehiculelor</a:t>
              </a:r>
              <a:r>
                <a:rPr lang="ro-RO" sz="20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12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5010-0D21-A9DF-E41F-59D4B9DD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CD5A3-A245-CD95-428A-0C90532BDEB3}"/>
              </a:ext>
            </a:extLst>
          </p:cNvPr>
          <p:cNvSpPr txBox="1"/>
          <p:nvPr/>
        </p:nvSpPr>
        <p:spPr>
          <a:xfrm>
            <a:off x="1201448" y="402344"/>
            <a:ext cx="10647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>
                <a:solidFill>
                  <a:srgbClr val="1A6081"/>
                </a:solidFill>
              </a:rPr>
              <a:t>PREDICTIBILITATE</a:t>
            </a:r>
            <a:endParaRPr lang="en-US" sz="3200" b="1" dirty="0">
              <a:solidFill>
                <a:srgbClr val="1A608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CC61D7-355F-E378-5F5C-BDC806E338E0}"/>
              </a:ext>
            </a:extLst>
          </p:cNvPr>
          <p:cNvGrpSpPr/>
          <p:nvPr/>
        </p:nvGrpSpPr>
        <p:grpSpPr>
          <a:xfrm>
            <a:off x="1535395" y="1870644"/>
            <a:ext cx="3361208" cy="3361208"/>
            <a:chOff x="153824" y="987118"/>
            <a:chExt cx="3361208" cy="3361208"/>
          </a:xfrm>
        </p:grpSpPr>
        <p:pic>
          <p:nvPicPr>
            <p:cNvPr id="9" name="Picture 8" descr="A blue and orange rectangle&#10;&#10;Description automatically generated">
              <a:extLst>
                <a:ext uri="{FF2B5EF4-FFF2-40B4-BE49-F238E27FC236}">
                  <a16:creationId xmlns:a16="http://schemas.microsoft.com/office/drawing/2014/main" id="{206C1600-D8C5-0A6A-0D01-D20A1E080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824" y="987118"/>
              <a:ext cx="3361208" cy="336120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20721D-D57C-A7DC-3717-EE18C9BE0719}"/>
                </a:ext>
              </a:extLst>
            </p:cNvPr>
            <p:cNvSpPr txBox="1"/>
            <p:nvPr/>
          </p:nvSpPr>
          <p:spPr>
            <a:xfrm>
              <a:off x="487772" y="2159890"/>
              <a:ext cx="26699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solidFill>
                    <a:schemeClr val="bg1"/>
                  </a:solidFill>
                </a:rPr>
                <a:t>Gradul</a:t>
              </a:r>
              <a:r>
                <a:rPr lang="en-US" sz="2000" dirty="0">
                  <a:solidFill>
                    <a:schemeClr val="bg1"/>
                  </a:solidFill>
                </a:rPr>
                <a:t> de </a:t>
              </a:r>
              <a:r>
                <a:rPr lang="en-US" sz="2000" dirty="0" err="1">
                  <a:solidFill>
                    <a:schemeClr val="bg1"/>
                  </a:solidFill>
                </a:rPr>
                <a:t>ocupare</a:t>
              </a:r>
              <a:r>
                <a:rPr lang="en-US" sz="2000" dirty="0">
                  <a:solidFill>
                    <a:schemeClr val="bg1"/>
                  </a:solidFill>
                </a:rPr>
                <a:t> al </a:t>
              </a:r>
              <a:r>
                <a:rPr lang="en-US" sz="2000" dirty="0" err="1">
                  <a:solidFill>
                    <a:schemeClr val="bg1"/>
                  </a:solidFill>
                </a:rPr>
                <a:t>autovehiculului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este</a:t>
              </a:r>
              <a:r>
                <a:rPr lang="en-US" sz="2000" dirty="0">
                  <a:solidFill>
                    <a:schemeClr val="bg1"/>
                  </a:solidFill>
                </a:rPr>
                <a:t> public</a:t>
              </a:r>
              <a:r>
                <a:rPr lang="ro-RO" sz="2000" dirty="0">
                  <a:solidFill>
                    <a:schemeClr val="bg1"/>
                  </a:solidFill>
                </a:rPr>
                <a:t>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864BB4-52E7-CF63-7F37-A185F9DD2B9C}"/>
              </a:ext>
            </a:extLst>
          </p:cNvPr>
          <p:cNvGrpSpPr/>
          <p:nvPr/>
        </p:nvGrpSpPr>
        <p:grpSpPr>
          <a:xfrm>
            <a:off x="7295399" y="1870643"/>
            <a:ext cx="3361208" cy="3361208"/>
            <a:chOff x="7629345" y="1082369"/>
            <a:chExt cx="3361208" cy="3361208"/>
          </a:xfrm>
        </p:grpSpPr>
        <p:pic>
          <p:nvPicPr>
            <p:cNvPr id="10" name="Picture 9" descr="A blue and orange rectangle&#10;&#10;Description automatically generated">
              <a:extLst>
                <a:ext uri="{FF2B5EF4-FFF2-40B4-BE49-F238E27FC236}">
                  <a16:creationId xmlns:a16="http://schemas.microsoft.com/office/drawing/2014/main" id="{B84AA637-CFDC-20FD-4262-92177704B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345" y="1082369"/>
              <a:ext cx="3361208" cy="336120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1CD126-C982-58D9-B987-922BF78A4A44}"/>
                </a:ext>
              </a:extLst>
            </p:cNvPr>
            <p:cNvSpPr txBox="1"/>
            <p:nvPr/>
          </p:nvSpPr>
          <p:spPr>
            <a:xfrm>
              <a:off x="7916254" y="2105562"/>
              <a:ext cx="274035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solidFill>
                    <a:schemeClr val="bg1"/>
                  </a:solidFill>
                </a:rPr>
                <a:t>Compania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alege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autovehiculele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potrivite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pentru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fiecare</a:t>
              </a:r>
              <a:r>
                <a:rPr lang="en-US" sz="2000" dirty="0">
                  <a:solidFill>
                    <a:schemeClr val="bg1"/>
                  </a:solidFill>
                </a:rPr>
                <a:t> curs</a:t>
              </a:r>
              <a:r>
                <a:rPr lang="ro-RO" sz="2000" dirty="0">
                  <a:solidFill>
                    <a:schemeClr val="bg1"/>
                  </a:solidFill>
                </a:rPr>
                <a:t>ă.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9" name="Picture 18" descr="A check mark in a circle&#10;&#10;Description automatically generated">
            <a:extLst>
              <a:ext uri="{FF2B5EF4-FFF2-40B4-BE49-F238E27FC236}">
                <a16:creationId xmlns:a16="http://schemas.microsoft.com/office/drawing/2014/main" id="{832BA6CF-4099-BD7B-781F-DF3A88B4C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24" y="2375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9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69F4EA-F942-4C95-0E3E-B48B5A179143}"/>
              </a:ext>
            </a:extLst>
          </p:cNvPr>
          <p:cNvSpPr txBox="1"/>
          <p:nvPr/>
        </p:nvSpPr>
        <p:spPr>
          <a:xfrm>
            <a:off x="885663" y="441793"/>
            <a:ext cx="4008583" cy="597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SWOT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PUNCTE TARI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B672AC-B426-5E34-236C-5C15BEF3ED90}"/>
              </a:ext>
            </a:extLst>
          </p:cNvPr>
          <p:cNvSpPr txBox="1"/>
          <p:nvPr/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Rezolvă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probleme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reale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frecvente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ale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utilizatorilor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, cum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fi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lipsa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locurilor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disponibile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dificultatea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accesului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prioritar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pentru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abonați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Oferă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un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sistem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clar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rezervare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check-in care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îmbunătățește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predictibilitatea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călătoriilor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Posibilitate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personalizare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a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locurilor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în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funcție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tipul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pasagerilor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(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persoane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în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vârstă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,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abonați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).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Generare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statistici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utile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pentru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optimizarea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resurselor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reducerea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costurilor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operatorilor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transport.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Taxe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suplimentare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mici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accesibilitatea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unui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model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afaceri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bazat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pe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abonamente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pentru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firme</a:t>
            </a:r>
            <a:endParaRPr lang="en-US" sz="2000" dirty="0">
              <a:solidFill>
                <a:srgbClr val="1A6081">
                  <a:alpha val="80000"/>
                </a:srgb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58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D7B27-D01F-190B-A9FA-248C51DB84BF}"/>
              </a:ext>
            </a:extLst>
          </p:cNvPr>
          <p:cNvSpPr txBox="1"/>
          <p:nvPr/>
        </p:nvSpPr>
        <p:spPr>
          <a:xfrm>
            <a:off x="885663" y="441793"/>
            <a:ext cx="4008583" cy="597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SWOT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PUNCTE SLABE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B97188D-5F38-EA86-002F-7E12C4C1BDC6}"/>
              </a:ext>
            </a:extLst>
          </p:cNvPr>
          <p:cNvSpPr txBox="1"/>
          <p:nvPr/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Necesitatea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rezervării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cu cel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puțin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15 minute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înainte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poate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fi un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obstacol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pentru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utilizatorii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care au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nevoie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flexibilitate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Posibile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provocări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tehnice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logistice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în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implementarea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sistemului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check-in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rezervare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în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timp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real.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Competiție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din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partea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altor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soluții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existente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,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inclusiv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platforme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transport care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oferă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servicii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similare</a:t>
            </a:r>
            <a:endParaRPr lang="en-US" sz="2000" dirty="0">
              <a:solidFill>
                <a:srgbClr val="1A6081">
                  <a:alpha val="80000"/>
                </a:srgb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>
            <a:extLst>
              <a:ext uri="{FF2B5EF4-FFF2-40B4-BE49-F238E27FC236}">
                <a16:creationId xmlns:a16="http://schemas.microsoft.com/office/drawing/2014/main" id="{188827F3-6439-B6C5-7819-7EBB196C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18473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442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326FF-BBF9-F18F-3023-CDD96FDE3642}"/>
              </a:ext>
            </a:extLst>
          </p:cNvPr>
          <p:cNvSpPr txBox="1"/>
          <p:nvPr/>
        </p:nvSpPr>
        <p:spPr>
          <a:xfrm>
            <a:off x="885663" y="441793"/>
            <a:ext cx="4008583" cy="597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SWOT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OPORTUNIT</a:t>
            </a:r>
            <a:r>
              <a:rPr lang="ro-RO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ĂȚ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1D30C88-7BC2-25E6-E592-B8EF9F0B0222}"/>
              </a:ext>
            </a:extLst>
          </p:cNvPr>
          <p:cNvSpPr txBox="1"/>
          <p:nvPr/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Creșterea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utilizării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aplicațiilor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mobile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web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pentru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rezervări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servicii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transport.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Posibilitatea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extinderii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funcționalităților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, cum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fi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integrarea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cu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plăți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online,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notificări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oferte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promoționale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Adoptarea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către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companii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transport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mai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mici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, care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caută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soluții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eficiente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pentru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managementul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rezervărilor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926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7FDEC-94B4-7881-3D54-306AE7236E5E}"/>
              </a:ext>
            </a:extLst>
          </p:cNvPr>
          <p:cNvSpPr txBox="1"/>
          <p:nvPr/>
        </p:nvSpPr>
        <p:spPr>
          <a:xfrm>
            <a:off x="885663" y="441793"/>
            <a:ext cx="4008583" cy="597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SWOT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AMENIN</a:t>
            </a:r>
            <a:r>
              <a:rPr lang="ro-RO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Ț</a:t>
            </a:r>
            <a:r>
              <a:rPr lang="ro-RO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Ă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B84B9C7-24EA-5263-A46A-1F74F392DC94}"/>
              </a:ext>
            </a:extLst>
          </p:cNvPr>
          <p:cNvSpPr txBox="1"/>
          <p:nvPr/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Lipsa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adoptării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pe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scară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largă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din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partea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firmelor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transport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dacă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percep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costurile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ca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fiind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prea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mari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sau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inutil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complexe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Probleme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securitate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protecția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datelor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personale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ale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utilizatorilor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Riscul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eșec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al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adoptării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unei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infrastructuri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digitale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către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transportatori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din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cauza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rezistenței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la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schimbare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sau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a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investițiilor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insuficiente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Fluctuații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în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legislația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privind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transportul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persoane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și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serviciile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dirty="0" err="1">
                <a:solidFill>
                  <a:srgbClr val="1A6081">
                    <a:alpha val="80000"/>
                  </a:srgbClr>
                </a:solidFill>
              </a:rPr>
              <a:t>digitale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29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uestion mark in orange and purple&#10;&#10;Description automatically generated">
            <a:extLst>
              <a:ext uri="{FF2B5EF4-FFF2-40B4-BE49-F238E27FC236}">
                <a16:creationId xmlns:a16="http://schemas.microsoft.com/office/drawing/2014/main" id="{98A97070-C652-D4F9-A333-BBD058E6B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" y="19689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94D07B-F1DD-768A-9352-0F735B04A265}"/>
              </a:ext>
            </a:extLst>
          </p:cNvPr>
          <p:cNvSpPr txBox="1"/>
          <p:nvPr/>
        </p:nvSpPr>
        <p:spPr>
          <a:xfrm>
            <a:off x="930515" y="361703"/>
            <a:ext cx="5504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>
                <a:solidFill>
                  <a:srgbClr val="1A6081"/>
                </a:solidFill>
              </a:rPr>
              <a:t>ANALIZA CONCURENȚEI</a:t>
            </a:r>
            <a:endParaRPr lang="en-US" sz="3200" b="1" dirty="0">
              <a:solidFill>
                <a:srgbClr val="1A608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7C993-E217-1433-4D78-C335728E3189}"/>
              </a:ext>
            </a:extLst>
          </p:cNvPr>
          <p:cNvSpPr txBox="1"/>
          <p:nvPr/>
        </p:nvSpPr>
        <p:spPr>
          <a:xfrm>
            <a:off x="538480" y="823160"/>
            <a:ext cx="10982960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sz="2000" dirty="0">
                <a:solidFill>
                  <a:srgbClr val="1A6081">
                    <a:alpha val="80000"/>
                  </a:srgbClr>
                </a:solidFill>
              </a:rPr>
              <a:t>În momentul actual pe piața din Romania </a:t>
            </a:r>
            <a:r>
              <a:rPr lang="en-US" sz="2000" dirty="0">
                <a:solidFill>
                  <a:srgbClr val="1A6081">
                    <a:alpha val="80000"/>
                  </a:srgbClr>
                </a:solidFill>
              </a:rPr>
              <a:t>NU</a:t>
            </a:r>
            <a:r>
              <a:rPr lang="ro-RO" sz="2000" dirty="0">
                <a:solidFill>
                  <a:srgbClr val="1A6081">
                    <a:alpha val="80000"/>
                  </a:srgbClr>
                </a:solidFill>
              </a:rPr>
              <a:t> există o platformă care să ofere servicii de rezervări bilete, cu posibilitatea alegerii dintre mai mulți furnizori de astfel de servicii. Unii dintre furnizori au propriile website-uri, însă nimic nu este standardizat.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51869F"/>
                </a:solidFill>
              </a:rPr>
              <a:t>Principalul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avantaj</a:t>
            </a:r>
            <a:r>
              <a:rPr lang="en-US" sz="2000" dirty="0">
                <a:solidFill>
                  <a:srgbClr val="51869F"/>
                </a:solidFill>
              </a:rPr>
              <a:t> al </a:t>
            </a:r>
            <a:r>
              <a:rPr lang="en-US" sz="2000" dirty="0" err="1">
                <a:solidFill>
                  <a:srgbClr val="51869F"/>
                </a:solidFill>
              </a:rPr>
              <a:t>afacerii</a:t>
            </a:r>
            <a:r>
              <a:rPr lang="en-US" sz="2000" dirty="0">
                <a:solidFill>
                  <a:srgbClr val="51869F"/>
                </a:solidFill>
              </a:rPr>
              <a:t> mele </a:t>
            </a:r>
            <a:r>
              <a:rPr lang="en-US" sz="2000" dirty="0" err="1">
                <a:solidFill>
                  <a:srgbClr val="51869F"/>
                </a:solidFill>
              </a:rPr>
              <a:t>este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posibilitatea</a:t>
            </a:r>
            <a:r>
              <a:rPr lang="en-US" sz="2000" dirty="0">
                <a:solidFill>
                  <a:srgbClr val="51869F"/>
                </a:solidFill>
              </a:rPr>
              <a:t> de </a:t>
            </a:r>
            <a:r>
              <a:rPr lang="en-US" sz="2000" dirty="0" err="1">
                <a:solidFill>
                  <a:srgbClr val="51869F"/>
                </a:solidFill>
              </a:rPr>
              <a:t>personalizare</a:t>
            </a:r>
            <a:r>
              <a:rPr lang="en-US" sz="2000" dirty="0">
                <a:solidFill>
                  <a:srgbClr val="51869F"/>
                </a:solidFill>
              </a:rPr>
              <a:t> a </a:t>
            </a:r>
            <a:r>
              <a:rPr lang="en-US" sz="2000" dirty="0" err="1">
                <a:solidFill>
                  <a:srgbClr val="51869F"/>
                </a:solidFill>
              </a:rPr>
              <a:t>flotei</a:t>
            </a:r>
            <a:r>
              <a:rPr lang="en-US" sz="2000" dirty="0">
                <a:solidFill>
                  <a:srgbClr val="51869F"/>
                </a:solidFill>
              </a:rPr>
              <a:t> de </a:t>
            </a:r>
            <a:r>
              <a:rPr lang="en-US" sz="2000" dirty="0" err="1">
                <a:solidFill>
                  <a:srgbClr val="51869F"/>
                </a:solidFill>
              </a:rPr>
              <a:t>autovehicule</a:t>
            </a:r>
            <a:r>
              <a:rPr lang="en-US" sz="2000" dirty="0">
                <a:solidFill>
                  <a:srgbClr val="51869F"/>
                </a:solidFill>
              </a:rPr>
              <a:t> (</a:t>
            </a:r>
            <a:r>
              <a:rPr lang="en-US" sz="2000" dirty="0" err="1">
                <a:solidFill>
                  <a:srgbClr val="51869F"/>
                </a:solidFill>
              </a:rPr>
              <a:t>interfață</a:t>
            </a:r>
            <a:r>
              <a:rPr lang="en-US" sz="2000" dirty="0">
                <a:solidFill>
                  <a:srgbClr val="51869F"/>
                </a:solidFill>
              </a:rPr>
              <a:t> special </a:t>
            </a:r>
            <a:r>
              <a:rPr lang="en-US" sz="2000" dirty="0" err="1">
                <a:solidFill>
                  <a:srgbClr val="51869F"/>
                </a:solidFill>
              </a:rPr>
              <a:t>dedicată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administratorului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societății</a:t>
            </a:r>
            <a:r>
              <a:rPr lang="en-US" sz="2000" dirty="0">
                <a:solidFill>
                  <a:srgbClr val="51869F"/>
                </a:solidFill>
              </a:rPr>
              <a:t>, </a:t>
            </a:r>
            <a:r>
              <a:rPr lang="en-US" sz="2000" dirty="0" err="1">
                <a:solidFill>
                  <a:srgbClr val="51869F"/>
                </a:solidFill>
              </a:rPr>
              <a:t>unde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poate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să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creeze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modele</a:t>
            </a:r>
            <a:r>
              <a:rPr lang="en-US" sz="2000" dirty="0">
                <a:solidFill>
                  <a:srgbClr val="51869F"/>
                </a:solidFill>
              </a:rPr>
              <a:t> 2D ale </a:t>
            </a:r>
            <a:r>
              <a:rPr lang="en-US" sz="2000" dirty="0" err="1">
                <a:solidFill>
                  <a:srgbClr val="51869F"/>
                </a:solidFill>
              </a:rPr>
              <a:t>interiorului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autovehiculului</a:t>
            </a:r>
            <a:r>
              <a:rPr lang="en-US" sz="2000" dirty="0">
                <a:solidFill>
                  <a:srgbClr val="51869F"/>
                </a:solidFill>
              </a:rPr>
              <a:t> – </a:t>
            </a:r>
            <a:r>
              <a:rPr lang="en-US" sz="2000" dirty="0" err="1">
                <a:solidFill>
                  <a:srgbClr val="51869F"/>
                </a:solidFill>
              </a:rPr>
              <a:t>amplasare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scaune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rezervabile</a:t>
            </a:r>
            <a:r>
              <a:rPr lang="en-US" sz="2000" dirty="0">
                <a:solidFill>
                  <a:srgbClr val="51869F"/>
                </a:solidFill>
              </a:rPr>
              <a:t> – model care </a:t>
            </a:r>
            <a:r>
              <a:rPr lang="en-US" sz="2000" dirty="0" err="1">
                <a:solidFill>
                  <a:srgbClr val="51869F"/>
                </a:solidFill>
              </a:rPr>
              <a:t>mai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apoi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este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utilizat</a:t>
            </a:r>
            <a:r>
              <a:rPr lang="en-US" sz="2000" dirty="0">
                <a:solidFill>
                  <a:srgbClr val="51869F"/>
                </a:solidFill>
              </a:rPr>
              <a:t> de </a:t>
            </a:r>
            <a:r>
              <a:rPr lang="en-US" sz="2000" dirty="0" err="1">
                <a:solidFill>
                  <a:srgbClr val="51869F"/>
                </a:solidFill>
              </a:rPr>
              <a:t>clienți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pentru</a:t>
            </a:r>
            <a:r>
              <a:rPr lang="en-US" sz="2000" dirty="0">
                <a:solidFill>
                  <a:srgbClr val="51869F"/>
                </a:solidFill>
              </a:rPr>
              <a:t> a </a:t>
            </a:r>
            <a:r>
              <a:rPr lang="en-US" sz="2000" dirty="0" err="1">
                <a:solidFill>
                  <a:srgbClr val="51869F"/>
                </a:solidFill>
              </a:rPr>
              <a:t>rezerva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locul</a:t>
            </a:r>
            <a:r>
              <a:rPr lang="en-US" sz="2000" dirty="0">
                <a:solidFill>
                  <a:srgbClr val="51869F"/>
                </a:solidFill>
              </a:rPr>
              <a:t> </a:t>
            </a:r>
            <a:r>
              <a:rPr lang="en-US" sz="2000" dirty="0" err="1">
                <a:solidFill>
                  <a:srgbClr val="51869F"/>
                </a:solidFill>
              </a:rPr>
              <a:t>dorit</a:t>
            </a:r>
            <a:r>
              <a:rPr lang="en-US" sz="2000" dirty="0">
                <a:solidFill>
                  <a:srgbClr val="51869F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46380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C4FFF-9AFB-7E34-1DA7-1B2B2B8F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uestion mark in orange and purple&#10;&#10;Description automatically generated">
            <a:extLst>
              <a:ext uri="{FF2B5EF4-FFF2-40B4-BE49-F238E27FC236}">
                <a16:creationId xmlns:a16="http://schemas.microsoft.com/office/drawing/2014/main" id="{D4C05762-14E2-9DB6-6D4E-84B6F4D13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" y="19689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6C0D53-2AE1-9782-F2C9-22DC3A3FD86A}"/>
              </a:ext>
            </a:extLst>
          </p:cNvPr>
          <p:cNvSpPr txBox="1"/>
          <p:nvPr/>
        </p:nvSpPr>
        <p:spPr>
          <a:xfrm>
            <a:off x="930515" y="361703"/>
            <a:ext cx="7191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A6081"/>
                </a:solidFill>
              </a:rPr>
              <a:t>STRATEGII DE MARKETING </a:t>
            </a:r>
            <a:r>
              <a:rPr lang="ro-RO" sz="3200" b="1" dirty="0">
                <a:solidFill>
                  <a:srgbClr val="1A6081"/>
                </a:solidFill>
              </a:rPr>
              <a:t>ȘI VÂNZĂRI</a:t>
            </a:r>
            <a:endParaRPr lang="en-US" sz="3200" b="1" dirty="0">
              <a:solidFill>
                <a:srgbClr val="1A608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6E865-544A-2C39-FC58-FB68585EC994}"/>
              </a:ext>
            </a:extLst>
          </p:cNvPr>
          <p:cNvSpPr txBox="1"/>
          <p:nvPr/>
        </p:nvSpPr>
        <p:spPr>
          <a:xfrm>
            <a:off x="538480" y="1020051"/>
            <a:ext cx="10982960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sz="2000" dirty="0">
                <a:solidFill>
                  <a:srgbClr val="1A6081">
                    <a:alpha val="80000"/>
                  </a:srgbClr>
                </a:solidFill>
              </a:rPr>
              <a:t>Inițial, în faza de dezvoltare a software-ului, reclama se va face pe platforma </a:t>
            </a:r>
            <a:r>
              <a:rPr lang="ro-RO" sz="2000" dirty="0" err="1">
                <a:solidFill>
                  <a:srgbClr val="1A6081">
                    <a:alpha val="80000"/>
                  </a:srgbClr>
                </a:solidFill>
              </a:rPr>
              <a:t>TikTok</a:t>
            </a:r>
            <a:r>
              <a:rPr lang="ro-RO" sz="2000" dirty="0">
                <a:solidFill>
                  <a:srgbClr val="1A6081">
                    <a:alpha val="80000"/>
                  </a:srgbClr>
                </a:solidFill>
              </a:rPr>
              <a:t>, Facebook, </a:t>
            </a:r>
            <a:r>
              <a:rPr lang="ro-RO" sz="2000" dirty="0" err="1">
                <a:solidFill>
                  <a:srgbClr val="1A6081">
                    <a:alpha val="80000"/>
                  </a:srgbClr>
                </a:solidFill>
              </a:rPr>
              <a:t>Instagram</a:t>
            </a:r>
            <a:r>
              <a:rPr lang="ro-RO" sz="2000" dirty="0">
                <a:solidFill>
                  <a:srgbClr val="1A6081">
                    <a:alpha val="80000"/>
                  </a:srgbClr>
                </a:solidFill>
              </a:rPr>
              <a:t> prin videoclipuri scurte care demonstrează bucăți din funcționalitatea aplicației. Astfel se creează o comunitate de oameni care pot fi interesați de produs și care chiar pot propune idei utile pentru noi funcționalități. </a:t>
            </a:r>
            <a:endParaRPr lang="en-US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sz="2000" dirty="0">
                <a:solidFill>
                  <a:srgbClr val="51869F"/>
                </a:solidFill>
              </a:rPr>
              <a:t>Pe lângă reclama pe platforme de socializare, se folosește și Google </a:t>
            </a:r>
            <a:r>
              <a:rPr lang="ro-RO" sz="2000" dirty="0" err="1">
                <a:solidFill>
                  <a:srgbClr val="51869F"/>
                </a:solidFill>
              </a:rPr>
              <a:t>Ads</a:t>
            </a:r>
            <a:r>
              <a:rPr lang="ro-RO" sz="2000" dirty="0">
                <a:solidFill>
                  <a:srgbClr val="51869F"/>
                </a:solidFill>
              </a:rPr>
              <a:t> pentru a împrăștia aplicația la nivel virtual.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ro-RO" sz="2000" dirty="0">
              <a:solidFill>
                <a:srgbClr val="51869F"/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sz="2000" dirty="0">
                <a:solidFill>
                  <a:srgbClr val="51869F"/>
                </a:solidFill>
              </a:rPr>
              <a:t>Propuneri de parteneriat și oferire de conturi </a:t>
            </a:r>
            <a:r>
              <a:rPr lang="ro-RO" sz="2000" dirty="0" err="1">
                <a:solidFill>
                  <a:srgbClr val="51869F"/>
                </a:solidFill>
              </a:rPr>
              <a:t>demo</a:t>
            </a:r>
            <a:r>
              <a:rPr lang="ro-RO" sz="2000" dirty="0">
                <a:solidFill>
                  <a:srgbClr val="51869F"/>
                </a:solidFill>
              </a:rPr>
              <a:t> (1-3 luni) pentru companii de transporturi de persoane deja existente.</a:t>
            </a:r>
            <a:endParaRPr lang="en-US" sz="2000" dirty="0">
              <a:solidFill>
                <a:srgbClr val="5186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371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3278-EAA8-28E8-C698-4D18B4BC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uestion mark in orange and purple&#10;&#10;Description automatically generated">
            <a:extLst>
              <a:ext uri="{FF2B5EF4-FFF2-40B4-BE49-F238E27FC236}">
                <a16:creationId xmlns:a16="http://schemas.microsoft.com/office/drawing/2014/main" id="{C74B9F5E-F944-E788-0A5D-2A89DCA24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" y="19689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5B6C75-BCBF-E9B6-2B4F-FD1A396F90C9}"/>
              </a:ext>
            </a:extLst>
          </p:cNvPr>
          <p:cNvSpPr txBox="1"/>
          <p:nvPr/>
        </p:nvSpPr>
        <p:spPr>
          <a:xfrm>
            <a:off x="930515" y="361703"/>
            <a:ext cx="7191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>
                <a:solidFill>
                  <a:srgbClr val="1A6081"/>
                </a:solidFill>
              </a:rPr>
              <a:t>MODELUL DE AFACERI</a:t>
            </a:r>
            <a:endParaRPr lang="en-US" sz="3200" b="1" dirty="0">
              <a:solidFill>
                <a:srgbClr val="1A608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2FE9F-5527-5523-A948-B6317E9ACD1D}"/>
              </a:ext>
            </a:extLst>
          </p:cNvPr>
          <p:cNvSpPr txBox="1"/>
          <p:nvPr/>
        </p:nvSpPr>
        <p:spPr>
          <a:xfrm>
            <a:off x="538480" y="1738959"/>
            <a:ext cx="10982960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Veniturile sunt generate prin abonamentele plătite de companiile de transport de persoane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: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abonamente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standard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ș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abonamente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personalizate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(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negociabile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):</a:t>
            </a:r>
          </a:p>
          <a:p>
            <a:pPr marL="8001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Abonament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standard: 1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autovehicul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» 20€ /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lun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ă + 5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€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 / vehicul nou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statistici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rezervări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modele 2D standard / predefinite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endParaRPr lang="ro-RO" dirty="0">
              <a:solidFill>
                <a:srgbClr val="1A6081">
                  <a:alpha val="80000"/>
                </a:srgbClr>
              </a:solidFill>
            </a:endParaRPr>
          </a:p>
          <a:p>
            <a:pPr marL="8001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Abonament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PLUS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: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5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autovehicul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»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85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€ /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lun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ă + 5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€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 / vehicul nou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statistici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rezervări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modele 2D standard / predefinite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+ personalizare plan autovehicul și salvarea a 5 șabloane 2D gratis + 1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€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 / șablon nou</a:t>
            </a:r>
          </a:p>
          <a:p>
            <a:pPr marL="8001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Abonament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PRO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: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10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autovehicul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»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175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€ /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lun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ă + 4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€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 / vehicul nou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statistici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rezervări</a:t>
            </a:r>
          </a:p>
          <a:p>
            <a:pPr marL="1257300" lvl="2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acces modele 2D standard / predefinite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+ personalizare plan autovehicul și salvarea a 10 șabloane 2D gratis + 1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€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 / șablon nou</a:t>
            </a:r>
            <a:endParaRPr lang="en-US" dirty="0">
              <a:solidFill>
                <a:srgbClr val="1A6081">
                  <a:alpha val="80000"/>
                </a:srgbClr>
              </a:solidFill>
            </a:endParaRPr>
          </a:p>
          <a:p>
            <a:pPr marL="8001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1A6081">
                  <a:alpha val="80000"/>
                </a:srgbClr>
              </a:solidFill>
            </a:endParaRPr>
          </a:p>
          <a:p>
            <a:pPr marL="8001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08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C573-C66C-3619-531B-9C951C54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uestion mark in orange and purple&#10;&#10;Description automatically generated">
            <a:extLst>
              <a:ext uri="{FF2B5EF4-FFF2-40B4-BE49-F238E27FC236}">
                <a16:creationId xmlns:a16="http://schemas.microsoft.com/office/drawing/2014/main" id="{5DD7FD44-AA2D-2CF0-2275-A1847C4FE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" y="19689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5A6907-1400-44D3-7D8F-EDE8B5B9B92B}"/>
              </a:ext>
            </a:extLst>
          </p:cNvPr>
          <p:cNvSpPr txBox="1"/>
          <p:nvPr/>
        </p:nvSpPr>
        <p:spPr>
          <a:xfrm>
            <a:off x="930515" y="361703"/>
            <a:ext cx="7191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>
                <a:solidFill>
                  <a:srgbClr val="1A6081"/>
                </a:solidFill>
              </a:rPr>
              <a:t>MODELUL DE AFACERI</a:t>
            </a:r>
            <a:r>
              <a:rPr lang="en-US" sz="3200" b="1" dirty="0">
                <a:solidFill>
                  <a:srgbClr val="1A6081"/>
                </a:solidFill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30DFA-4CB5-7E0C-9E30-0BF044B09297}"/>
              </a:ext>
            </a:extLst>
          </p:cNvPr>
          <p:cNvSpPr txBox="1"/>
          <p:nvPr/>
        </p:nvSpPr>
        <p:spPr>
          <a:xfrm>
            <a:off x="538480" y="1111290"/>
            <a:ext cx="10982960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1A6081">
                    <a:alpha val="80000"/>
                  </a:srgbClr>
                </a:solidFill>
              </a:rPr>
              <a:t>De </a:t>
            </a:r>
            <a:r>
              <a:rPr lang="en-US" sz="2000" b="1" dirty="0" err="1">
                <a:solidFill>
                  <a:srgbClr val="1A6081">
                    <a:alpha val="80000"/>
                  </a:srgbClr>
                </a:solidFill>
              </a:rPr>
              <a:t>ce</a:t>
            </a:r>
            <a:r>
              <a:rPr lang="en-US" sz="2000" b="1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b="1" dirty="0" err="1">
                <a:solidFill>
                  <a:srgbClr val="1A6081">
                    <a:alpha val="80000"/>
                  </a:srgbClr>
                </a:solidFill>
              </a:rPr>
              <a:t>ar</a:t>
            </a:r>
            <a:r>
              <a:rPr lang="en-US" sz="2000" b="1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b="1" dirty="0" err="1">
                <a:solidFill>
                  <a:srgbClr val="1A6081">
                    <a:alpha val="80000"/>
                  </a:srgbClr>
                </a:solidFill>
              </a:rPr>
              <a:t>accepta</a:t>
            </a:r>
            <a:r>
              <a:rPr lang="en-US" sz="2000" b="1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sz="2000" b="1" dirty="0" err="1">
                <a:solidFill>
                  <a:srgbClr val="1A6081">
                    <a:alpha val="80000"/>
                  </a:srgbClr>
                </a:solidFill>
              </a:rPr>
              <a:t>companiile</a:t>
            </a:r>
            <a:r>
              <a:rPr lang="en-US" sz="2000" b="1" dirty="0">
                <a:solidFill>
                  <a:srgbClr val="1A6081">
                    <a:alpha val="80000"/>
                  </a:srgbClr>
                </a:solidFill>
              </a:rPr>
              <a:t> de transport </a:t>
            </a:r>
            <a:r>
              <a:rPr lang="en-US" sz="2000" b="1" dirty="0" err="1">
                <a:solidFill>
                  <a:srgbClr val="1A6081">
                    <a:alpha val="80000"/>
                  </a:srgbClr>
                </a:solidFill>
              </a:rPr>
              <a:t>parteneriatul</a:t>
            </a:r>
            <a:r>
              <a:rPr lang="en-US" sz="2000" b="1" dirty="0">
                <a:solidFill>
                  <a:srgbClr val="1A6081">
                    <a:alpha val="80000"/>
                  </a:srgbClr>
                </a:solidFill>
              </a:rPr>
              <a:t> cu </a:t>
            </a:r>
            <a:r>
              <a:rPr lang="en-US" sz="2000" b="1" dirty="0" err="1">
                <a:solidFill>
                  <a:srgbClr val="1A6081">
                    <a:alpha val="80000"/>
                  </a:srgbClr>
                </a:solidFill>
              </a:rPr>
              <a:t>Mizuri</a:t>
            </a:r>
            <a:r>
              <a:rPr lang="en-US" sz="2000" b="1" dirty="0">
                <a:solidFill>
                  <a:srgbClr val="1A6081">
                    <a:alpha val="80000"/>
                  </a:srgbClr>
                </a:solidFill>
              </a:rPr>
              <a:t>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Rezervarea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unui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loc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î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ntr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-un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autovehicul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î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l cost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ă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pe client extra (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propunere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din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partea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Mizuri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: 1RON/1.5RON). Pe l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â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ng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ă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acest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cost extra se pot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implementa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ș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altfel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beneficii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: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locuri pe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scaune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cu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func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ț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ii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speciale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 (masaj, încălzite, ventilate, pat)</a:t>
            </a:r>
            <a:endParaRPr lang="en-US" dirty="0">
              <a:solidFill>
                <a:srgbClr val="1A6081">
                  <a:alpha val="80000"/>
                </a:srgbClr>
              </a:solidFill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locuri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cu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mai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mult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spa</a:t>
            </a:r>
            <a:r>
              <a:rPr lang="ro-RO" dirty="0">
                <a:solidFill>
                  <a:srgbClr val="1A6081">
                    <a:alpha val="80000"/>
                  </a:srgbClr>
                </a:solidFill>
              </a:rPr>
              <a:t>ț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iu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pentru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trasee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mai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lungi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bilete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de </a:t>
            </a:r>
            <a:r>
              <a:rPr lang="en-US" dirty="0" err="1">
                <a:solidFill>
                  <a:srgbClr val="1A6081">
                    <a:alpha val="80000"/>
                  </a:srgbClr>
                </a:solidFill>
              </a:rPr>
              <a:t>grup</a:t>
            </a:r>
            <a:r>
              <a:rPr lang="en-US" dirty="0">
                <a:solidFill>
                  <a:srgbClr val="1A6081">
                    <a:alpha val="80000"/>
                  </a:srgbClr>
                </a:solidFill>
              </a:rPr>
              <a:t> </a:t>
            </a:r>
          </a:p>
          <a:p>
            <a:pPr marL="8001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1A6081">
                  <a:alpha val="80000"/>
                </a:srgbClr>
              </a:solidFill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ro-RO" sz="2000" dirty="0">
              <a:solidFill>
                <a:srgbClr val="1A6081">
                  <a:alpha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485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63026FD3A3A649ACD95D7DC94283A6" ma:contentTypeVersion="4" ma:contentTypeDescription="Create a new document." ma:contentTypeScope="" ma:versionID="ee79f4effc132383f6415d1b669b4992">
  <xsd:schema xmlns:xsd="http://www.w3.org/2001/XMLSchema" xmlns:xs="http://www.w3.org/2001/XMLSchema" xmlns:p="http://schemas.microsoft.com/office/2006/metadata/properties" xmlns:ns2="b1ae2763-44bc-474a-a5f1-b49c109d2d53" targetNamespace="http://schemas.microsoft.com/office/2006/metadata/properties" ma:root="true" ma:fieldsID="657c8fd38e751be3b73356d67bbecfe4" ns2:_="">
    <xsd:import namespace="b1ae2763-44bc-474a-a5f1-b49c109d2d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763-44bc-474a-a5f1-b49c109d2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FFED7D-D0C0-4E62-93C3-A4F25F567DA7}"/>
</file>

<file path=customXml/itemProps2.xml><?xml version="1.0" encoding="utf-8"?>
<ds:datastoreItem xmlns:ds="http://schemas.openxmlformats.org/officeDocument/2006/customXml" ds:itemID="{90F50DD9-3DB0-490E-8948-0454E247F25F}"/>
</file>

<file path=customXml/itemProps3.xml><?xml version="1.0" encoding="utf-8"?>
<ds:datastoreItem xmlns:ds="http://schemas.openxmlformats.org/officeDocument/2006/customXml" ds:itemID="{0F2673BD-7A2A-4755-953D-3CF2C7BCD745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920</Words>
  <Application>Microsoft Office PowerPoint</Application>
  <PresentationFormat>Widescreen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Office Theme</vt:lpstr>
      <vt:lpstr>MIZURI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EUGENIU COJOCARU</dc:creator>
  <cp:lastModifiedBy>EUGENIU COJOCARU</cp:lastModifiedBy>
  <cp:revision>3</cp:revision>
  <dcterms:created xsi:type="dcterms:W3CDTF">2025-01-18T16:42:30Z</dcterms:created>
  <dcterms:modified xsi:type="dcterms:W3CDTF">2025-01-18T21:08:54Z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0x0101004363026FD3A3A649ACD95D7DC94283A6</vt:lpwstr>
  </property>
</Properties>
</file>