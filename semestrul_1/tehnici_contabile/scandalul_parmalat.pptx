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3" r:id="rId5"/>
    <p:sldId id="260" r:id="rId6"/>
    <p:sldId id="261" r:id="rId7"/>
    <p:sldId id="262" r:id="rId8"/>
    <p:sldId id="264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5" d="100"/>
          <a:sy n="145" d="100"/>
        </p:scale>
        <p:origin x="126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2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ustomXml" Target="../customXml/item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82090-295A-4026-A850-CE09D75AA755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63CF223C-0C62-4A63-A0D4-63C0E092DE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6121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82090-295A-4026-A850-CE09D75AA755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F223C-0C62-4A63-A0D4-63C0E092DE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7331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82090-295A-4026-A850-CE09D75AA755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3CF223C-0C62-4A63-A0D4-63C0E092DE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622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82090-295A-4026-A850-CE09D75AA755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63CF223C-0C62-4A63-A0D4-63C0E092DE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280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82090-295A-4026-A850-CE09D75AA755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63CF223C-0C62-4A63-A0D4-63C0E092DE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1675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82090-295A-4026-A850-CE09D75AA755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F223C-0C62-4A63-A0D4-63C0E092DE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3469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82090-295A-4026-A850-CE09D75AA755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F223C-0C62-4A63-A0D4-63C0E092DE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1369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82090-295A-4026-A850-CE09D75AA755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F223C-0C62-4A63-A0D4-63C0E092DE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6285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82090-295A-4026-A850-CE09D75AA755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3CF223C-0C62-4A63-A0D4-63C0E092DE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6473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82090-295A-4026-A850-CE09D75AA755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3CF223C-0C62-4A63-A0D4-63C0E092DE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055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82090-295A-4026-A850-CE09D75AA755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3CF223C-0C62-4A63-A0D4-63C0E092DE95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934161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82090-295A-4026-A850-CE09D75AA755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3CF223C-0C62-4A63-A0D4-63C0E092DE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2176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82090-295A-4026-A850-CE09D75AA755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3CF223C-0C62-4A63-A0D4-63C0E092DE95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746107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82090-295A-4026-A850-CE09D75AA755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3CF223C-0C62-4A63-A0D4-63C0E092DE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9791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82090-295A-4026-A850-CE09D75AA755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F223C-0C62-4A63-A0D4-63C0E092DE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8133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82090-295A-4026-A850-CE09D75AA755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F223C-0C62-4A63-A0D4-63C0E092DE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4232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282090-295A-4026-A850-CE09D75AA755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63CF223C-0C62-4A63-A0D4-63C0E092DE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6084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Parmalat" TargetMode="External"/><Relationship Id="rId7" Type="http://schemas.openxmlformats.org/officeDocument/2006/relationships/hyperlink" Target="https://shippingandcommodityacademy.com/blog/parmalat-scandal-2003-the-complete-story/" TargetMode="External"/><Relationship Id="rId2" Type="http://schemas.openxmlformats.org/officeDocument/2006/relationships/hyperlink" Target="https://www.econcrises.org/2016/11/29/parmalat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theguardian.com/business/2004/oct/06/corporatefraud.businessqandas" TargetMode="External"/><Relationship Id="rId5" Type="http://schemas.openxmlformats.org/officeDocument/2006/relationships/hyperlink" Target="https://en.wikipedia.org/wiki/Calisto_Tanzi" TargetMode="External"/><Relationship Id="rId4" Type="http://schemas.openxmlformats.org/officeDocument/2006/relationships/hyperlink" Target="https://en.wikipedia.org/wiki/Parmalat_bankruptcy_timeline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2797F-A6D8-51F1-8E7D-021BFB7575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89212" y="1036529"/>
            <a:ext cx="8915399" cy="2262781"/>
          </a:xfrm>
        </p:spPr>
        <p:txBody>
          <a:bodyPr/>
          <a:lstStyle/>
          <a:p>
            <a:r>
              <a:rPr lang="ro-RO" dirty="0"/>
              <a:t>Scandalul Parmalat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AB1818-1920-3356-A74B-8C14773739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76601" y="6200384"/>
            <a:ext cx="8915399" cy="398474"/>
          </a:xfrm>
        </p:spPr>
        <p:txBody>
          <a:bodyPr/>
          <a:lstStyle/>
          <a:p>
            <a:pPr algn="r"/>
            <a:r>
              <a:rPr lang="ro-RO" dirty="0"/>
              <a:t>Cojocaru Eugeniu</a:t>
            </a:r>
            <a:endParaRPr lang="en-US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434C0C58-467D-059C-D26F-8E59BD5452F0}"/>
              </a:ext>
            </a:extLst>
          </p:cNvPr>
          <p:cNvSpPr txBox="1">
            <a:spLocks/>
          </p:cNvSpPr>
          <p:nvPr/>
        </p:nvSpPr>
        <p:spPr>
          <a:xfrm>
            <a:off x="2589212" y="3370604"/>
            <a:ext cx="8915399" cy="112628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o-RO" dirty="0"/>
              <a:t>Frauda corporatista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21366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7860F-562B-07A8-D84B-20C18C52B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Agenda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57F793-963C-E80B-94C4-BA7EBE3667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dirty="0"/>
              <a:t>Introducere</a:t>
            </a:r>
            <a:endParaRPr lang="en-US" dirty="0"/>
          </a:p>
          <a:p>
            <a:endParaRPr lang="en-US" dirty="0"/>
          </a:p>
          <a:p>
            <a:r>
              <a:rPr lang="en-US" dirty="0" err="1"/>
              <a:t>Scurt</a:t>
            </a:r>
            <a:r>
              <a:rPr lang="en-US" dirty="0"/>
              <a:t> </a:t>
            </a:r>
            <a:r>
              <a:rPr lang="en-US" dirty="0" err="1"/>
              <a:t>istoric</a:t>
            </a:r>
            <a:endParaRPr lang="en-US" dirty="0"/>
          </a:p>
          <a:p>
            <a:endParaRPr lang="en-US" dirty="0"/>
          </a:p>
          <a:p>
            <a:r>
              <a:rPr lang="en-US" dirty="0"/>
              <a:t>Scandal</a:t>
            </a:r>
          </a:p>
          <a:p>
            <a:endParaRPr lang="en-US" dirty="0"/>
          </a:p>
          <a:p>
            <a:r>
              <a:rPr lang="en-US" dirty="0" err="1"/>
              <a:t>Concluzii</a:t>
            </a:r>
            <a:endParaRPr lang="en-US" dirty="0"/>
          </a:p>
          <a:p>
            <a:endParaRPr lang="ro-RO" dirty="0"/>
          </a:p>
          <a:p>
            <a:r>
              <a:rPr lang="en-US" dirty="0" err="1"/>
              <a:t>Bibliografie</a:t>
            </a:r>
            <a:endParaRPr lang="ro-RO" dirty="0"/>
          </a:p>
          <a:p>
            <a:endParaRPr lang="ro-RO" dirty="0"/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58F7EB1-3593-8627-AC7E-C2C064C9C2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5761" y="2614313"/>
            <a:ext cx="7315201" cy="281619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9174567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B5898079-081F-4617-AC6B-4290266737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12192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F35654-8535-6D33-8F02-A4DEEF978A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645106"/>
            <a:ext cx="5122652" cy="125989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Introducere</a:t>
            </a:r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B829EC8-5B3D-469E-942E-5E6E569E5C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862025E-EBC4-5821-B41F-2409A1D732D0}"/>
              </a:ext>
            </a:extLst>
          </p:cNvPr>
          <p:cNvSpPr txBox="1">
            <a:spLocks/>
          </p:cNvSpPr>
          <p:nvPr/>
        </p:nvSpPr>
        <p:spPr>
          <a:xfrm>
            <a:off x="649225" y="2133600"/>
            <a:ext cx="5122652" cy="37592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/>
            <a:r>
              <a:rPr lang="en-US"/>
              <a:t>Companie</a:t>
            </a:r>
            <a:r>
              <a:rPr lang="en-US" dirty="0"/>
              <a:t> </a:t>
            </a:r>
            <a:r>
              <a:rPr lang="en-US"/>
              <a:t>fondata</a:t>
            </a:r>
            <a:r>
              <a:rPr lang="en-US" dirty="0"/>
              <a:t> in 1961 in Parma, Italia</a:t>
            </a:r>
            <a:endParaRPr lang="en-US"/>
          </a:p>
          <a:p>
            <a:pPr marL="0" indent="0"/>
            <a:endParaRPr lang="en-US"/>
          </a:p>
          <a:p>
            <a:pPr marL="0" indent="0"/>
            <a:r>
              <a:rPr lang="en-US"/>
              <a:t>Fondator</a:t>
            </a:r>
            <a:r>
              <a:rPr lang="en-US" dirty="0"/>
              <a:t>: </a:t>
            </a:r>
            <a:r>
              <a:rPr lang="en-US"/>
              <a:t>Castilo</a:t>
            </a:r>
            <a:r>
              <a:rPr lang="en-US" dirty="0"/>
              <a:t> </a:t>
            </a:r>
            <a:r>
              <a:rPr lang="en-US"/>
              <a:t>Tanzi</a:t>
            </a:r>
          </a:p>
          <a:p>
            <a:pPr marL="0" indent="0"/>
            <a:endParaRPr lang="en-US"/>
          </a:p>
          <a:p>
            <a:pPr marL="0" indent="0"/>
            <a:r>
              <a:rPr lang="en-US"/>
              <a:t>Listata</a:t>
            </a:r>
            <a:r>
              <a:rPr lang="en-US" dirty="0"/>
              <a:t> la bursa din Milano: 1990</a:t>
            </a:r>
            <a:endParaRPr lang="en-US"/>
          </a:p>
          <a:p>
            <a:pPr marL="0" indent="0"/>
            <a:endParaRPr lang="en-US"/>
          </a:p>
          <a:p>
            <a:pPr marL="0" indent="0"/>
            <a:r>
              <a:rPr lang="en-US"/>
              <a:t>Domeniu</a:t>
            </a:r>
            <a:r>
              <a:rPr lang="en-US" dirty="0"/>
              <a:t> de </a:t>
            </a:r>
            <a:r>
              <a:rPr lang="en-US"/>
              <a:t>activitate</a:t>
            </a:r>
            <a:r>
              <a:rPr lang="en-US" dirty="0"/>
              <a:t>: </a:t>
            </a:r>
            <a:r>
              <a:rPr lang="en-US"/>
              <a:t>industria</a:t>
            </a:r>
            <a:r>
              <a:rPr lang="en-US" dirty="0"/>
              <a:t> </a:t>
            </a:r>
            <a:r>
              <a:rPr lang="en-US"/>
              <a:t>alimentara</a:t>
            </a:r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E73B735-B501-2903-6743-716BF18B24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572" y="3263419"/>
            <a:ext cx="2674733" cy="2698831"/>
          </a:xfrm>
          <a:prstGeom prst="rect">
            <a:avLst/>
          </a:prstGeom>
        </p:spPr>
      </p:pic>
      <p:pic>
        <p:nvPicPr>
          <p:cNvPr id="5" name="Content Placeholder 4" descr="A logo with a flower and a circle&#10;&#10;Description automatically generated">
            <a:extLst>
              <a:ext uri="{FF2B5EF4-FFF2-40B4-BE49-F238E27FC236}">
                <a16:creationId xmlns:a16="http://schemas.microsoft.com/office/drawing/2014/main" id="{839AA98F-019B-C15F-1880-B0210A2F4A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9775" y="645106"/>
            <a:ext cx="2384324" cy="2384324"/>
          </a:xfrm>
          <a:prstGeom prst="rect">
            <a:avLst/>
          </a:prstGeom>
        </p:spPr>
      </p:pic>
      <p:sp>
        <p:nvSpPr>
          <p:cNvPr id="17" name="Freeform 12">
            <a:extLst>
              <a:ext uri="{FF2B5EF4-FFF2-40B4-BE49-F238E27FC236}">
                <a16:creationId xmlns:a16="http://schemas.microsoft.com/office/drawing/2014/main" id="{55D72A3F-A083-4502-838A-2C32C98002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6061223"/>
            <a:ext cx="1038036" cy="506277"/>
          </a:xfrm>
          <a:custGeom>
            <a:avLst/>
            <a:gdLst>
              <a:gd name="connsiteX0" fmla="*/ 0 w 1038036"/>
              <a:gd name="connsiteY0" fmla="*/ 0 h 506277"/>
              <a:gd name="connsiteX1" fmla="*/ 182880 w 1038036"/>
              <a:gd name="connsiteY1" fmla="*/ 0 h 506277"/>
              <a:gd name="connsiteX2" fmla="*/ 291705 w 1038036"/>
              <a:gd name="connsiteY2" fmla="*/ 0 h 506277"/>
              <a:gd name="connsiteX3" fmla="*/ 291705 w 1038036"/>
              <a:gd name="connsiteY3" fmla="*/ 151 h 506277"/>
              <a:gd name="connsiteX4" fmla="*/ 692049 w 1038036"/>
              <a:gd name="connsiteY4" fmla="*/ 705 h 506277"/>
              <a:gd name="connsiteX5" fmla="*/ 782744 w 1038036"/>
              <a:gd name="connsiteY5" fmla="*/ 705 h 506277"/>
              <a:gd name="connsiteX6" fmla="*/ 797001 w 1038036"/>
              <a:gd name="connsiteY6" fmla="*/ 5473 h 506277"/>
              <a:gd name="connsiteX7" fmla="*/ 801982 w 1038036"/>
              <a:gd name="connsiteY7" fmla="*/ 10242 h 506277"/>
              <a:gd name="connsiteX8" fmla="*/ 1030951 w 1038036"/>
              <a:gd name="connsiteY8" fmla="*/ 239185 h 506277"/>
              <a:gd name="connsiteX9" fmla="*/ 1030951 w 1038036"/>
              <a:gd name="connsiteY9" fmla="*/ 267797 h 506277"/>
              <a:gd name="connsiteX10" fmla="*/ 801982 w 1038036"/>
              <a:gd name="connsiteY10" fmla="*/ 496740 h 506277"/>
              <a:gd name="connsiteX11" fmla="*/ 797001 w 1038036"/>
              <a:gd name="connsiteY11" fmla="*/ 501508 h 506277"/>
              <a:gd name="connsiteX12" fmla="*/ 782744 w 1038036"/>
              <a:gd name="connsiteY12" fmla="*/ 506277 h 506277"/>
              <a:gd name="connsiteX13" fmla="*/ 692049 w 1038036"/>
              <a:gd name="connsiteY13" fmla="*/ 506277 h 506277"/>
              <a:gd name="connsiteX14" fmla="*/ 291705 w 1038036"/>
              <a:gd name="connsiteY14" fmla="*/ 505140 h 506277"/>
              <a:gd name="connsiteX15" fmla="*/ 291705 w 1038036"/>
              <a:gd name="connsiteY15" fmla="*/ 506277 h 506277"/>
              <a:gd name="connsiteX16" fmla="*/ 0 w 1038036"/>
              <a:gd name="connsiteY16" fmla="*/ 506277 h 506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038036" h="506277">
                <a:moveTo>
                  <a:pt x="0" y="0"/>
                </a:moveTo>
                <a:lnTo>
                  <a:pt x="182880" y="0"/>
                </a:lnTo>
                <a:lnTo>
                  <a:pt x="291705" y="0"/>
                </a:lnTo>
                <a:lnTo>
                  <a:pt x="291705" y="151"/>
                </a:lnTo>
                <a:lnTo>
                  <a:pt x="692049" y="705"/>
                </a:lnTo>
                <a:lnTo>
                  <a:pt x="782744" y="705"/>
                </a:lnTo>
                <a:cubicBezTo>
                  <a:pt x="787553" y="705"/>
                  <a:pt x="792363" y="5473"/>
                  <a:pt x="797001" y="5473"/>
                </a:cubicBezTo>
                <a:cubicBezTo>
                  <a:pt x="797001" y="10242"/>
                  <a:pt x="801982" y="10242"/>
                  <a:pt x="801982" y="10242"/>
                </a:cubicBezTo>
                <a:lnTo>
                  <a:pt x="1030951" y="239185"/>
                </a:lnTo>
                <a:cubicBezTo>
                  <a:pt x="1040398" y="248722"/>
                  <a:pt x="1040398" y="258259"/>
                  <a:pt x="1030951" y="267797"/>
                </a:cubicBezTo>
                <a:lnTo>
                  <a:pt x="801982" y="496740"/>
                </a:lnTo>
                <a:cubicBezTo>
                  <a:pt x="800436" y="498363"/>
                  <a:pt x="798547" y="499885"/>
                  <a:pt x="797001" y="501508"/>
                </a:cubicBezTo>
                <a:cubicBezTo>
                  <a:pt x="792363" y="506277"/>
                  <a:pt x="787553" y="506277"/>
                  <a:pt x="782744" y="506277"/>
                </a:cubicBezTo>
                <a:lnTo>
                  <a:pt x="692049" y="506277"/>
                </a:lnTo>
                <a:lnTo>
                  <a:pt x="291705" y="505140"/>
                </a:lnTo>
                <a:lnTo>
                  <a:pt x="291705" y="506277"/>
                </a:lnTo>
                <a:lnTo>
                  <a:pt x="0" y="506277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4414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B5898079-081F-4617-AC6B-4290266737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12192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F35654-8535-6D33-8F02-A4DEEF978A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645106"/>
            <a:ext cx="5122652" cy="125989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err="1"/>
              <a:t>Scurt</a:t>
            </a:r>
            <a:r>
              <a:rPr lang="en-US" dirty="0"/>
              <a:t> </a:t>
            </a:r>
            <a:r>
              <a:rPr lang="en-US" dirty="0" err="1"/>
              <a:t>istoric</a:t>
            </a:r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B829EC8-5B3D-469E-942E-5E6E569E5C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Freeform 12">
            <a:extLst>
              <a:ext uri="{FF2B5EF4-FFF2-40B4-BE49-F238E27FC236}">
                <a16:creationId xmlns:a16="http://schemas.microsoft.com/office/drawing/2014/main" id="{55D72A3F-A083-4502-838A-2C32C98002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6061223"/>
            <a:ext cx="1038036" cy="506277"/>
          </a:xfrm>
          <a:custGeom>
            <a:avLst/>
            <a:gdLst>
              <a:gd name="connsiteX0" fmla="*/ 0 w 1038036"/>
              <a:gd name="connsiteY0" fmla="*/ 0 h 506277"/>
              <a:gd name="connsiteX1" fmla="*/ 182880 w 1038036"/>
              <a:gd name="connsiteY1" fmla="*/ 0 h 506277"/>
              <a:gd name="connsiteX2" fmla="*/ 291705 w 1038036"/>
              <a:gd name="connsiteY2" fmla="*/ 0 h 506277"/>
              <a:gd name="connsiteX3" fmla="*/ 291705 w 1038036"/>
              <a:gd name="connsiteY3" fmla="*/ 151 h 506277"/>
              <a:gd name="connsiteX4" fmla="*/ 692049 w 1038036"/>
              <a:gd name="connsiteY4" fmla="*/ 705 h 506277"/>
              <a:gd name="connsiteX5" fmla="*/ 782744 w 1038036"/>
              <a:gd name="connsiteY5" fmla="*/ 705 h 506277"/>
              <a:gd name="connsiteX6" fmla="*/ 797001 w 1038036"/>
              <a:gd name="connsiteY6" fmla="*/ 5473 h 506277"/>
              <a:gd name="connsiteX7" fmla="*/ 801982 w 1038036"/>
              <a:gd name="connsiteY7" fmla="*/ 10242 h 506277"/>
              <a:gd name="connsiteX8" fmla="*/ 1030951 w 1038036"/>
              <a:gd name="connsiteY8" fmla="*/ 239185 h 506277"/>
              <a:gd name="connsiteX9" fmla="*/ 1030951 w 1038036"/>
              <a:gd name="connsiteY9" fmla="*/ 267797 h 506277"/>
              <a:gd name="connsiteX10" fmla="*/ 801982 w 1038036"/>
              <a:gd name="connsiteY10" fmla="*/ 496740 h 506277"/>
              <a:gd name="connsiteX11" fmla="*/ 797001 w 1038036"/>
              <a:gd name="connsiteY11" fmla="*/ 501508 h 506277"/>
              <a:gd name="connsiteX12" fmla="*/ 782744 w 1038036"/>
              <a:gd name="connsiteY12" fmla="*/ 506277 h 506277"/>
              <a:gd name="connsiteX13" fmla="*/ 692049 w 1038036"/>
              <a:gd name="connsiteY13" fmla="*/ 506277 h 506277"/>
              <a:gd name="connsiteX14" fmla="*/ 291705 w 1038036"/>
              <a:gd name="connsiteY14" fmla="*/ 505140 h 506277"/>
              <a:gd name="connsiteX15" fmla="*/ 291705 w 1038036"/>
              <a:gd name="connsiteY15" fmla="*/ 506277 h 506277"/>
              <a:gd name="connsiteX16" fmla="*/ 0 w 1038036"/>
              <a:gd name="connsiteY16" fmla="*/ 506277 h 506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038036" h="506277">
                <a:moveTo>
                  <a:pt x="0" y="0"/>
                </a:moveTo>
                <a:lnTo>
                  <a:pt x="182880" y="0"/>
                </a:lnTo>
                <a:lnTo>
                  <a:pt x="291705" y="0"/>
                </a:lnTo>
                <a:lnTo>
                  <a:pt x="291705" y="151"/>
                </a:lnTo>
                <a:lnTo>
                  <a:pt x="692049" y="705"/>
                </a:lnTo>
                <a:lnTo>
                  <a:pt x="782744" y="705"/>
                </a:lnTo>
                <a:cubicBezTo>
                  <a:pt x="787553" y="705"/>
                  <a:pt x="792363" y="5473"/>
                  <a:pt x="797001" y="5473"/>
                </a:cubicBezTo>
                <a:cubicBezTo>
                  <a:pt x="797001" y="10242"/>
                  <a:pt x="801982" y="10242"/>
                  <a:pt x="801982" y="10242"/>
                </a:cubicBezTo>
                <a:lnTo>
                  <a:pt x="1030951" y="239185"/>
                </a:lnTo>
                <a:cubicBezTo>
                  <a:pt x="1040398" y="248722"/>
                  <a:pt x="1040398" y="258259"/>
                  <a:pt x="1030951" y="267797"/>
                </a:cubicBezTo>
                <a:lnTo>
                  <a:pt x="801982" y="496740"/>
                </a:lnTo>
                <a:cubicBezTo>
                  <a:pt x="800436" y="498363"/>
                  <a:pt x="798547" y="499885"/>
                  <a:pt x="797001" y="501508"/>
                </a:cubicBezTo>
                <a:cubicBezTo>
                  <a:pt x="792363" y="506277"/>
                  <a:pt x="787553" y="506277"/>
                  <a:pt x="782744" y="506277"/>
                </a:cubicBezTo>
                <a:lnTo>
                  <a:pt x="692049" y="506277"/>
                </a:lnTo>
                <a:lnTo>
                  <a:pt x="291705" y="505140"/>
                </a:lnTo>
                <a:lnTo>
                  <a:pt x="291705" y="506277"/>
                </a:lnTo>
                <a:lnTo>
                  <a:pt x="0" y="506277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20CF638-4786-7E52-63C8-5AB4E786476D}"/>
              </a:ext>
            </a:extLst>
          </p:cNvPr>
          <p:cNvSpPr txBox="1">
            <a:spLocks/>
          </p:cNvSpPr>
          <p:nvPr/>
        </p:nvSpPr>
        <p:spPr>
          <a:xfrm>
            <a:off x="519017" y="2278225"/>
            <a:ext cx="9041204" cy="37782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1961 – </a:t>
            </a:r>
            <a:r>
              <a:rPr lang="en-US" dirty="0" err="1"/>
              <a:t>fondat</a:t>
            </a:r>
            <a:r>
              <a:rPr lang="en-US" dirty="0"/>
              <a:t> </a:t>
            </a:r>
            <a:r>
              <a:rPr lang="en-US" dirty="0" err="1"/>
              <a:t>afacerea</a:t>
            </a:r>
            <a:endParaRPr lang="ro-RO" dirty="0"/>
          </a:p>
          <a:p>
            <a:r>
              <a:rPr lang="en-US" dirty="0"/>
              <a:t>1980 – </a:t>
            </a:r>
            <a:r>
              <a:rPr lang="en-US" dirty="0" err="1"/>
              <a:t>afacerea</a:t>
            </a:r>
            <a:r>
              <a:rPr lang="en-US" dirty="0"/>
              <a:t> </a:t>
            </a:r>
            <a:r>
              <a:rPr lang="en-US" dirty="0" err="1"/>
              <a:t>urca</a:t>
            </a:r>
            <a:r>
              <a:rPr lang="en-US" dirty="0"/>
              <a:t> pe </a:t>
            </a:r>
            <a:r>
              <a:rPr lang="en-US" dirty="0" err="1"/>
              <a:t>pragul</a:t>
            </a:r>
            <a:r>
              <a:rPr lang="en-US" dirty="0"/>
              <a:t> multinational</a:t>
            </a:r>
          </a:p>
          <a:p>
            <a:r>
              <a:rPr lang="en-US" dirty="0"/>
              <a:t>1990 – </a:t>
            </a:r>
            <a:r>
              <a:rPr lang="en-US" dirty="0" err="1"/>
              <a:t>listat</a:t>
            </a:r>
            <a:r>
              <a:rPr lang="en-US" dirty="0"/>
              <a:t> la bursa din Milano  </a:t>
            </a:r>
          </a:p>
          <a:p>
            <a:r>
              <a:rPr lang="en-US" dirty="0"/>
              <a:t>1997 – </a:t>
            </a:r>
            <a:r>
              <a:rPr lang="en-US" dirty="0" err="1"/>
              <a:t>piete</a:t>
            </a:r>
            <a:r>
              <a:rPr lang="en-US" dirty="0"/>
              <a:t> </a:t>
            </a:r>
            <a:r>
              <a:rPr lang="en-US" dirty="0" err="1"/>
              <a:t>financiare</a:t>
            </a:r>
            <a:r>
              <a:rPr lang="en-US" dirty="0"/>
              <a:t> </a:t>
            </a:r>
            <a:endParaRPr lang="ro-RO" dirty="0"/>
          </a:p>
          <a:p>
            <a:r>
              <a:rPr lang="en-US" dirty="0"/>
              <a:t>2002 – record </a:t>
            </a:r>
            <a:r>
              <a:rPr lang="en-US" dirty="0" err="1"/>
              <a:t>valoare</a:t>
            </a:r>
            <a:r>
              <a:rPr lang="en-US" dirty="0"/>
              <a:t> a </a:t>
            </a:r>
            <a:r>
              <a:rPr lang="en-US" dirty="0" err="1"/>
              <a:t>stocurilor</a:t>
            </a:r>
            <a:r>
              <a:rPr lang="en-US" dirty="0"/>
              <a:t> =&gt; 3.7 </a:t>
            </a:r>
            <a:r>
              <a:rPr lang="en-US" dirty="0" err="1"/>
              <a:t>miliarde</a:t>
            </a:r>
            <a:r>
              <a:rPr lang="en-US" dirty="0"/>
              <a:t> €, +30 tari, +30 000 </a:t>
            </a:r>
            <a:r>
              <a:rPr lang="en-US" dirty="0" err="1"/>
              <a:t>angajati</a:t>
            </a:r>
            <a:endParaRPr lang="ro-RO" dirty="0"/>
          </a:p>
          <a:p>
            <a:r>
              <a:rPr lang="en-US" dirty="0"/>
              <a:t>2003 – </a:t>
            </a:r>
            <a:r>
              <a:rPr lang="en-US" dirty="0" err="1"/>
              <a:t>insolventa</a:t>
            </a:r>
            <a:r>
              <a:rPr lang="en-US" dirty="0"/>
              <a:t> =&gt; 14.3 </a:t>
            </a:r>
            <a:r>
              <a:rPr lang="en-US" dirty="0" err="1"/>
              <a:t>miliarde</a:t>
            </a:r>
            <a:r>
              <a:rPr lang="en-US" dirty="0"/>
              <a:t> € (453.44 ani)</a:t>
            </a:r>
          </a:p>
        </p:txBody>
      </p:sp>
    </p:spTree>
    <p:extLst>
      <p:ext uri="{BB962C8B-B14F-4D97-AF65-F5344CB8AC3E}">
        <p14:creationId xmlns:p14="http://schemas.microsoft.com/office/powerpoint/2010/main" val="5869066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EDD21E1-BAF0-4314-AB31-82ECB8AC9E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12192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BEB283-5564-331E-9CFC-6F021C5AA6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645106"/>
            <a:ext cx="5122652" cy="1259894"/>
          </a:xfrm>
        </p:spPr>
        <p:txBody>
          <a:bodyPr>
            <a:normAutofit/>
          </a:bodyPr>
          <a:lstStyle/>
          <a:p>
            <a:r>
              <a:rPr lang="en-US" dirty="0"/>
              <a:t>Scandal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DC8619C-F25D-468E-95FA-2A2151D7DD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200AD8-5A02-F6C1-5C55-48DD3FD763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5" y="2133600"/>
            <a:ext cx="5122652" cy="3759253"/>
          </a:xfrm>
        </p:spPr>
        <p:txBody>
          <a:bodyPr>
            <a:normAutofit/>
          </a:bodyPr>
          <a:lstStyle/>
          <a:p>
            <a:r>
              <a:rPr lang="en-US" dirty="0"/>
              <a:t>1997 – </a:t>
            </a:r>
            <a:r>
              <a:rPr lang="en-US" dirty="0" err="1"/>
              <a:t>extindere</a:t>
            </a:r>
            <a:r>
              <a:rPr lang="en-US" dirty="0"/>
              <a:t> pe bursa, </a:t>
            </a:r>
            <a:r>
              <a:rPr lang="en-US" dirty="0" err="1"/>
              <a:t>achizitii</a:t>
            </a:r>
            <a:r>
              <a:rPr lang="en-US" dirty="0"/>
              <a:t> </a:t>
            </a:r>
            <a:r>
              <a:rPr lang="en-US" dirty="0" err="1"/>
              <a:t>internationale</a:t>
            </a:r>
            <a:r>
              <a:rPr lang="en-US" dirty="0"/>
              <a:t> </a:t>
            </a:r>
          </a:p>
          <a:p>
            <a:r>
              <a:rPr lang="en-US" dirty="0"/>
              <a:t>2001 – profit </a:t>
            </a:r>
            <a:r>
              <a:rPr lang="en-US" dirty="0" err="1"/>
              <a:t>redus</a:t>
            </a:r>
            <a:r>
              <a:rPr lang="en-US" dirty="0"/>
              <a:t>, </a:t>
            </a:r>
            <a:r>
              <a:rPr lang="en-US" dirty="0" err="1"/>
              <a:t>vanzare</a:t>
            </a:r>
            <a:r>
              <a:rPr lang="en-US" dirty="0"/>
              <a:t> de derivate</a:t>
            </a:r>
          </a:p>
          <a:p>
            <a:r>
              <a:rPr lang="en-US" dirty="0"/>
              <a:t>2003</a:t>
            </a:r>
          </a:p>
          <a:p>
            <a:pPr lvl="1"/>
            <a:r>
              <a:rPr lang="en-US" dirty="0"/>
              <a:t>150 M €</a:t>
            </a:r>
          </a:p>
          <a:p>
            <a:pPr lvl="1"/>
            <a:r>
              <a:rPr lang="en-US" dirty="0"/>
              <a:t>3.95 </a:t>
            </a:r>
            <a:r>
              <a:rPr lang="en-US" dirty="0" err="1"/>
              <a:t>mld</a:t>
            </a:r>
            <a:r>
              <a:rPr lang="en-US" dirty="0"/>
              <a:t> € - </a:t>
            </a:r>
            <a:r>
              <a:rPr lang="en-US" dirty="0" err="1"/>
              <a:t>Insulele</a:t>
            </a:r>
            <a:r>
              <a:rPr lang="en-US" dirty="0"/>
              <a:t> Cayman</a:t>
            </a:r>
          </a:p>
          <a:p>
            <a:pPr lvl="1"/>
            <a:r>
              <a:rPr lang="en-US" dirty="0"/>
              <a:t>CFO Fausto Tonna (300M), CFO Alberto Ferraris, CFO Luciano Del </a:t>
            </a:r>
            <a:r>
              <a:rPr lang="en-US" dirty="0" err="1"/>
              <a:t>Soldato</a:t>
            </a:r>
            <a:endParaRPr lang="en-US" dirty="0"/>
          </a:p>
          <a:p>
            <a:pPr lvl="1"/>
            <a:r>
              <a:rPr lang="en-US" dirty="0"/>
              <a:t>8 </a:t>
            </a:r>
            <a:r>
              <a:rPr lang="en-US" dirty="0" err="1"/>
              <a:t>mld</a:t>
            </a:r>
            <a:r>
              <a:rPr lang="en-US" dirty="0"/>
              <a:t> </a:t>
            </a:r>
            <a:r>
              <a:rPr lang="en-US" kern="1200">
                <a:effectLst/>
                <a:latin typeface="Century Gothic" panose="020B0502020202020204" pitchFamily="34" charset="0"/>
                <a:ea typeface="+mn-ea"/>
                <a:cs typeface="+mn-cs"/>
              </a:rPr>
              <a:t>€ </a:t>
            </a:r>
            <a:r>
              <a:rPr lang="en-US" kern="1200" err="1">
                <a:effectLst/>
                <a:latin typeface="Century Gothic" panose="020B0502020202020204" pitchFamily="34" charset="0"/>
                <a:ea typeface="+mn-ea"/>
                <a:cs typeface="+mn-cs"/>
              </a:rPr>
              <a:t>decembrie</a:t>
            </a:r>
            <a:r>
              <a:rPr lang="en-US" kern="1200">
                <a:effectLst/>
                <a:latin typeface="Century Gothic" panose="020B0502020202020204" pitchFamily="34" charset="0"/>
                <a:ea typeface="+mn-ea"/>
                <a:cs typeface="+mn-cs"/>
              </a:rPr>
              <a:t> =&gt; 14.3 </a:t>
            </a:r>
            <a:r>
              <a:rPr lang="en-US" dirty="0" err="1"/>
              <a:t>mld</a:t>
            </a:r>
            <a:r>
              <a:rPr lang="en-US" dirty="0"/>
              <a:t> </a:t>
            </a:r>
            <a:r>
              <a:rPr lang="en-US" kern="1200">
                <a:effectLst/>
                <a:latin typeface="Century Gothic" panose="020B0502020202020204" pitchFamily="34" charset="0"/>
                <a:ea typeface="+mn-ea"/>
                <a:cs typeface="+mn-cs"/>
              </a:rPr>
              <a:t>€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CE0032-CB94-BCDD-32D2-A365660254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1916" y="1106049"/>
            <a:ext cx="5451627" cy="4325861"/>
          </a:xfrm>
          <a:prstGeom prst="rect">
            <a:avLst/>
          </a:prstGeom>
        </p:spPr>
      </p:pic>
      <p:sp>
        <p:nvSpPr>
          <p:cNvPr id="14" name="Freeform 12">
            <a:extLst>
              <a:ext uri="{FF2B5EF4-FFF2-40B4-BE49-F238E27FC236}">
                <a16:creationId xmlns:a16="http://schemas.microsoft.com/office/drawing/2014/main" id="{7D9439D6-DEAD-4CEB-A61B-BE3D64D1B5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6061223"/>
            <a:ext cx="1038036" cy="506277"/>
          </a:xfrm>
          <a:custGeom>
            <a:avLst/>
            <a:gdLst>
              <a:gd name="connsiteX0" fmla="*/ 0 w 1038036"/>
              <a:gd name="connsiteY0" fmla="*/ 0 h 506277"/>
              <a:gd name="connsiteX1" fmla="*/ 182880 w 1038036"/>
              <a:gd name="connsiteY1" fmla="*/ 0 h 506277"/>
              <a:gd name="connsiteX2" fmla="*/ 291705 w 1038036"/>
              <a:gd name="connsiteY2" fmla="*/ 0 h 506277"/>
              <a:gd name="connsiteX3" fmla="*/ 291705 w 1038036"/>
              <a:gd name="connsiteY3" fmla="*/ 151 h 506277"/>
              <a:gd name="connsiteX4" fmla="*/ 692049 w 1038036"/>
              <a:gd name="connsiteY4" fmla="*/ 705 h 506277"/>
              <a:gd name="connsiteX5" fmla="*/ 782744 w 1038036"/>
              <a:gd name="connsiteY5" fmla="*/ 705 h 506277"/>
              <a:gd name="connsiteX6" fmla="*/ 797001 w 1038036"/>
              <a:gd name="connsiteY6" fmla="*/ 5473 h 506277"/>
              <a:gd name="connsiteX7" fmla="*/ 801982 w 1038036"/>
              <a:gd name="connsiteY7" fmla="*/ 10242 h 506277"/>
              <a:gd name="connsiteX8" fmla="*/ 1030951 w 1038036"/>
              <a:gd name="connsiteY8" fmla="*/ 239185 h 506277"/>
              <a:gd name="connsiteX9" fmla="*/ 1030951 w 1038036"/>
              <a:gd name="connsiteY9" fmla="*/ 267797 h 506277"/>
              <a:gd name="connsiteX10" fmla="*/ 801982 w 1038036"/>
              <a:gd name="connsiteY10" fmla="*/ 496740 h 506277"/>
              <a:gd name="connsiteX11" fmla="*/ 797001 w 1038036"/>
              <a:gd name="connsiteY11" fmla="*/ 501508 h 506277"/>
              <a:gd name="connsiteX12" fmla="*/ 782744 w 1038036"/>
              <a:gd name="connsiteY12" fmla="*/ 506277 h 506277"/>
              <a:gd name="connsiteX13" fmla="*/ 692049 w 1038036"/>
              <a:gd name="connsiteY13" fmla="*/ 506277 h 506277"/>
              <a:gd name="connsiteX14" fmla="*/ 291705 w 1038036"/>
              <a:gd name="connsiteY14" fmla="*/ 505140 h 506277"/>
              <a:gd name="connsiteX15" fmla="*/ 291705 w 1038036"/>
              <a:gd name="connsiteY15" fmla="*/ 506277 h 506277"/>
              <a:gd name="connsiteX16" fmla="*/ 0 w 1038036"/>
              <a:gd name="connsiteY16" fmla="*/ 506277 h 506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038036" h="506277">
                <a:moveTo>
                  <a:pt x="0" y="0"/>
                </a:moveTo>
                <a:lnTo>
                  <a:pt x="182880" y="0"/>
                </a:lnTo>
                <a:lnTo>
                  <a:pt x="291705" y="0"/>
                </a:lnTo>
                <a:lnTo>
                  <a:pt x="291705" y="151"/>
                </a:lnTo>
                <a:lnTo>
                  <a:pt x="692049" y="705"/>
                </a:lnTo>
                <a:lnTo>
                  <a:pt x="782744" y="705"/>
                </a:lnTo>
                <a:cubicBezTo>
                  <a:pt x="787553" y="705"/>
                  <a:pt x="792363" y="5473"/>
                  <a:pt x="797001" y="5473"/>
                </a:cubicBezTo>
                <a:cubicBezTo>
                  <a:pt x="797001" y="10242"/>
                  <a:pt x="801982" y="10242"/>
                  <a:pt x="801982" y="10242"/>
                </a:cubicBezTo>
                <a:lnTo>
                  <a:pt x="1030951" y="239185"/>
                </a:lnTo>
                <a:cubicBezTo>
                  <a:pt x="1040398" y="248722"/>
                  <a:pt x="1040398" y="258259"/>
                  <a:pt x="1030951" y="267797"/>
                </a:cubicBezTo>
                <a:lnTo>
                  <a:pt x="801982" y="496740"/>
                </a:lnTo>
                <a:cubicBezTo>
                  <a:pt x="800436" y="498363"/>
                  <a:pt x="798547" y="499885"/>
                  <a:pt x="797001" y="501508"/>
                </a:cubicBezTo>
                <a:cubicBezTo>
                  <a:pt x="792363" y="506277"/>
                  <a:pt x="787553" y="506277"/>
                  <a:pt x="782744" y="506277"/>
                </a:cubicBezTo>
                <a:lnTo>
                  <a:pt x="692049" y="506277"/>
                </a:lnTo>
                <a:lnTo>
                  <a:pt x="291705" y="505140"/>
                </a:lnTo>
                <a:lnTo>
                  <a:pt x="291705" y="506277"/>
                </a:lnTo>
                <a:lnTo>
                  <a:pt x="0" y="506277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7211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81D00-94F5-7C0A-7A99-F703325E8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Concluzii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907CCE-8D5E-6688-9226-2730496D2C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Declinul</a:t>
            </a:r>
            <a:r>
              <a:rPr lang="en-US" dirty="0"/>
              <a:t> </a:t>
            </a:r>
            <a:r>
              <a:rPr lang="en-US" dirty="0" err="1"/>
              <a:t>investitiilor</a:t>
            </a:r>
            <a:r>
              <a:rPr lang="en-US" dirty="0"/>
              <a:t> in </a:t>
            </a:r>
            <a:r>
              <a:rPr lang="en-US" dirty="0" err="1"/>
              <a:t>companii</a:t>
            </a:r>
            <a:r>
              <a:rPr lang="en-US" dirty="0"/>
              <a:t> </a:t>
            </a:r>
            <a:r>
              <a:rPr lang="en-US" dirty="0" err="1"/>
              <a:t>asemanatoare</a:t>
            </a:r>
            <a:r>
              <a:rPr lang="en-US" dirty="0"/>
              <a:t> Parmalat</a:t>
            </a:r>
          </a:p>
          <a:p>
            <a:endParaRPr lang="en-US" dirty="0"/>
          </a:p>
          <a:p>
            <a:r>
              <a:rPr lang="en-US" dirty="0" err="1"/>
              <a:t>Statele</a:t>
            </a:r>
            <a:r>
              <a:rPr lang="en-US" dirty="0"/>
              <a:t> Unite – Sarbanes-Oxley Act</a:t>
            </a:r>
          </a:p>
          <a:p>
            <a:endParaRPr lang="en-US" dirty="0"/>
          </a:p>
          <a:p>
            <a:r>
              <a:rPr lang="en-US" dirty="0" err="1"/>
              <a:t>Uniunea</a:t>
            </a:r>
            <a:r>
              <a:rPr lang="en-US" dirty="0"/>
              <a:t> </a:t>
            </a:r>
            <a:r>
              <a:rPr lang="en-US" dirty="0" err="1"/>
              <a:t>Europeana</a:t>
            </a:r>
            <a:r>
              <a:rPr lang="en-US" dirty="0"/>
              <a:t> - Eighth Company Law Directive</a:t>
            </a:r>
          </a:p>
        </p:txBody>
      </p:sp>
    </p:spTree>
    <p:extLst>
      <p:ext uri="{BB962C8B-B14F-4D97-AF65-F5344CB8AC3E}">
        <p14:creationId xmlns:p14="http://schemas.microsoft.com/office/powerpoint/2010/main" val="32969989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A32161-6E46-3898-8193-9C3FBD076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Bibliografie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25A20D-96AE-90C0-ABA1-E6E9A98397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456268"/>
            <a:ext cx="8915400" cy="3777622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https://www.econcrises.org/2016/11/29/parmalat/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https://en.wikipedia.org/wiki/Parmalat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https://en.wikipedia.org/wiki/Parmalat_bankruptcy_timeline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https://en.wikipedia.org/wiki/Calisto_Tanzi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https://www.theguardian.com/business/2004/oct/06/corporatefraud.businessqandas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https://shippingandcommodityacademy.com/blog/parmalat-scandal-2003-the-complete-story/</a:t>
            </a:r>
            <a:endParaRPr lang="en-US" dirty="0">
              <a:solidFill>
                <a:schemeClr val="tx1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78462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8CD25866-F15D-40A4-AEC5-47C044637A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</p:grpSpPr>
        <p:sp>
          <p:nvSpPr>
            <p:cNvPr id="10" name="Freeform 11">
              <a:extLst>
                <a:ext uri="{FF2B5EF4-FFF2-40B4-BE49-F238E27FC236}">
                  <a16:creationId xmlns:a16="http://schemas.microsoft.com/office/drawing/2014/main" id="{DCB8E995-36E8-40B6-82D4-F52DE2987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12">
              <a:extLst>
                <a:ext uri="{FF2B5EF4-FFF2-40B4-BE49-F238E27FC236}">
                  <a16:creationId xmlns:a16="http://schemas.microsoft.com/office/drawing/2014/main" id="{DF54AEB5-68B5-46AE-B8F0-EEBE5DFED8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3">
              <a:extLst>
                <a:ext uri="{FF2B5EF4-FFF2-40B4-BE49-F238E27FC236}">
                  <a16:creationId xmlns:a16="http://schemas.microsoft.com/office/drawing/2014/main" id="{E3F708CB-F094-4EE7-8AD5-A462F1DF8B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4">
              <a:extLst>
                <a:ext uri="{FF2B5EF4-FFF2-40B4-BE49-F238E27FC236}">
                  <a16:creationId xmlns:a16="http://schemas.microsoft.com/office/drawing/2014/main" id="{ECFCFB22-E8B5-4FAC-A354-E7E0CE6F2B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15">
              <a:extLst>
                <a:ext uri="{FF2B5EF4-FFF2-40B4-BE49-F238E27FC236}">
                  <a16:creationId xmlns:a16="http://schemas.microsoft.com/office/drawing/2014/main" id="{ED1DB3B4-A6DC-476F-986E-DF361EE842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16">
              <a:extLst>
                <a:ext uri="{FF2B5EF4-FFF2-40B4-BE49-F238E27FC236}">
                  <a16:creationId xmlns:a16="http://schemas.microsoft.com/office/drawing/2014/main" id="{4EE13DFA-3489-4DE6-9154-34D9CB4005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7">
              <a:extLst>
                <a:ext uri="{FF2B5EF4-FFF2-40B4-BE49-F238E27FC236}">
                  <a16:creationId xmlns:a16="http://schemas.microsoft.com/office/drawing/2014/main" id="{5CD12D51-F9A8-4CC9-B9C9-206EAFD8C1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8">
              <a:extLst>
                <a:ext uri="{FF2B5EF4-FFF2-40B4-BE49-F238E27FC236}">
                  <a16:creationId xmlns:a16="http://schemas.microsoft.com/office/drawing/2014/main" id="{266B326C-1178-40F9-A265-6067D363B4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9">
              <a:extLst>
                <a:ext uri="{FF2B5EF4-FFF2-40B4-BE49-F238E27FC236}">
                  <a16:creationId xmlns:a16="http://schemas.microsoft.com/office/drawing/2014/main" id="{12F3B319-F00B-4755-BC54-95511E21DB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20">
              <a:extLst>
                <a:ext uri="{FF2B5EF4-FFF2-40B4-BE49-F238E27FC236}">
                  <a16:creationId xmlns:a16="http://schemas.microsoft.com/office/drawing/2014/main" id="{3079D7BD-8A3F-47F6-8407-D9DA96FF35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21">
              <a:extLst>
                <a:ext uri="{FF2B5EF4-FFF2-40B4-BE49-F238E27FC236}">
                  <a16:creationId xmlns:a16="http://schemas.microsoft.com/office/drawing/2014/main" id="{1F97C31C-8585-43FB-924B-8ADD651233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22">
              <a:extLst>
                <a:ext uri="{FF2B5EF4-FFF2-40B4-BE49-F238E27FC236}">
                  <a16:creationId xmlns:a16="http://schemas.microsoft.com/office/drawing/2014/main" id="{A33E1C89-7E74-49BF-A5D1-9A352ED03E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C4A17ED-96AA-44A6-A050-E1A7A1CDD9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786"/>
            <a:ext cx="2356675" cy="6854040"/>
            <a:chOff x="6627813" y="194833"/>
            <a:chExt cx="1952625" cy="5678918"/>
          </a:xfrm>
        </p:grpSpPr>
        <p:sp>
          <p:nvSpPr>
            <p:cNvPr id="24" name="Freeform 27">
              <a:extLst>
                <a:ext uri="{FF2B5EF4-FFF2-40B4-BE49-F238E27FC236}">
                  <a16:creationId xmlns:a16="http://schemas.microsoft.com/office/drawing/2014/main" id="{FBB2A87E-3E24-4A6F-9FD8-0F1436D4D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28">
              <a:extLst>
                <a:ext uri="{FF2B5EF4-FFF2-40B4-BE49-F238E27FC236}">
                  <a16:creationId xmlns:a16="http://schemas.microsoft.com/office/drawing/2014/main" id="{257F945B-2AA3-4328-BFF5-20DE64011B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9">
              <a:extLst>
                <a:ext uri="{FF2B5EF4-FFF2-40B4-BE49-F238E27FC236}">
                  <a16:creationId xmlns:a16="http://schemas.microsoft.com/office/drawing/2014/main" id="{E1A7230F-6A6F-403C-9D83-7176E28525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30">
              <a:extLst>
                <a:ext uri="{FF2B5EF4-FFF2-40B4-BE49-F238E27FC236}">
                  <a16:creationId xmlns:a16="http://schemas.microsoft.com/office/drawing/2014/main" id="{E33E315A-9CB0-460E-A8B7-0A064BBFA0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31">
              <a:extLst>
                <a:ext uri="{FF2B5EF4-FFF2-40B4-BE49-F238E27FC236}">
                  <a16:creationId xmlns:a16="http://schemas.microsoft.com/office/drawing/2014/main" id="{22CAAD33-CFAD-4E61-82AE-0C6F838530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32">
              <a:extLst>
                <a:ext uri="{FF2B5EF4-FFF2-40B4-BE49-F238E27FC236}">
                  <a16:creationId xmlns:a16="http://schemas.microsoft.com/office/drawing/2014/main" id="{1A20E13C-2540-4000-A13B-8F781100E3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33">
              <a:extLst>
                <a:ext uri="{FF2B5EF4-FFF2-40B4-BE49-F238E27FC236}">
                  <a16:creationId xmlns:a16="http://schemas.microsoft.com/office/drawing/2014/main" id="{51EF0A01-E03D-448B-B12E-D5BFC6D0D2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34">
              <a:extLst>
                <a:ext uri="{FF2B5EF4-FFF2-40B4-BE49-F238E27FC236}">
                  <a16:creationId xmlns:a16="http://schemas.microsoft.com/office/drawing/2014/main" id="{58286A03-168E-477B-8876-2C53E4950D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35">
              <a:extLst>
                <a:ext uri="{FF2B5EF4-FFF2-40B4-BE49-F238E27FC236}">
                  <a16:creationId xmlns:a16="http://schemas.microsoft.com/office/drawing/2014/main" id="{3DFFC705-1899-4E4C-AE76-F85BAF2F66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36">
              <a:extLst>
                <a:ext uri="{FF2B5EF4-FFF2-40B4-BE49-F238E27FC236}">
                  <a16:creationId xmlns:a16="http://schemas.microsoft.com/office/drawing/2014/main" id="{01C9598D-BDF6-4A24-83B6-4DCA4D1349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37">
              <a:extLst>
                <a:ext uri="{FF2B5EF4-FFF2-40B4-BE49-F238E27FC236}">
                  <a16:creationId xmlns:a16="http://schemas.microsoft.com/office/drawing/2014/main" id="{950C8213-67CD-4DEF-AA44-8BB3101392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38">
              <a:extLst>
                <a:ext uri="{FF2B5EF4-FFF2-40B4-BE49-F238E27FC236}">
                  <a16:creationId xmlns:a16="http://schemas.microsoft.com/office/drawing/2014/main" id="{2016FE1D-E3EB-4CF6-809B-159872CC78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CE6C63DC-BAE4-42B6-8FDF-F6467C2D23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9" name="Freeform 6">
            <a:extLst>
              <a:ext uri="{FF2B5EF4-FFF2-40B4-BE49-F238E27FC236}">
                <a16:creationId xmlns:a16="http://schemas.microsoft.com/office/drawing/2014/main" id="{5BD23F8E-2E78-4C84-8EFB-FE6C8ACB7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57ABABA7-0420-4200-9B65-1C1967CE93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317EBE3-FF86-4DA1-BC9A-331F7F2144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7A03E380-9CD1-4ABA-A763-9F9D252B89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6009967" y="0"/>
            <a:ext cx="6176982" cy="6853245"/>
            <a:chOff x="2487613" y="285750"/>
            <a:chExt cx="2428876" cy="5654676"/>
          </a:xfrm>
          <a:solidFill>
            <a:schemeClr val="bg2">
              <a:lumMod val="90000"/>
            </a:schemeClr>
          </a:solidFill>
        </p:grpSpPr>
        <p:sp>
          <p:nvSpPr>
            <p:cNvPr id="46" name="Freeform 11">
              <a:extLst>
                <a:ext uri="{FF2B5EF4-FFF2-40B4-BE49-F238E27FC236}">
                  <a16:creationId xmlns:a16="http://schemas.microsoft.com/office/drawing/2014/main" id="{66E01B84-4C2B-4DE5-90C8-9C4001A75B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12">
              <a:extLst>
                <a:ext uri="{FF2B5EF4-FFF2-40B4-BE49-F238E27FC236}">
                  <a16:creationId xmlns:a16="http://schemas.microsoft.com/office/drawing/2014/main" id="{64CE5A7A-D5C5-4FE5-860C-0B5748FDEE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13">
              <a:extLst>
                <a:ext uri="{FF2B5EF4-FFF2-40B4-BE49-F238E27FC236}">
                  <a16:creationId xmlns:a16="http://schemas.microsoft.com/office/drawing/2014/main" id="{016A7D2A-6EEA-47B8-A763-7D82E41B3C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14">
              <a:extLst>
                <a:ext uri="{FF2B5EF4-FFF2-40B4-BE49-F238E27FC236}">
                  <a16:creationId xmlns:a16="http://schemas.microsoft.com/office/drawing/2014/main" id="{E758F6E7-6DEC-48D0-ACB1-E5E26B13E6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15">
              <a:extLst>
                <a:ext uri="{FF2B5EF4-FFF2-40B4-BE49-F238E27FC236}">
                  <a16:creationId xmlns:a16="http://schemas.microsoft.com/office/drawing/2014/main" id="{B56657FF-C027-42E7-859B-902929B6FA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16">
              <a:extLst>
                <a:ext uri="{FF2B5EF4-FFF2-40B4-BE49-F238E27FC236}">
                  <a16:creationId xmlns:a16="http://schemas.microsoft.com/office/drawing/2014/main" id="{79047F2A-5978-46C6-B3A2-54AAC2136B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Freeform 17">
              <a:extLst>
                <a:ext uri="{FF2B5EF4-FFF2-40B4-BE49-F238E27FC236}">
                  <a16:creationId xmlns:a16="http://schemas.microsoft.com/office/drawing/2014/main" id="{F3BE8FD1-0A72-4640-AC7A-2E057273F8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18">
              <a:extLst>
                <a:ext uri="{FF2B5EF4-FFF2-40B4-BE49-F238E27FC236}">
                  <a16:creationId xmlns:a16="http://schemas.microsoft.com/office/drawing/2014/main" id="{752FC782-A372-4D11-B20D-958955E564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19">
              <a:extLst>
                <a:ext uri="{FF2B5EF4-FFF2-40B4-BE49-F238E27FC236}">
                  <a16:creationId xmlns:a16="http://schemas.microsoft.com/office/drawing/2014/main" id="{AA00B2F1-BEE2-444A-8249-C8E3212CA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4" y="468286"/>
              <a:ext cx="1768475" cy="4262464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20">
              <a:extLst>
                <a:ext uri="{FF2B5EF4-FFF2-40B4-BE49-F238E27FC236}">
                  <a16:creationId xmlns:a16="http://schemas.microsoft.com/office/drawing/2014/main" id="{E7F5747E-514B-4CF7-B6B0-DAD7149097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Freeform 21">
              <a:extLst>
                <a:ext uri="{FF2B5EF4-FFF2-40B4-BE49-F238E27FC236}">
                  <a16:creationId xmlns:a16="http://schemas.microsoft.com/office/drawing/2014/main" id="{931614BB-1593-40ED-8113-2BD1187055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Freeform 22">
              <a:extLst>
                <a:ext uri="{FF2B5EF4-FFF2-40B4-BE49-F238E27FC236}">
                  <a16:creationId xmlns:a16="http://schemas.microsoft.com/office/drawing/2014/main" id="{2691871F-F15C-4E19-BC9C-78E5748D74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3802D8B-362A-4E50-04D5-A8893AD16B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4103" y="1318591"/>
            <a:ext cx="5800929" cy="42208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6600">
                <a:solidFill>
                  <a:schemeClr val="tx2">
                    <a:lumMod val="75000"/>
                  </a:schemeClr>
                </a:solidFill>
              </a:rPr>
              <a:t>Multumesc pentru atentie!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3B66EDD-780F-3906-B190-95ABD93C3C78}"/>
              </a:ext>
            </a:extLst>
          </p:cNvPr>
          <p:cNvSpPr txBox="1">
            <a:spLocks/>
          </p:cNvSpPr>
          <p:nvPr/>
        </p:nvSpPr>
        <p:spPr>
          <a:xfrm>
            <a:off x="7855048" y="1871831"/>
            <a:ext cx="3084569" cy="31998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>
              <a:spcBef>
                <a:spcPts val="1000"/>
              </a:spcBef>
              <a:buClr>
                <a:schemeClr val="accent1"/>
              </a:buClr>
            </a:pPr>
            <a:r>
              <a:rPr lang="en-US" sz="54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Q &amp; A</a:t>
            </a:r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34D43EC1-35FA-4FC3-8526-F655CEB09D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37196" y="1871831"/>
            <a:ext cx="0" cy="3200400"/>
          </a:xfrm>
          <a:prstGeom prst="line">
            <a:avLst/>
          </a:prstGeom>
          <a:ln w="158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6957182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E016ADA1DFAFA48AF65F94B16AE3FC6" ma:contentTypeVersion="4" ma:contentTypeDescription="Create a new document." ma:contentTypeScope="" ma:versionID="87b9f239da57ca4829eb87031d4f8963">
  <xsd:schema xmlns:xsd="http://www.w3.org/2001/XMLSchema" xmlns:xs="http://www.w3.org/2001/XMLSchema" xmlns:p="http://schemas.microsoft.com/office/2006/metadata/properties" xmlns:ns2="8898434f-f057-42d5-bce4-0b5a9aca959f" targetNamespace="http://schemas.microsoft.com/office/2006/metadata/properties" ma:root="true" ma:fieldsID="a240b191b869dd57c6e65215a0d6e499" ns2:_="">
    <xsd:import namespace="8898434f-f057-42d5-bce4-0b5a9aca959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898434f-f057-42d5-bce4-0b5a9aca959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D4AE284-C337-48E2-8A70-C55BE24497E4}"/>
</file>

<file path=customXml/itemProps2.xml><?xml version="1.0" encoding="utf-8"?>
<ds:datastoreItem xmlns:ds="http://schemas.openxmlformats.org/officeDocument/2006/customXml" ds:itemID="{6AC0D8B2-3F71-49AF-9F47-5EB233B98399}"/>
</file>

<file path=customXml/itemProps3.xml><?xml version="1.0" encoding="utf-8"?>
<ds:datastoreItem xmlns:ds="http://schemas.openxmlformats.org/officeDocument/2006/customXml" ds:itemID="{B9FB081D-B735-405D-B7D1-8D3E5E7D9504}"/>
</file>

<file path=docProps/app.xml><?xml version="1.0" encoding="utf-8"?>
<Properties xmlns="http://schemas.openxmlformats.org/officeDocument/2006/extended-properties" xmlns:vt="http://schemas.openxmlformats.org/officeDocument/2006/docPropsVTypes">
  <Template>TM02892315[[fn=Wisp]]</Template>
  <TotalTime>1105</TotalTime>
  <Words>249</Words>
  <Application>Microsoft Office PowerPoint</Application>
  <PresentationFormat>Widescreen</PresentationFormat>
  <Paragraphs>51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Century Gothic</vt:lpstr>
      <vt:lpstr>Wingdings 3</vt:lpstr>
      <vt:lpstr>Wisp</vt:lpstr>
      <vt:lpstr>Scandalul Parmalat</vt:lpstr>
      <vt:lpstr>Agenda</vt:lpstr>
      <vt:lpstr>Introducere</vt:lpstr>
      <vt:lpstr>Scurt istoric</vt:lpstr>
      <vt:lpstr>Scandal</vt:lpstr>
      <vt:lpstr>Concluzii</vt:lpstr>
      <vt:lpstr>Bibliografie</vt:lpstr>
      <vt:lpstr>Multumesc pentru atentie!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EUGENIU COJOCARU</dc:creator>
  <cp:lastModifiedBy>EUGENIU COJOCARU</cp:lastModifiedBy>
  <cp:revision>2</cp:revision>
  <dcterms:created xsi:type="dcterms:W3CDTF">2024-10-16T17:53:47Z</dcterms:created>
  <dcterms:modified xsi:type="dcterms:W3CDTF">2024-10-17T12:19:21Z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0x0101002E016ADA1DFAFA48AF65F94B16AE3FC6</vt:lpwstr>
  </property>
</Properties>
</file>