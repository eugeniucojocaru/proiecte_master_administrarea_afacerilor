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8"/>
  </p:notesMasterIdLst>
  <p:handoutMasterIdLst>
    <p:handoutMasterId r:id="rId19"/>
  </p:handoutMasterIdLst>
  <p:sldIdLst>
    <p:sldId id="496" r:id="rId5"/>
    <p:sldId id="498" r:id="rId6"/>
    <p:sldId id="515" r:id="rId7"/>
    <p:sldId id="509" r:id="rId8"/>
    <p:sldId id="507" r:id="rId9"/>
    <p:sldId id="517" r:id="rId10"/>
    <p:sldId id="518" r:id="rId11"/>
    <p:sldId id="512" r:id="rId12"/>
    <p:sldId id="516" r:id="rId13"/>
    <p:sldId id="429" r:id="rId14"/>
    <p:sldId id="514" r:id="rId15"/>
    <p:sldId id="513" r:id="rId16"/>
    <p:sldId id="50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52" autoAdjust="0"/>
    <p:restoredTop sz="94660"/>
  </p:normalViewPr>
  <p:slideViewPr>
    <p:cSldViewPr snapToGrid="0" showGuides="1">
      <p:cViewPr varScale="1">
        <p:scale>
          <a:sx n="135" d="100"/>
          <a:sy n="135" d="100"/>
        </p:scale>
        <p:origin x="126" y="468"/>
      </p:cViewPr>
      <p:guideLst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333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nu\Desktop\New%20Microsoft%20Excel%20Workshe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nu\Desktop\New%20Microsoft%20Excel%20Workshe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nu\Desktop\New%20Microsoft%20Excel%20Workshe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nu\Desktop\New%20Microsoft%20Excel%20Workshe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2025 (Target)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1. Revenue (Insurance revenue)</c:v>
                </c:pt>
                <c:pt idx="1">
                  <c:v>2. Key Costs (Claims &amp; Admin. Expenses)</c:v>
                </c:pt>
                <c:pt idx="2">
                  <c:v>3. Profit (Net Result)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5513</c:v>
                </c:pt>
                <c:pt idx="1">
                  <c:v>4535</c:v>
                </c:pt>
                <c:pt idx="2">
                  <c:v>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18-4D1B-AA2F-971CF9A1A87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1. Revenue (Insurance revenue)</c:v>
                </c:pt>
                <c:pt idx="1">
                  <c:v>2. Key Costs (Claims &amp; Admin. Expenses)</c:v>
                </c:pt>
                <c:pt idx="2">
                  <c:v>3. Profit (Net Result)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5137</c:v>
                </c:pt>
                <c:pt idx="1">
                  <c:v>4302</c:v>
                </c:pt>
                <c:pt idx="2">
                  <c:v>747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18-4D1B-AA2F-971CF9A1A87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1. Revenue (Insurance revenue)</c:v>
                </c:pt>
                <c:pt idx="1">
                  <c:v>2. Key Costs (Claims &amp; Admin. Expenses)</c:v>
                </c:pt>
                <c:pt idx="2">
                  <c:v>3. Profit (Net Result)</c:v>
                </c:pt>
              </c:strCache>
            </c:strRef>
          </c:cat>
          <c:val>
            <c:numRef>
              <c:f>Sheet1!$B$4:$D$4</c:f>
              <c:numCache>
                <c:formatCode>General</c:formatCode>
                <c:ptCount val="3"/>
                <c:pt idx="0">
                  <c:v>5585</c:v>
                </c:pt>
                <c:pt idx="1">
                  <c:v>4755</c:v>
                </c:pt>
                <c:pt idx="2">
                  <c:v>827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18-4D1B-AA2F-971CF9A1A87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1. Revenue (Insurance revenue)</c:v>
                </c:pt>
                <c:pt idx="1">
                  <c:v>2. Key Costs (Claims &amp; Admin. Expenses)</c:v>
                </c:pt>
                <c:pt idx="2">
                  <c:v>3. Profit (Net Result)</c:v>
                </c:pt>
              </c:strCache>
            </c:strRef>
          </c:cat>
          <c:val>
            <c:numRef>
              <c:f>Sheet1!$B$5:$D$5</c:f>
              <c:numCache>
                <c:formatCode>General</c:formatCode>
                <c:ptCount val="3"/>
                <c:pt idx="0">
                  <c:v>5596</c:v>
                </c:pt>
                <c:pt idx="1">
                  <c:v>5236</c:v>
                </c:pt>
                <c:pt idx="2">
                  <c:v>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118-4D1B-AA2F-971CF9A1A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30038815"/>
        <c:axId val="330023935"/>
      </c:barChart>
      <c:catAx>
        <c:axId val="3300388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023935"/>
        <c:crosses val="autoZero"/>
        <c:auto val="1"/>
        <c:lblAlgn val="ctr"/>
        <c:lblOffset val="100"/>
        <c:noMultiLvlLbl val="0"/>
      </c:catAx>
      <c:valAx>
        <c:axId val="3300239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0388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Sheet1!$B$67</c:f>
              <c:strCache>
                <c:ptCount val="1"/>
                <c:pt idx="0">
                  <c:v>2025 (Target)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Sheet1!$C$66:$E$66</c:f>
              <c:strCache>
                <c:ptCount val="3"/>
                <c:pt idx="0">
                  <c:v>1. Revenue (Insurance revenue) </c:v>
                </c:pt>
                <c:pt idx="1">
                  <c:v>2. Key Costs (Claims &amp; Admin. Expenses)</c:v>
                </c:pt>
                <c:pt idx="2">
                  <c:v>3. Profit (Net Result)</c:v>
                </c:pt>
              </c:strCache>
            </c:strRef>
          </c:cat>
          <c:val>
            <c:numRef>
              <c:f>Sheet1!$C$67:$E$67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92-4FD0-8F01-55A9165BBF78}"/>
            </c:ext>
          </c:extLst>
        </c:ser>
        <c:ser>
          <c:idx val="1"/>
          <c:order val="1"/>
          <c:tx>
            <c:strRef>
              <c:f>Sheet1!$B$68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Sheet1!$C$66:$E$66</c:f>
              <c:strCache>
                <c:ptCount val="3"/>
                <c:pt idx="0">
                  <c:v>1. Revenue (Insurance revenue) </c:v>
                </c:pt>
                <c:pt idx="1">
                  <c:v>2. Key Costs (Claims &amp; Admin. Expenses)</c:v>
                </c:pt>
                <c:pt idx="2">
                  <c:v>3. Profit (Net Result)</c:v>
                </c:pt>
              </c:strCache>
            </c:strRef>
          </c:cat>
          <c:val>
            <c:numRef>
              <c:f>Sheet1!$C$68:$E$68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92-4FD0-8F01-55A9165BBF78}"/>
            </c:ext>
          </c:extLst>
        </c:ser>
        <c:ser>
          <c:idx val="2"/>
          <c:order val="2"/>
          <c:tx>
            <c:strRef>
              <c:f>Sheet1!$B$69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Sheet1!$C$66:$E$66</c:f>
              <c:strCache>
                <c:ptCount val="3"/>
                <c:pt idx="0">
                  <c:v>1. Revenue (Insurance revenue) </c:v>
                </c:pt>
                <c:pt idx="1">
                  <c:v>2. Key Costs (Claims &amp; Admin. Expenses)</c:v>
                </c:pt>
                <c:pt idx="2">
                  <c:v>3. Profit (Net Result)</c:v>
                </c:pt>
              </c:strCache>
            </c:strRef>
          </c:cat>
          <c:val>
            <c:numRef>
              <c:f>Sheet1!$C$69:$E$69</c:f>
              <c:numCache>
                <c:formatCode>General</c:formatCode>
                <c:ptCount val="3"/>
                <c:pt idx="0">
                  <c:v>76.900000000000006</c:v>
                </c:pt>
                <c:pt idx="1">
                  <c:v>41.1</c:v>
                </c:pt>
                <c:pt idx="2">
                  <c:v>25.7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92-4FD0-8F01-55A9165BBF78}"/>
            </c:ext>
          </c:extLst>
        </c:ser>
        <c:ser>
          <c:idx val="3"/>
          <c:order val="3"/>
          <c:tx>
            <c:strRef>
              <c:f>Sheet1!$B$70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Sheet1!$C$66:$E$66</c:f>
              <c:strCache>
                <c:ptCount val="3"/>
                <c:pt idx="0">
                  <c:v>1. Revenue (Insurance revenue) </c:v>
                </c:pt>
                <c:pt idx="1">
                  <c:v>2. Key Costs (Claims &amp; Admin. Expenses)</c:v>
                </c:pt>
                <c:pt idx="2">
                  <c:v>3. Profit (Net Result)</c:v>
                </c:pt>
              </c:strCache>
            </c:strRef>
          </c:cat>
          <c:val>
            <c:numRef>
              <c:f>Sheet1!$C$70:$E$70</c:f>
              <c:numCache>
                <c:formatCode>General</c:formatCode>
                <c:ptCount val="3"/>
                <c:pt idx="0">
                  <c:v>59.2</c:v>
                </c:pt>
                <c:pt idx="1">
                  <c:v>49.8</c:v>
                </c:pt>
                <c:pt idx="2">
                  <c:v>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F92-4FD0-8F01-55A9165BBF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48797359"/>
        <c:axId val="1348788239"/>
      </c:barChart>
      <c:catAx>
        <c:axId val="13487973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8788239"/>
        <c:crosses val="autoZero"/>
        <c:auto val="1"/>
        <c:lblAlgn val="ctr"/>
        <c:lblOffset val="100"/>
        <c:noMultiLvlLbl val="0"/>
      </c:catAx>
      <c:valAx>
        <c:axId val="13487882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87973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2025 (Target)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1. Revenue (Insurance revenue)</c:v>
                </c:pt>
                <c:pt idx="1">
                  <c:v>2. Key Costs (Claims &amp; Admin. Expenses)</c:v>
                </c:pt>
                <c:pt idx="2">
                  <c:v>3. Profit (Net Result)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5513</c:v>
                </c:pt>
                <c:pt idx="1">
                  <c:v>4535</c:v>
                </c:pt>
                <c:pt idx="2">
                  <c:v>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87-4212-AE12-37FAD1FABA9D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1. Revenue (Insurance revenue)</c:v>
                </c:pt>
                <c:pt idx="1">
                  <c:v>2. Key Costs (Claims &amp; Admin. Expenses)</c:v>
                </c:pt>
                <c:pt idx="2">
                  <c:v>3. Profit (Net Result)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5137</c:v>
                </c:pt>
                <c:pt idx="1">
                  <c:v>4302</c:v>
                </c:pt>
                <c:pt idx="2">
                  <c:v>747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87-4212-AE12-37FAD1FABA9D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1. Revenue (Insurance revenue)</c:v>
                </c:pt>
                <c:pt idx="1">
                  <c:v>2. Key Costs (Claims &amp; Admin. Expenses)</c:v>
                </c:pt>
                <c:pt idx="2">
                  <c:v>3. Profit (Net Result)</c:v>
                </c:pt>
              </c:strCache>
            </c:strRef>
          </c:cat>
          <c:val>
            <c:numRef>
              <c:f>Sheet1!$B$4:$D$4</c:f>
              <c:numCache>
                <c:formatCode>General</c:formatCode>
                <c:ptCount val="3"/>
                <c:pt idx="0">
                  <c:v>5585</c:v>
                </c:pt>
                <c:pt idx="1">
                  <c:v>4755</c:v>
                </c:pt>
                <c:pt idx="2">
                  <c:v>827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87-4212-AE12-37FAD1FABA9D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1. Revenue (Insurance revenue)</c:v>
                </c:pt>
                <c:pt idx="1">
                  <c:v>2. Key Costs (Claims &amp; Admin. Expenses)</c:v>
                </c:pt>
                <c:pt idx="2">
                  <c:v>3. Profit (Net Result)</c:v>
                </c:pt>
              </c:strCache>
            </c:strRef>
          </c:cat>
          <c:val>
            <c:numRef>
              <c:f>Sheet1!$B$5:$D$5</c:f>
              <c:numCache>
                <c:formatCode>General</c:formatCode>
                <c:ptCount val="3"/>
                <c:pt idx="0">
                  <c:v>5596</c:v>
                </c:pt>
                <c:pt idx="1">
                  <c:v>5236</c:v>
                </c:pt>
                <c:pt idx="2">
                  <c:v>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B87-4212-AE12-37FAD1FAB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30038815"/>
        <c:axId val="330023935"/>
      </c:barChart>
      <c:catAx>
        <c:axId val="3300388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023935"/>
        <c:crosses val="autoZero"/>
        <c:auto val="1"/>
        <c:lblAlgn val="ctr"/>
        <c:lblOffset val="100"/>
        <c:noMultiLvlLbl val="0"/>
      </c:catAx>
      <c:valAx>
        <c:axId val="3300239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0388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Sheet1!$A$12</c:f>
              <c:strCache>
                <c:ptCount val="1"/>
                <c:pt idx="0">
                  <c:v>2025 (Target)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Sheet1!$B$10:$G$10</c:f>
              <c:strCache>
                <c:ptCount val="4"/>
                <c:pt idx="0">
                  <c:v>Munich RE</c:v>
                </c:pt>
                <c:pt idx="3">
                  <c:v>General Insurance Corporation RE</c:v>
                </c:pt>
              </c:strCache>
              <c:extLst/>
            </c:strRef>
          </c:cat>
          <c:val>
            <c:numRef>
              <c:f>Sheet1!$B$12:$G$12</c:f>
              <c:numCache>
                <c:formatCode>General</c:formatCode>
                <c:ptCount val="6"/>
                <c:pt idx="0">
                  <c:v>64000</c:v>
                </c:pt>
                <c:pt idx="1">
                  <c:v>58000</c:v>
                </c:pt>
                <c:pt idx="2">
                  <c:v>6000</c:v>
                </c:pt>
                <c:pt idx="3">
                  <c:v>5513</c:v>
                </c:pt>
                <c:pt idx="4">
                  <c:v>4535</c:v>
                </c:pt>
                <c:pt idx="5">
                  <c:v>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5B-4BB5-9FEA-BCEA12CDBD66}"/>
            </c:ext>
          </c:extLst>
        </c:ser>
        <c:ser>
          <c:idx val="1"/>
          <c:order val="1"/>
          <c:tx>
            <c:strRef>
              <c:f>Sheet1!$A$13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Sheet1!$B$10:$G$10</c:f>
              <c:strCache>
                <c:ptCount val="4"/>
                <c:pt idx="0">
                  <c:v>Munich RE</c:v>
                </c:pt>
                <c:pt idx="3">
                  <c:v>General Insurance Corporation RE</c:v>
                </c:pt>
              </c:strCache>
              <c:extLst/>
            </c:strRef>
          </c:cat>
          <c:val>
            <c:numRef>
              <c:f>Sheet1!$B$13:$G$13</c:f>
              <c:numCache>
                <c:formatCode>General</c:formatCode>
                <c:ptCount val="6"/>
                <c:pt idx="0">
                  <c:v>60830</c:v>
                </c:pt>
                <c:pt idx="1">
                  <c:v>52004</c:v>
                </c:pt>
                <c:pt idx="2">
                  <c:v>5671</c:v>
                </c:pt>
                <c:pt idx="3">
                  <c:v>5137</c:v>
                </c:pt>
                <c:pt idx="4">
                  <c:v>4302</c:v>
                </c:pt>
                <c:pt idx="5">
                  <c:v>747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5B-4BB5-9FEA-BCEA12CDBD66}"/>
            </c:ext>
          </c:extLst>
        </c:ser>
        <c:ser>
          <c:idx val="2"/>
          <c:order val="2"/>
          <c:tx>
            <c:strRef>
              <c:f>Sheet1!$A$14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Sheet1!$B$10:$G$10</c:f>
              <c:strCache>
                <c:ptCount val="4"/>
                <c:pt idx="0">
                  <c:v>Munich RE</c:v>
                </c:pt>
                <c:pt idx="3">
                  <c:v>General Insurance Corporation RE</c:v>
                </c:pt>
              </c:strCache>
              <c:extLst/>
            </c:strRef>
          </c:cat>
          <c:val>
            <c:numRef>
              <c:f>Sheet1!$B$14:$G$14</c:f>
              <c:numCache>
                <c:formatCode>General</c:formatCode>
                <c:ptCount val="6"/>
                <c:pt idx="0">
                  <c:v>57884</c:v>
                </c:pt>
                <c:pt idx="1">
                  <c:v>50098</c:v>
                </c:pt>
                <c:pt idx="2">
                  <c:v>4597</c:v>
                </c:pt>
                <c:pt idx="3">
                  <c:v>5585</c:v>
                </c:pt>
                <c:pt idx="4">
                  <c:v>4755</c:v>
                </c:pt>
                <c:pt idx="5">
                  <c:v>827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5B-4BB5-9FEA-BCEA12CDBD66}"/>
            </c:ext>
          </c:extLst>
        </c:ser>
        <c:ser>
          <c:idx val="3"/>
          <c:order val="3"/>
          <c:tx>
            <c:strRef>
              <c:f>Sheet1!$A$15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Sheet1!$B$10:$G$10</c:f>
              <c:strCache>
                <c:ptCount val="4"/>
                <c:pt idx="0">
                  <c:v>Munich RE</c:v>
                </c:pt>
                <c:pt idx="3">
                  <c:v>General Insurance Corporation RE</c:v>
                </c:pt>
              </c:strCache>
              <c:extLst/>
            </c:strRef>
          </c:cat>
          <c:val>
            <c:numRef>
              <c:f>Sheet1!$B$15:$G$15</c:f>
              <c:numCache>
                <c:formatCode>General</c:formatCode>
                <c:ptCount val="6"/>
                <c:pt idx="0">
                  <c:v>55385</c:v>
                </c:pt>
                <c:pt idx="1">
                  <c:v>48200</c:v>
                </c:pt>
                <c:pt idx="2">
                  <c:v>5309</c:v>
                </c:pt>
                <c:pt idx="3">
                  <c:v>5596</c:v>
                </c:pt>
                <c:pt idx="4">
                  <c:v>5236</c:v>
                </c:pt>
                <c:pt idx="5">
                  <c:v>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5B-4BB5-9FEA-BCEA12CDBD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0129535"/>
        <c:axId val="330116095"/>
      </c:barChart>
      <c:catAx>
        <c:axId val="3301295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116095"/>
        <c:crosses val="autoZero"/>
        <c:auto val="1"/>
        <c:lblAlgn val="ctr"/>
        <c:lblOffset val="100"/>
        <c:noMultiLvlLbl val="0"/>
      </c:catAx>
      <c:valAx>
        <c:axId val="330116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1295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A846BE-51A9-4BA7-9258-ECFAE05E7F40}" type="doc">
      <dgm:prSet loTypeId="urn:microsoft.com/office/officeart/2016/7/layout/LinearArrowProcessNumbered#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41507B-447A-43E4-A67A-78917CB1FB25}">
      <dgm:prSet custT="1"/>
      <dgm:spPr/>
      <dgm:t>
        <a:bodyPr/>
        <a:lstStyle/>
        <a:p>
          <a:pPr algn="ctr">
            <a:buNone/>
          </a:pPr>
          <a:r>
            <a:rPr lang="en-US" sz="1600" b="1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Reasigurarea</a:t>
          </a:r>
          <a:r>
            <a:rPr lang="en-US" sz="16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b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este</a:t>
          </a:r>
          <a:r>
            <a:rPr lang="en-US" sz="16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un </a:t>
          </a:r>
          <a:r>
            <a:rPr lang="en-US" sz="1600" b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mecanism</a:t>
          </a:r>
          <a:r>
            <a:rPr lang="en-US" sz="16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b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esențial</a:t>
          </a:r>
          <a:r>
            <a:rPr lang="en-US" sz="16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 </a:t>
          </a:r>
          <a:r>
            <a:rPr lang="en-US" sz="1600" b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stabilitate</a:t>
          </a:r>
          <a:r>
            <a:rPr lang="en-US" sz="16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b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financiară</a:t>
          </a:r>
          <a:r>
            <a:rPr lang="ro-RO" sz="16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9ECAFD9-77B4-411E-A0C6-BD2718D2ED19}" type="parTrans" cxnId="{89F99CCE-DD31-45EB-8368-0C474560C17C}">
      <dgm:prSet/>
      <dgm:spPr/>
      <dgm:t>
        <a:bodyPr/>
        <a:lstStyle/>
        <a:p>
          <a:endParaRPr lang="en-US"/>
        </a:p>
      </dgm:t>
    </dgm:pt>
    <dgm:pt modelId="{8A56963F-9458-4CF1-BA11-F6B59F6693C3}" type="sibTrans" cxnId="{89F99CCE-DD31-45EB-8368-0C474560C17C}">
      <dgm:prSet phldrT="1" phldr="0"/>
      <dgm:spPr/>
      <dgm:t>
        <a:bodyPr/>
        <a:lstStyle/>
        <a:p>
          <a:r>
            <a:rPr lang="en-US"/>
            <a:t>1</a:t>
          </a:r>
          <a:endParaRPr lang="en-US" dirty="0"/>
        </a:p>
      </dgm:t>
    </dgm:pt>
    <dgm:pt modelId="{1F20ABF3-642B-4EA2-9497-67153B1D953A}">
      <dgm:prSet custT="1"/>
      <dgm:spPr/>
      <dgm:t>
        <a:bodyPr/>
        <a:lstStyle/>
        <a:p>
          <a:pPr algn="ctr"/>
          <a:r>
            <a: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Sri Lanka </a:t>
          </a:r>
          <a:r>
            <a:rPr lang="en-US" sz="12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 </a:t>
          </a:r>
          <a:r>
            <a:rPr lang="en-US" sz="1200" b="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confruntă</a:t>
          </a:r>
          <a:r>
            <a:rPr lang="en-US" sz="12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cu </a:t>
          </a:r>
          <a:r>
            <a:rPr lang="en-US" sz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dependența</a:t>
          </a:r>
          <a: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 NITF </a:t>
          </a:r>
          <a:r>
            <a:rPr lang="en-US" sz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și</a:t>
          </a:r>
          <a: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dificultatea</a:t>
          </a:r>
          <a: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 a </a:t>
          </a:r>
          <a:r>
            <a:rPr lang="en-US" sz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plăti</a:t>
          </a:r>
          <a: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reasigurările</a:t>
          </a:r>
          <a: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internaționale</a:t>
          </a:r>
          <a: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din </a:t>
          </a:r>
          <a:r>
            <a:rPr lang="en-US" sz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cauza</a:t>
          </a:r>
          <a: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lipsei</a:t>
          </a:r>
          <a:r>
            <a: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 </a:t>
          </a:r>
          <a:r>
            <a:rPr lang="en-US" sz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valută</a:t>
          </a:r>
          <a:r>
            <a:rPr lang="ro-RO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E5BB2D4-8C6C-4733-A4F4-BB908B5819C2}" type="parTrans" cxnId="{EF2C8C7A-25B0-4A45-86CA-AD1B06A26E26}">
      <dgm:prSet/>
      <dgm:spPr/>
      <dgm:t>
        <a:bodyPr/>
        <a:lstStyle/>
        <a:p>
          <a:endParaRPr lang="en-US"/>
        </a:p>
      </dgm:t>
    </dgm:pt>
    <dgm:pt modelId="{AC6DD392-D3D9-41A4-B130-4C271E107B19}" type="sibTrans" cxnId="{EF2C8C7A-25B0-4A45-86CA-AD1B06A26E26}">
      <dgm:prSet phldrT="4" phldr="0"/>
      <dgm:spPr/>
      <dgm:t>
        <a:bodyPr/>
        <a:lstStyle/>
        <a:p>
          <a:r>
            <a:rPr lang="en-US"/>
            <a:t>4</a:t>
          </a:r>
          <a:endParaRPr lang="en-US" dirty="0"/>
        </a:p>
      </dgm:t>
    </dgm:pt>
    <dgm:pt modelId="{BA0D1191-41B5-4E4E-98CA-BB121638FA27}">
      <dgm:prSet custT="1"/>
      <dgm:spPr/>
      <dgm:t>
        <a:bodyPr/>
        <a:lstStyle/>
        <a:p>
          <a:pPr algn="ctr"/>
          <a:r>
            <a:rPr lang="ro-RO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Asia</a:t>
          </a:r>
          <a:r>
            <a:rPr lang="it-IT" sz="12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ro-RO" sz="12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este</a:t>
          </a:r>
          <a:r>
            <a:rPr lang="it-IT" sz="12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una dintre cele mai importante regiuni pentru piața de reasigurări</a:t>
          </a:r>
          <a:r>
            <a:rPr lang="ro-RO" sz="12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</a:t>
          </a:r>
          <a:r>
            <a:rPr lang="it-IT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datorită expunerii ridicate la dezastre naturale</a:t>
          </a:r>
          <a:r>
            <a:rPr lang="ro-RO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  <a:r>
            <a:rPr lang="ro-RO" sz="12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endParaRPr lang="en-US" sz="12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F60A160-E127-4E75-A05F-AE196FFF76E3}" type="parTrans" cxnId="{476E5818-9170-4231-83B1-91A99F939DE0}">
      <dgm:prSet/>
      <dgm:spPr/>
      <dgm:t>
        <a:bodyPr/>
        <a:lstStyle/>
        <a:p>
          <a:endParaRPr lang="en-US"/>
        </a:p>
      </dgm:t>
    </dgm:pt>
    <dgm:pt modelId="{43A04663-B22C-4CA5-9BCF-3B42D70D691D}" type="sibTrans" cxnId="{476E5818-9170-4231-83B1-91A99F939DE0}">
      <dgm:prSet phldrT="2" phldr="0"/>
      <dgm:spPr/>
      <dgm:t>
        <a:bodyPr/>
        <a:lstStyle/>
        <a:p>
          <a:r>
            <a:rPr lang="en-US"/>
            <a:t>2</a:t>
          </a:r>
          <a:endParaRPr lang="en-US" dirty="0"/>
        </a:p>
      </dgm:t>
    </dgm:pt>
    <dgm:pt modelId="{55AD6682-19A1-4F15-920E-E13D92EB312E}">
      <dgm:prSet custT="1"/>
      <dgm:spPr/>
      <dgm:t>
        <a:bodyPr/>
        <a:lstStyle/>
        <a:p>
          <a:pPr algn="ctr"/>
          <a:r>
            <a: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Singapore</a:t>
          </a:r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este</a:t>
          </a:r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centrul</a:t>
          </a:r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strategic al </a:t>
          </a:r>
          <a:r>
            <a:rPr lang="en-US" sz="16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reasigurărilor</a:t>
          </a:r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din Asia</a:t>
          </a:r>
          <a:r>
            <a:rPr lang="ro-RO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A1EE536-D200-411C-8FD0-7F23E7109629}" type="parTrans" cxnId="{86671D24-5E01-4C05-B443-3D6E53309AEC}">
      <dgm:prSet/>
      <dgm:spPr/>
      <dgm:t>
        <a:bodyPr/>
        <a:lstStyle/>
        <a:p>
          <a:endParaRPr lang="en-US"/>
        </a:p>
      </dgm:t>
    </dgm:pt>
    <dgm:pt modelId="{6DA0DC7B-EEAC-48D5-8C2F-256705FA5618}" type="sibTrans" cxnId="{86671D24-5E01-4C05-B443-3D6E53309AEC}">
      <dgm:prSet phldrT="3" phldr="0"/>
      <dgm:spPr/>
      <dgm:t>
        <a:bodyPr/>
        <a:lstStyle/>
        <a:p>
          <a:r>
            <a:rPr lang="en-US"/>
            <a:t>3</a:t>
          </a:r>
          <a:endParaRPr lang="en-US" dirty="0"/>
        </a:p>
      </dgm:t>
    </dgm:pt>
    <dgm:pt modelId="{3082051D-413F-49BF-9DC2-6EA9FA4CFAE0}">
      <dgm:prSet custT="1"/>
      <dgm:spPr/>
      <dgm:t>
        <a:bodyPr/>
        <a:lstStyle/>
        <a:p>
          <a:pPr algn="ctr"/>
          <a:r>
            <a: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India</a:t>
          </a:r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este</a:t>
          </a:r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o </a:t>
          </a:r>
          <a:r>
            <a:rPr lang="en-US" sz="16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piață</a:t>
          </a:r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emergentă</a:t>
          </a:r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cu </a:t>
          </a:r>
          <a:r>
            <a:rPr lang="en-US" sz="16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potențial</a:t>
          </a:r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major</a:t>
          </a:r>
          <a:r>
            <a:rPr lang="ro-RO" sz="1900" dirty="0"/>
            <a:t>.</a:t>
          </a:r>
          <a:endParaRPr lang="en-US" sz="1900" dirty="0"/>
        </a:p>
      </dgm:t>
    </dgm:pt>
    <dgm:pt modelId="{CDBF776C-65B1-4307-8EEC-CC1164A68240}" type="parTrans" cxnId="{6531B79B-E803-476A-8EDC-5B614A8F4B0F}">
      <dgm:prSet/>
      <dgm:spPr/>
      <dgm:t>
        <a:bodyPr/>
        <a:lstStyle/>
        <a:p>
          <a:endParaRPr lang="en-US"/>
        </a:p>
      </dgm:t>
    </dgm:pt>
    <dgm:pt modelId="{DFF1595A-B049-4B8E-A3E9-A6448B7FA377}" type="sibTrans" cxnId="{6531B79B-E803-476A-8EDC-5B614A8F4B0F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D9938462-A694-4D2B-BC8A-98DD7FFDFAAA}" type="pres">
      <dgm:prSet presAssocID="{98A846BE-51A9-4BA7-9258-ECFAE05E7F40}" presName="linearFlow" presStyleCnt="0">
        <dgm:presLayoutVars>
          <dgm:dir/>
          <dgm:animLvl val="lvl"/>
          <dgm:resizeHandles val="exact"/>
        </dgm:presLayoutVars>
      </dgm:prSet>
      <dgm:spPr/>
    </dgm:pt>
    <dgm:pt modelId="{94FFE4A3-717E-4FA2-B81F-868DE997CB51}" type="pres">
      <dgm:prSet presAssocID="{D841507B-447A-43E4-A67A-78917CB1FB25}" presName="compositeNode" presStyleCnt="0"/>
      <dgm:spPr/>
    </dgm:pt>
    <dgm:pt modelId="{2FD2706E-63BB-4C73-BE4B-EA498188D5A7}" type="pres">
      <dgm:prSet presAssocID="{D841507B-447A-43E4-A67A-78917CB1FB2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04F5057-2705-42CE-BB13-967212824C65}" type="pres">
      <dgm:prSet presAssocID="{D841507B-447A-43E4-A67A-78917CB1FB25}" presName="parSh" presStyleCnt="0"/>
      <dgm:spPr/>
    </dgm:pt>
    <dgm:pt modelId="{F5142449-10A1-4278-B96C-C4ABAB189E46}" type="pres">
      <dgm:prSet presAssocID="{D841507B-447A-43E4-A67A-78917CB1FB25}" presName="lineNode" presStyleLbl="alignAccFollowNode1" presStyleIdx="0" presStyleCnt="15"/>
      <dgm:spPr/>
    </dgm:pt>
    <dgm:pt modelId="{CB784251-3D1A-453A-AC20-F2E87A36EEF3}" type="pres">
      <dgm:prSet presAssocID="{D841507B-447A-43E4-A67A-78917CB1FB25}" presName="lineArrowNode" presStyleLbl="alignAccFollowNode1" presStyleIdx="1" presStyleCnt="15"/>
      <dgm:spPr/>
    </dgm:pt>
    <dgm:pt modelId="{7D680E2B-37E7-47C5-9407-98DE51395E71}" type="pres">
      <dgm:prSet presAssocID="{8A56963F-9458-4CF1-BA11-F6B59F6693C3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46F5A849-A405-4ECF-B3E1-1F0C28282973}" type="pres">
      <dgm:prSet presAssocID="{8A56963F-9458-4CF1-BA11-F6B59F6693C3}" presName="spacerBetweenCircleAndCallout" presStyleCnt="0">
        <dgm:presLayoutVars/>
      </dgm:prSet>
      <dgm:spPr/>
    </dgm:pt>
    <dgm:pt modelId="{2D736B05-B42D-46EA-852B-C2BFDDD5591E}" type="pres">
      <dgm:prSet presAssocID="{D841507B-447A-43E4-A67A-78917CB1FB25}" presName="nodeText" presStyleLbl="alignAccFollowNode1" presStyleIdx="2" presStyleCnt="15">
        <dgm:presLayoutVars>
          <dgm:bulletEnabled val="1"/>
        </dgm:presLayoutVars>
      </dgm:prSet>
      <dgm:spPr/>
    </dgm:pt>
    <dgm:pt modelId="{EC099AD6-5E45-4621-B76A-90EC2958EE47}" type="pres">
      <dgm:prSet presAssocID="{8A56963F-9458-4CF1-BA11-F6B59F6693C3}" presName="sibTransComposite" presStyleCnt="0"/>
      <dgm:spPr/>
    </dgm:pt>
    <dgm:pt modelId="{95226D6D-DC9D-43A5-AC93-827EFF228E2A}" type="pres">
      <dgm:prSet presAssocID="{BA0D1191-41B5-4E4E-98CA-BB121638FA27}" presName="compositeNode" presStyleCnt="0"/>
      <dgm:spPr/>
    </dgm:pt>
    <dgm:pt modelId="{E45CD75C-64D3-49E1-90AB-5C892F1B60BB}" type="pres">
      <dgm:prSet presAssocID="{BA0D1191-41B5-4E4E-98CA-BB121638FA2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EA17D8B-7307-4AC1-BA3A-35C631CF2D8B}" type="pres">
      <dgm:prSet presAssocID="{BA0D1191-41B5-4E4E-98CA-BB121638FA27}" presName="parSh" presStyleCnt="0"/>
      <dgm:spPr/>
    </dgm:pt>
    <dgm:pt modelId="{E6547311-AF0E-4FCF-BDD0-47989B866E24}" type="pres">
      <dgm:prSet presAssocID="{BA0D1191-41B5-4E4E-98CA-BB121638FA27}" presName="lineNode" presStyleLbl="alignAccFollowNode1" presStyleIdx="3" presStyleCnt="15"/>
      <dgm:spPr/>
    </dgm:pt>
    <dgm:pt modelId="{AE6DFE2B-B7F2-4F30-B659-B552E321FADD}" type="pres">
      <dgm:prSet presAssocID="{BA0D1191-41B5-4E4E-98CA-BB121638FA27}" presName="lineArrowNode" presStyleLbl="alignAccFollowNode1" presStyleIdx="4" presStyleCnt="15"/>
      <dgm:spPr/>
    </dgm:pt>
    <dgm:pt modelId="{5245C8DA-1E76-407A-B430-701BCCF29F00}" type="pres">
      <dgm:prSet presAssocID="{43A04663-B22C-4CA5-9BCF-3B42D70D691D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8D76F590-811B-447B-8CED-7534489F45EC}" type="pres">
      <dgm:prSet presAssocID="{43A04663-B22C-4CA5-9BCF-3B42D70D691D}" presName="spacerBetweenCircleAndCallout" presStyleCnt="0">
        <dgm:presLayoutVars/>
      </dgm:prSet>
      <dgm:spPr/>
    </dgm:pt>
    <dgm:pt modelId="{D997FB1E-CF8D-4F5C-9E93-059F85035C01}" type="pres">
      <dgm:prSet presAssocID="{BA0D1191-41B5-4E4E-98CA-BB121638FA27}" presName="nodeText" presStyleLbl="alignAccFollowNode1" presStyleIdx="5" presStyleCnt="15">
        <dgm:presLayoutVars>
          <dgm:bulletEnabled val="1"/>
        </dgm:presLayoutVars>
      </dgm:prSet>
      <dgm:spPr/>
    </dgm:pt>
    <dgm:pt modelId="{5BD921B9-FF63-486B-BBF5-5535F2AA32B5}" type="pres">
      <dgm:prSet presAssocID="{43A04663-B22C-4CA5-9BCF-3B42D70D691D}" presName="sibTransComposite" presStyleCnt="0"/>
      <dgm:spPr/>
    </dgm:pt>
    <dgm:pt modelId="{F093D1EA-1E4B-4611-A553-45F589D6189E}" type="pres">
      <dgm:prSet presAssocID="{55AD6682-19A1-4F15-920E-E13D92EB312E}" presName="compositeNode" presStyleCnt="0"/>
      <dgm:spPr/>
    </dgm:pt>
    <dgm:pt modelId="{200EAA04-D9FF-4E34-8629-9FF0013CAD96}" type="pres">
      <dgm:prSet presAssocID="{55AD6682-19A1-4F15-920E-E13D92EB312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11144D1-3BA2-4573-AB3C-C1D2F0AEE5A2}" type="pres">
      <dgm:prSet presAssocID="{55AD6682-19A1-4F15-920E-E13D92EB312E}" presName="parSh" presStyleCnt="0"/>
      <dgm:spPr/>
    </dgm:pt>
    <dgm:pt modelId="{B301E9C0-66A8-4889-AB14-A827A90B7730}" type="pres">
      <dgm:prSet presAssocID="{55AD6682-19A1-4F15-920E-E13D92EB312E}" presName="lineNode" presStyleLbl="alignAccFollowNode1" presStyleIdx="6" presStyleCnt="15"/>
      <dgm:spPr/>
    </dgm:pt>
    <dgm:pt modelId="{C520B667-F0A6-4456-B459-83C4807E6047}" type="pres">
      <dgm:prSet presAssocID="{55AD6682-19A1-4F15-920E-E13D92EB312E}" presName="lineArrowNode" presStyleLbl="alignAccFollowNode1" presStyleIdx="7" presStyleCnt="15"/>
      <dgm:spPr/>
    </dgm:pt>
    <dgm:pt modelId="{ADD1CCE4-82A5-468F-8BC5-15D0185DBB4E}" type="pres">
      <dgm:prSet presAssocID="{6DA0DC7B-EEAC-48D5-8C2F-256705FA5618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C251040B-EE34-45B4-9F5D-BC733169E090}" type="pres">
      <dgm:prSet presAssocID="{6DA0DC7B-EEAC-48D5-8C2F-256705FA5618}" presName="spacerBetweenCircleAndCallout" presStyleCnt="0">
        <dgm:presLayoutVars/>
      </dgm:prSet>
      <dgm:spPr/>
    </dgm:pt>
    <dgm:pt modelId="{12E9BEA5-B7F5-4B40-9B17-6A733AF73901}" type="pres">
      <dgm:prSet presAssocID="{55AD6682-19A1-4F15-920E-E13D92EB312E}" presName="nodeText" presStyleLbl="alignAccFollowNode1" presStyleIdx="8" presStyleCnt="15">
        <dgm:presLayoutVars>
          <dgm:bulletEnabled val="1"/>
        </dgm:presLayoutVars>
      </dgm:prSet>
      <dgm:spPr/>
    </dgm:pt>
    <dgm:pt modelId="{35E6EF17-E484-4B06-BD04-1114BDD6AE49}" type="pres">
      <dgm:prSet presAssocID="{6DA0DC7B-EEAC-48D5-8C2F-256705FA5618}" presName="sibTransComposite" presStyleCnt="0"/>
      <dgm:spPr/>
    </dgm:pt>
    <dgm:pt modelId="{F191E6AC-D335-43FD-9BCC-B6410C726B8A}" type="pres">
      <dgm:prSet presAssocID="{1F20ABF3-642B-4EA2-9497-67153B1D953A}" presName="compositeNode" presStyleCnt="0"/>
      <dgm:spPr/>
    </dgm:pt>
    <dgm:pt modelId="{691B272D-AEC8-430E-936D-2AB0A64D72AE}" type="pres">
      <dgm:prSet presAssocID="{1F20ABF3-642B-4EA2-9497-67153B1D953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0E7883D-13E0-419A-8CB6-169DF9386E10}" type="pres">
      <dgm:prSet presAssocID="{1F20ABF3-642B-4EA2-9497-67153B1D953A}" presName="parSh" presStyleCnt="0"/>
      <dgm:spPr/>
    </dgm:pt>
    <dgm:pt modelId="{98FC13F5-E633-4E1D-AC5F-6F956633F8CC}" type="pres">
      <dgm:prSet presAssocID="{1F20ABF3-642B-4EA2-9497-67153B1D953A}" presName="lineNode" presStyleLbl="alignAccFollowNode1" presStyleIdx="9" presStyleCnt="15"/>
      <dgm:spPr/>
    </dgm:pt>
    <dgm:pt modelId="{852C83FD-BB6A-41CB-BDAC-26661C8025B8}" type="pres">
      <dgm:prSet presAssocID="{1F20ABF3-642B-4EA2-9497-67153B1D953A}" presName="lineArrowNode" presStyleLbl="alignAccFollowNode1" presStyleIdx="10" presStyleCnt="15"/>
      <dgm:spPr/>
    </dgm:pt>
    <dgm:pt modelId="{A40815D7-3BD6-44D4-A32A-A6FD819154DF}" type="pres">
      <dgm:prSet presAssocID="{AC6DD392-D3D9-41A4-B130-4C271E107B19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13747DFA-6414-464B-A499-B8238DDAD9A2}" type="pres">
      <dgm:prSet presAssocID="{AC6DD392-D3D9-41A4-B130-4C271E107B19}" presName="spacerBetweenCircleAndCallout" presStyleCnt="0">
        <dgm:presLayoutVars/>
      </dgm:prSet>
      <dgm:spPr/>
    </dgm:pt>
    <dgm:pt modelId="{B116FA97-1FAE-40A9-8C85-DB8F4C91EF7C}" type="pres">
      <dgm:prSet presAssocID="{1F20ABF3-642B-4EA2-9497-67153B1D953A}" presName="nodeText" presStyleLbl="alignAccFollowNode1" presStyleIdx="11" presStyleCnt="15">
        <dgm:presLayoutVars>
          <dgm:bulletEnabled val="1"/>
        </dgm:presLayoutVars>
      </dgm:prSet>
      <dgm:spPr/>
    </dgm:pt>
    <dgm:pt modelId="{AC0DFAE8-3D36-4FB3-AAD0-3D40E9AD9EEE}" type="pres">
      <dgm:prSet presAssocID="{AC6DD392-D3D9-41A4-B130-4C271E107B19}" presName="sibTransComposite" presStyleCnt="0"/>
      <dgm:spPr/>
    </dgm:pt>
    <dgm:pt modelId="{5D5DBC22-08A0-4457-A902-DC4C1A585F28}" type="pres">
      <dgm:prSet presAssocID="{3082051D-413F-49BF-9DC2-6EA9FA4CFAE0}" presName="compositeNode" presStyleCnt="0"/>
      <dgm:spPr/>
    </dgm:pt>
    <dgm:pt modelId="{617D2203-5212-4146-B80F-06B175F5A7B8}" type="pres">
      <dgm:prSet presAssocID="{3082051D-413F-49BF-9DC2-6EA9FA4CFAE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B51A0BA-FDA1-47E9-A70C-DD72DA902B34}" type="pres">
      <dgm:prSet presAssocID="{3082051D-413F-49BF-9DC2-6EA9FA4CFAE0}" presName="parSh" presStyleCnt="0"/>
      <dgm:spPr/>
    </dgm:pt>
    <dgm:pt modelId="{25FF393D-3A61-41D4-B04B-067B1A4AC30E}" type="pres">
      <dgm:prSet presAssocID="{3082051D-413F-49BF-9DC2-6EA9FA4CFAE0}" presName="lineNode" presStyleLbl="alignAccFollowNode1" presStyleIdx="12" presStyleCnt="15"/>
      <dgm:spPr/>
    </dgm:pt>
    <dgm:pt modelId="{61E60603-884A-46BC-BDC9-0A82515012D0}" type="pres">
      <dgm:prSet presAssocID="{3082051D-413F-49BF-9DC2-6EA9FA4CFAE0}" presName="lineArrowNode" presStyleLbl="alignAccFollowNode1" presStyleIdx="13" presStyleCnt="15"/>
      <dgm:spPr/>
    </dgm:pt>
    <dgm:pt modelId="{4DDFBC15-E60F-4D96-A43C-C06F99ED0AEA}" type="pres">
      <dgm:prSet presAssocID="{DFF1595A-B049-4B8E-A3E9-A6448B7FA377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CB24C1CC-986E-49BC-A6FA-65DFBEE67830}" type="pres">
      <dgm:prSet presAssocID="{DFF1595A-B049-4B8E-A3E9-A6448B7FA377}" presName="spacerBetweenCircleAndCallout" presStyleCnt="0">
        <dgm:presLayoutVars/>
      </dgm:prSet>
      <dgm:spPr/>
    </dgm:pt>
    <dgm:pt modelId="{ECD48292-92F0-4C50-9795-35E3556DF461}" type="pres">
      <dgm:prSet presAssocID="{3082051D-413F-49BF-9DC2-6EA9FA4CFAE0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476E5818-9170-4231-83B1-91A99F939DE0}" srcId="{98A846BE-51A9-4BA7-9258-ECFAE05E7F40}" destId="{BA0D1191-41B5-4E4E-98CA-BB121638FA27}" srcOrd="1" destOrd="0" parTransId="{BF60A160-E127-4E75-A05F-AE196FFF76E3}" sibTransId="{43A04663-B22C-4CA5-9BCF-3B42D70D691D}"/>
    <dgm:cxn modelId="{453ABD19-ABD6-4290-AB1B-484D843A7A6C}" type="presOf" srcId="{8A56963F-9458-4CF1-BA11-F6B59F6693C3}" destId="{7D680E2B-37E7-47C5-9407-98DE51395E71}" srcOrd="0" destOrd="0" presId="urn:microsoft.com/office/officeart/2016/7/layout/LinearArrowProcessNumbered#1"/>
    <dgm:cxn modelId="{86671D24-5E01-4C05-B443-3D6E53309AEC}" srcId="{98A846BE-51A9-4BA7-9258-ECFAE05E7F40}" destId="{55AD6682-19A1-4F15-920E-E13D92EB312E}" srcOrd="2" destOrd="0" parTransId="{0A1EE536-D200-411C-8FD0-7F23E7109629}" sibTransId="{6DA0DC7B-EEAC-48D5-8C2F-256705FA5618}"/>
    <dgm:cxn modelId="{F7912833-B07A-4F5D-B7A6-57F15FFC4F18}" type="presOf" srcId="{43A04663-B22C-4CA5-9BCF-3B42D70D691D}" destId="{5245C8DA-1E76-407A-B430-701BCCF29F00}" srcOrd="0" destOrd="0" presId="urn:microsoft.com/office/officeart/2016/7/layout/LinearArrowProcessNumbered#1"/>
    <dgm:cxn modelId="{B8828635-A2A5-49F9-96A3-3300304E8770}" type="presOf" srcId="{3082051D-413F-49BF-9DC2-6EA9FA4CFAE0}" destId="{ECD48292-92F0-4C50-9795-35E3556DF461}" srcOrd="0" destOrd="0" presId="urn:microsoft.com/office/officeart/2016/7/layout/LinearArrowProcessNumbered#1"/>
    <dgm:cxn modelId="{230CA135-F5C7-44EE-A7D6-6232633DDA3B}" type="presOf" srcId="{6DA0DC7B-EEAC-48D5-8C2F-256705FA5618}" destId="{ADD1CCE4-82A5-468F-8BC5-15D0185DBB4E}" srcOrd="0" destOrd="0" presId="urn:microsoft.com/office/officeart/2016/7/layout/LinearArrowProcessNumbered#1"/>
    <dgm:cxn modelId="{A420FD3F-E1A8-4E82-B565-B59A2A0BC9EE}" type="presOf" srcId="{BA0D1191-41B5-4E4E-98CA-BB121638FA27}" destId="{D997FB1E-CF8D-4F5C-9E93-059F85035C01}" srcOrd="0" destOrd="0" presId="urn:microsoft.com/office/officeart/2016/7/layout/LinearArrowProcessNumbered#1"/>
    <dgm:cxn modelId="{EBA37543-6CB5-40CB-809E-163BC86CF92C}" type="presOf" srcId="{DFF1595A-B049-4B8E-A3E9-A6448B7FA377}" destId="{4DDFBC15-E60F-4D96-A43C-C06F99ED0AEA}" srcOrd="0" destOrd="0" presId="urn:microsoft.com/office/officeart/2016/7/layout/LinearArrowProcessNumbered#1"/>
    <dgm:cxn modelId="{A362EE6E-9F60-40ED-A13E-34C98AAF400D}" type="presOf" srcId="{55AD6682-19A1-4F15-920E-E13D92EB312E}" destId="{12E9BEA5-B7F5-4B40-9B17-6A733AF73901}" srcOrd="0" destOrd="0" presId="urn:microsoft.com/office/officeart/2016/7/layout/LinearArrowProcessNumbered#1"/>
    <dgm:cxn modelId="{0AC2E275-95C9-495E-A18A-CFCEF45E0CE7}" type="presOf" srcId="{98A846BE-51A9-4BA7-9258-ECFAE05E7F40}" destId="{D9938462-A694-4D2B-BC8A-98DD7FFDFAAA}" srcOrd="0" destOrd="0" presId="urn:microsoft.com/office/officeart/2016/7/layout/LinearArrowProcessNumbered#1"/>
    <dgm:cxn modelId="{EF2C8C7A-25B0-4A45-86CA-AD1B06A26E26}" srcId="{98A846BE-51A9-4BA7-9258-ECFAE05E7F40}" destId="{1F20ABF3-642B-4EA2-9497-67153B1D953A}" srcOrd="3" destOrd="0" parTransId="{FE5BB2D4-8C6C-4733-A4F4-BB908B5819C2}" sibTransId="{AC6DD392-D3D9-41A4-B130-4C271E107B19}"/>
    <dgm:cxn modelId="{6531B79B-E803-476A-8EDC-5B614A8F4B0F}" srcId="{98A846BE-51A9-4BA7-9258-ECFAE05E7F40}" destId="{3082051D-413F-49BF-9DC2-6EA9FA4CFAE0}" srcOrd="4" destOrd="0" parTransId="{CDBF776C-65B1-4307-8EEC-CC1164A68240}" sibTransId="{DFF1595A-B049-4B8E-A3E9-A6448B7FA377}"/>
    <dgm:cxn modelId="{D122D99E-A9DF-4DC6-A122-FBB00FD45699}" type="presOf" srcId="{1F20ABF3-642B-4EA2-9497-67153B1D953A}" destId="{B116FA97-1FAE-40A9-8C85-DB8F4C91EF7C}" srcOrd="0" destOrd="0" presId="urn:microsoft.com/office/officeart/2016/7/layout/LinearArrowProcessNumbered#1"/>
    <dgm:cxn modelId="{B440F4A5-682F-4A55-BEA7-C899D1ED6BA2}" type="presOf" srcId="{AC6DD392-D3D9-41A4-B130-4C271E107B19}" destId="{A40815D7-3BD6-44D4-A32A-A6FD819154DF}" srcOrd="0" destOrd="0" presId="urn:microsoft.com/office/officeart/2016/7/layout/LinearArrowProcessNumbered#1"/>
    <dgm:cxn modelId="{89F99CCE-DD31-45EB-8368-0C474560C17C}" srcId="{98A846BE-51A9-4BA7-9258-ECFAE05E7F40}" destId="{D841507B-447A-43E4-A67A-78917CB1FB25}" srcOrd="0" destOrd="0" parTransId="{09ECAFD9-77B4-411E-A0C6-BD2718D2ED19}" sibTransId="{8A56963F-9458-4CF1-BA11-F6B59F6693C3}"/>
    <dgm:cxn modelId="{A8FDC7DF-7E80-4503-A147-24ECEA22651E}" type="presOf" srcId="{D841507B-447A-43E4-A67A-78917CB1FB25}" destId="{2D736B05-B42D-46EA-852B-C2BFDDD5591E}" srcOrd="0" destOrd="0" presId="urn:microsoft.com/office/officeart/2016/7/layout/LinearArrowProcessNumbered#1"/>
    <dgm:cxn modelId="{764236C7-84CC-44DA-9A09-B82BA5B7E414}" type="presParOf" srcId="{D9938462-A694-4D2B-BC8A-98DD7FFDFAAA}" destId="{94FFE4A3-717E-4FA2-B81F-868DE997CB51}" srcOrd="0" destOrd="0" presId="urn:microsoft.com/office/officeart/2016/7/layout/LinearArrowProcessNumbered#1"/>
    <dgm:cxn modelId="{F916C50C-A09B-41FD-969A-375D9BC0342F}" type="presParOf" srcId="{94FFE4A3-717E-4FA2-B81F-868DE997CB51}" destId="{2FD2706E-63BB-4C73-BE4B-EA498188D5A7}" srcOrd="0" destOrd="0" presId="urn:microsoft.com/office/officeart/2016/7/layout/LinearArrowProcessNumbered#1"/>
    <dgm:cxn modelId="{4FEA4360-7CC6-41C6-B0E8-45DD99A59659}" type="presParOf" srcId="{94FFE4A3-717E-4FA2-B81F-868DE997CB51}" destId="{E04F5057-2705-42CE-BB13-967212824C65}" srcOrd="1" destOrd="0" presId="urn:microsoft.com/office/officeart/2016/7/layout/LinearArrowProcessNumbered#1"/>
    <dgm:cxn modelId="{3785FDEA-2E5D-4CB9-804F-071F34D09885}" type="presParOf" srcId="{E04F5057-2705-42CE-BB13-967212824C65}" destId="{F5142449-10A1-4278-B96C-C4ABAB189E46}" srcOrd="0" destOrd="0" presId="urn:microsoft.com/office/officeart/2016/7/layout/LinearArrowProcessNumbered#1"/>
    <dgm:cxn modelId="{201C060B-EB05-49B6-B9E5-E0ECA79D5322}" type="presParOf" srcId="{E04F5057-2705-42CE-BB13-967212824C65}" destId="{CB784251-3D1A-453A-AC20-F2E87A36EEF3}" srcOrd="1" destOrd="0" presId="urn:microsoft.com/office/officeart/2016/7/layout/LinearArrowProcessNumbered#1"/>
    <dgm:cxn modelId="{C8F1DE05-DA32-481E-B6BF-3C493CE123B8}" type="presParOf" srcId="{E04F5057-2705-42CE-BB13-967212824C65}" destId="{7D680E2B-37E7-47C5-9407-98DE51395E71}" srcOrd="2" destOrd="0" presId="urn:microsoft.com/office/officeart/2016/7/layout/LinearArrowProcessNumbered#1"/>
    <dgm:cxn modelId="{9378AD9A-10AD-44DC-B8CB-510834A948A0}" type="presParOf" srcId="{E04F5057-2705-42CE-BB13-967212824C65}" destId="{46F5A849-A405-4ECF-B3E1-1F0C28282973}" srcOrd="3" destOrd="0" presId="urn:microsoft.com/office/officeart/2016/7/layout/LinearArrowProcessNumbered#1"/>
    <dgm:cxn modelId="{414E0DBA-FA78-4F7C-A441-DBFD3F1AE47F}" type="presParOf" srcId="{94FFE4A3-717E-4FA2-B81F-868DE997CB51}" destId="{2D736B05-B42D-46EA-852B-C2BFDDD5591E}" srcOrd="2" destOrd="0" presId="urn:microsoft.com/office/officeart/2016/7/layout/LinearArrowProcessNumbered#1"/>
    <dgm:cxn modelId="{F8546444-D1E7-4F48-B60D-651E245F32E4}" type="presParOf" srcId="{D9938462-A694-4D2B-BC8A-98DD7FFDFAAA}" destId="{EC099AD6-5E45-4621-B76A-90EC2958EE47}" srcOrd="1" destOrd="0" presId="urn:microsoft.com/office/officeart/2016/7/layout/LinearArrowProcessNumbered#1"/>
    <dgm:cxn modelId="{22A209B1-884E-4E8A-86B8-F52C2E06FE55}" type="presParOf" srcId="{D9938462-A694-4D2B-BC8A-98DD7FFDFAAA}" destId="{95226D6D-DC9D-43A5-AC93-827EFF228E2A}" srcOrd="2" destOrd="0" presId="urn:microsoft.com/office/officeart/2016/7/layout/LinearArrowProcessNumbered#1"/>
    <dgm:cxn modelId="{11567131-2DAA-4DBC-B072-7F65C7D7BE89}" type="presParOf" srcId="{95226D6D-DC9D-43A5-AC93-827EFF228E2A}" destId="{E45CD75C-64D3-49E1-90AB-5C892F1B60BB}" srcOrd="0" destOrd="0" presId="urn:microsoft.com/office/officeart/2016/7/layout/LinearArrowProcessNumbered#1"/>
    <dgm:cxn modelId="{03C30967-26B2-43CF-8F3A-2C25943D41F8}" type="presParOf" srcId="{95226D6D-DC9D-43A5-AC93-827EFF228E2A}" destId="{FEA17D8B-7307-4AC1-BA3A-35C631CF2D8B}" srcOrd="1" destOrd="0" presId="urn:microsoft.com/office/officeart/2016/7/layout/LinearArrowProcessNumbered#1"/>
    <dgm:cxn modelId="{351937BD-EE46-4511-821F-270C0B5B6015}" type="presParOf" srcId="{FEA17D8B-7307-4AC1-BA3A-35C631CF2D8B}" destId="{E6547311-AF0E-4FCF-BDD0-47989B866E24}" srcOrd="0" destOrd="0" presId="urn:microsoft.com/office/officeart/2016/7/layout/LinearArrowProcessNumbered#1"/>
    <dgm:cxn modelId="{D52E29F6-5FE9-40F0-BD7E-CA32B65D37F7}" type="presParOf" srcId="{FEA17D8B-7307-4AC1-BA3A-35C631CF2D8B}" destId="{AE6DFE2B-B7F2-4F30-B659-B552E321FADD}" srcOrd="1" destOrd="0" presId="urn:microsoft.com/office/officeart/2016/7/layout/LinearArrowProcessNumbered#1"/>
    <dgm:cxn modelId="{335197DC-7F4C-4A54-8979-B4F8E8271516}" type="presParOf" srcId="{FEA17D8B-7307-4AC1-BA3A-35C631CF2D8B}" destId="{5245C8DA-1E76-407A-B430-701BCCF29F00}" srcOrd="2" destOrd="0" presId="urn:microsoft.com/office/officeart/2016/7/layout/LinearArrowProcessNumbered#1"/>
    <dgm:cxn modelId="{6EF35185-0AB5-4BC0-B16A-FD9BB071A195}" type="presParOf" srcId="{FEA17D8B-7307-4AC1-BA3A-35C631CF2D8B}" destId="{8D76F590-811B-447B-8CED-7534489F45EC}" srcOrd="3" destOrd="0" presId="urn:microsoft.com/office/officeart/2016/7/layout/LinearArrowProcessNumbered#1"/>
    <dgm:cxn modelId="{D297E417-423A-485F-A778-01543FB89D72}" type="presParOf" srcId="{95226D6D-DC9D-43A5-AC93-827EFF228E2A}" destId="{D997FB1E-CF8D-4F5C-9E93-059F85035C01}" srcOrd="2" destOrd="0" presId="urn:microsoft.com/office/officeart/2016/7/layout/LinearArrowProcessNumbered#1"/>
    <dgm:cxn modelId="{6C22B241-3842-404B-96B3-2610808C9E3F}" type="presParOf" srcId="{D9938462-A694-4D2B-BC8A-98DD7FFDFAAA}" destId="{5BD921B9-FF63-486B-BBF5-5535F2AA32B5}" srcOrd="3" destOrd="0" presId="urn:microsoft.com/office/officeart/2016/7/layout/LinearArrowProcessNumbered#1"/>
    <dgm:cxn modelId="{7CB9654E-0D5B-4B11-9A2C-FFE8FFD61908}" type="presParOf" srcId="{D9938462-A694-4D2B-BC8A-98DD7FFDFAAA}" destId="{F093D1EA-1E4B-4611-A553-45F589D6189E}" srcOrd="4" destOrd="0" presId="urn:microsoft.com/office/officeart/2016/7/layout/LinearArrowProcessNumbered#1"/>
    <dgm:cxn modelId="{21AF4A38-3315-4BE4-80AA-9EA092B3B103}" type="presParOf" srcId="{F093D1EA-1E4B-4611-A553-45F589D6189E}" destId="{200EAA04-D9FF-4E34-8629-9FF0013CAD96}" srcOrd="0" destOrd="0" presId="urn:microsoft.com/office/officeart/2016/7/layout/LinearArrowProcessNumbered#1"/>
    <dgm:cxn modelId="{077CA831-58BF-46DF-938A-73BDD83A4A93}" type="presParOf" srcId="{F093D1EA-1E4B-4611-A553-45F589D6189E}" destId="{311144D1-3BA2-4573-AB3C-C1D2F0AEE5A2}" srcOrd="1" destOrd="0" presId="urn:microsoft.com/office/officeart/2016/7/layout/LinearArrowProcessNumbered#1"/>
    <dgm:cxn modelId="{5179773C-293A-4233-B734-F2B5A1DA5F94}" type="presParOf" srcId="{311144D1-3BA2-4573-AB3C-C1D2F0AEE5A2}" destId="{B301E9C0-66A8-4889-AB14-A827A90B7730}" srcOrd="0" destOrd="0" presId="urn:microsoft.com/office/officeart/2016/7/layout/LinearArrowProcessNumbered#1"/>
    <dgm:cxn modelId="{6F7807ED-2FE6-404F-96B0-154974C9DE2F}" type="presParOf" srcId="{311144D1-3BA2-4573-AB3C-C1D2F0AEE5A2}" destId="{C520B667-F0A6-4456-B459-83C4807E6047}" srcOrd="1" destOrd="0" presId="urn:microsoft.com/office/officeart/2016/7/layout/LinearArrowProcessNumbered#1"/>
    <dgm:cxn modelId="{6DE5DBD7-F46D-4E7E-BE25-4A046CD9A425}" type="presParOf" srcId="{311144D1-3BA2-4573-AB3C-C1D2F0AEE5A2}" destId="{ADD1CCE4-82A5-468F-8BC5-15D0185DBB4E}" srcOrd="2" destOrd="0" presId="urn:microsoft.com/office/officeart/2016/7/layout/LinearArrowProcessNumbered#1"/>
    <dgm:cxn modelId="{2B73E0DA-1046-4103-804D-73C6800E43A8}" type="presParOf" srcId="{311144D1-3BA2-4573-AB3C-C1D2F0AEE5A2}" destId="{C251040B-EE34-45B4-9F5D-BC733169E090}" srcOrd="3" destOrd="0" presId="urn:microsoft.com/office/officeart/2016/7/layout/LinearArrowProcessNumbered#1"/>
    <dgm:cxn modelId="{9A06435D-13CB-4C34-9F75-05B877283744}" type="presParOf" srcId="{F093D1EA-1E4B-4611-A553-45F589D6189E}" destId="{12E9BEA5-B7F5-4B40-9B17-6A733AF73901}" srcOrd="2" destOrd="0" presId="urn:microsoft.com/office/officeart/2016/7/layout/LinearArrowProcessNumbered#1"/>
    <dgm:cxn modelId="{7F8ECCDC-9D53-497A-AB25-0BA04AE8B42A}" type="presParOf" srcId="{D9938462-A694-4D2B-BC8A-98DD7FFDFAAA}" destId="{35E6EF17-E484-4B06-BD04-1114BDD6AE49}" srcOrd="5" destOrd="0" presId="urn:microsoft.com/office/officeart/2016/7/layout/LinearArrowProcessNumbered#1"/>
    <dgm:cxn modelId="{2D074049-F8C2-4C50-B0DE-9796ED379050}" type="presParOf" srcId="{D9938462-A694-4D2B-BC8A-98DD7FFDFAAA}" destId="{F191E6AC-D335-43FD-9BCC-B6410C726B8A}" srcOrd="6" destOrd="0" presId="urn:microsoft.com/office/officeart/2016/7/layout/LinearArrowProcessNumbered#1"/>
    <dgm:cxn modelId="{E40E180A-9791-43B4-ABF6-75A6F103C1A2}" type="presParOf" srcId="{F191E6AC-D335-43FD-9BCC-B6410C726B8A}" destId="{691B272D-AEC8-430E-936D-2AB0A64D72AE}" srcOrd="0" destOrd="0" presId="urn:microsoft.com/office/officeart/2016/7/layout/LinearArrowProcessNumbered#1"/>
    <dgm:cxn modelId="{86E58116-E15D-482E-BAD1-90B3B170F2FB}" type="presParOf" srcId="{F191E6AC-D335-43FD-9BCC-B6410C726B8A}" destId="{00E7883D-13E0-419A-8CB6-169DF9386E10}" srcOrd="1" destOrd="0" presId="urn:microsoft.com/office/officeart/2016/7/layout/LinearArrowProcessNumbered#1"/>
    <dgm:cxn modelId="{5118885E-4AB5-4839-A684-6D2769C21178}" type="presParOf" srcId="{00E7883D-13E0-419A-8CB6-169DF9386E10}" destId="{98FC13F5-E633-4E1D-AC5F-6F956633F8CC}" srcOrd="0" destOrd="0" presId="urn:microsoft.com/office/officeart/2016/7/layout/LinearArrowProcessNumbered#1"/>
    <dgm:cxn modelId="{069B09BD-CB12-4861-8649-6569163AD350}" type="presParOf" srcId="{00E7883D-13E0-419A-8CB6-169DF9386E10}" destId="{852C83FD-BB6A-41CB-BDAC-26661C8025B8}" srcOrd="1" destOrd="0" presId="urn:microsoft.com/office/officeart/2016/7/layout/LinearArrowProcessNumbered#1"/>
    <dgm:cxn modelId="{06028961-C0C2-4751-B578-785C7615600E}" type="presParOf" srcId="{00E7883D-13E0-419A-8CB6-169DF9386E10}" destId="{A40815D7-3BD6-44D4-A32A-A6FD819154DF}" srcOrd="2" destOrd="0" presId="urn:microsoft.com/office/officeart/2016/7/layout/LinearArrowProcessNumbered#1"/>
    <dgm:cxn modelId="{13CCEE06-4894-4DFD-93BC-9CC0E4AB9F2F}" type="presParOf" srcId="{00E7883D-13E0-419A-8CB6-169DF9386E10}" destId="{13747DFA-6414-464B-A499-B8238DDAD9A2}" srcOrd="3" destOrd="0" presId="urn:microsoft.com/office/officeart/2016/7/layout/LinearArrowProcessNumbered#1"/>
    <dgm:cxn modelId="{C677B61A-47EA-40C1-9A4D-A73F136C4604}" type="presParOf" srcId="{F191E6AC-D335-43FD-9BCC-B6410C726B8A}" destId="{B116FA97-1FAE-40A9-8C85-DB8F4C91EF7C}" srcOrd="2" destOrd="0" presId="urn:microsoft.com/office/officeart/2016/7/layout/LinearArrowProcessNumbered#1"/>
    <dgm:cxn modelId="{05B3FB1F-7B8D-4C7F-9195-CB5E7B41DB48}" type="presParOf" srcId="{D9938462-A694-4D2B-BC8A-98DD7FFDFAAA}" destId="{AC0DFAE8-3D36-4FB3-AAD0-3D40E9AD9EEE}" srcOrd="7" destOrd="0" presId="urn:microsoft.com/office/officeart/2016/7/layout/LinearArrowProcessNumbered#1"/>
    <dgm:cxn modelId="{574698B0-FFF7-45D7-8849-8C76868E7D0E}" type="presParOf" srcId="{D9938462-A694-4D2B-BC8A-98DD7FFDFAAA}" destId="{5D5DBC22-08A0-4457-A902-DC4C1A585F28}" srcOrd="8" destOrd="0" presId="urn:microsoft.com/office/officeart/2016/7/layout/LinearArrowProcessNumbered#1"/>
    <dgm:cxn modelId="{8E686806-8277-48D5-921B-84099473856A}" type="presParOf" srcId="{5D5DBC22-08A0-4457-A902-DC4C1A585F28}" destId="{617D2203-5212-4146-B80F-06B175F5A7B8}" srcOrd="0" destOrd="0" presId="urn:microsoft.com/office/officeart/2016/7/layout/LinearArrowProcessNumbered#1"/>
    <dgm:cxn modelId="{72B5EE52-3259-4C80-A114-82039E1E4BAE}" type="presParOf" srcId="{5D5DBC22-08A0-4457-A902-DC4C1A585F28}" destId="{4B51A0BA-FDA1-47E9-A70C-DD72DA902B34}" srcOrd="1" destOrd="0" presId="urn:microsoft.com/office/officeart/2016/7/layout/LinearArrowProcessNumbered#1"/>
    <dgm:cxn modelId="{50F96835-07D3-4580-B2B9-E3007BA9C7D8}" type="presParOf" srcId="{4B51A0BA-FDA1-47E9-A70C-DD72DA902B34}" destId="{25FF393D-3A61-41D4-B04B-067B1A4AC30E}" srcOrd="0" destOrd="0" presId="urn:microsoft.com/office/officeart/2016/7/layout/LinearArrowProcessNumbered#1"/>
    <dgm:cxn modelId="{C2EEA429-9186-4CCC-937E-FBD52CD6434B}" type="presParOf" srcId="{4B51A0BA-FDA1-47E9-A70C-DD72DA902B34}" destId="{61E60603-884A-46BC-BDC9-0A82515012D0}" srcOrd="1" destOrd="0" presId="urn:microsoft.com/office/officeart/2016/7/layout/LinearArrowProcessNumbered#1"/>
    <dgm:cxn modelId="{BE6F6D1F-7377-416F-AF5F-02548124D129}" type="presParOf" srcId="{4B51A0BA-FDA1-47E9-A70C-DD72DA902B34}" destId="{4DDFBC15-E60F-4D96-A43C-C06F99ED0AEA}" srcOrd="2" destOrd="0" presId="urn:microsoft.com/office/officeart/2016/7/layout/LinearArrowProcessNumbered#1"/>
    <dgm:cxn modelId="{278FBAF3-72ED-4FE3-89EE-FED4FC407182}" type="presParOf" srcId="{4B51A0BA-FDA1-47E9-A70C-DD72DA902B34}" destId="{CB24C1CC-986E-49BC-A6FA-65DFBEE67830}" srcOrd="3" destOrd="0" presId="urn:microsoft.com/office/officeart/2016/7/layout/LinearArrowProcessNumbered#1"/>
    <dgm:cxn modelId="{F8501FBB-2728-4F8A-BC39-EFA479C857E4}" type="presParOf" srcId="{5D5DBC22-08A0-4457-A902-DC4C1A585F28}" destId="{ECD48292-92F0-4C50-9795-35E3556DF461}" srcOrd="2" destOrd="0" presId="urn:microsoft.com/office/officeart/2016/7/layout/LinearArrowProcessNumbered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42449-10A1-4278-B96C-C4ABAB189E46}">
      <dsp:nvSpPr>
        <dsp:cNvPr id="0" name=""/>
        <dsp:cNvSpPr/>
      </dsp:nvSpPr>
      <dsp:spPr>
        <a:xfrm>
          <a:off x="1052586" y="872701"/>
          <a:ext cx="841042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84251-3D1A-453A-AC20-F2E87A36EEF3}">
      <dsp:nvSpPr>
        <dsp:cNvPr id="0" name=""/>
        <dsp:cNvSpPr/>
      </dsp:nvSpPr>
      <dsp:spPr>
        <a:xfrm>
          <a:off x="1944092" y="802090"/>
          <a:ext cx="96719" cy="18166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80E2B-37E7-47C5-9407-98DE51395E71}">
      <dsp:nvSpPr>
        <dsp:cNvPr id="0" name=""/>
        <dsp:cNvSpPr/>
      </dsp:nvSpPr>
      <dsp:spPr>
        <a:xfrm>
          <a:off x="525631" y="450912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1</a:t>
          </a:r>
          <a:endParaRPr lang="en-US" sz="3800" kern="1200" dirty="0"/>
        </a:p>
      </dsp:txBody>
      <dsp:txXfrm>
        <a:off x="649181" y="574462"/>
        <a:ext cx="596551" cy="596551"/>
      </dsp:txXfrm>
    </dsp:sp>
    <dsp:sp modelId="{2D736B05-B42D-46EA-852B-C2BFDDD5591E}">
      <dsp:nvSpPr>
        <dsp:cNvPr id="0" name=""/>
        <dsp:cNvSpPr/>
      </dsp:nvSpPr>
      <dsp:spPr>
        <a:xfrm>
          <a:off x="1283" y="1460163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Reasigurarea</a:t>
          </a:r>
          <a:r>
            <a:rPr lang="en-US" sz="16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b="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este</a:t>
          </a:r>
          <a:r>
            <a:rPr lang="en-US" sz="16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un </a:t>
          </a:r>
          <a:r>
            <a:rPr lang="en-US" sz="1600" b="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mecanism</a:t>
          </a:r>
          <a:r>
            <a:rPr lang="en-US" sz="16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b="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esențial</a:t>
          </a:r>
          <a:r>
            <a:rPr lang="en-US" sz="16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 </a:t>
          </a:r>
          <a:r>
            <a:rPr lang="en-US" sz="1600" b="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stabilitate</a:t>
          </a:r>
          <a:r>
            <a:rPr lang="en-US" sz="16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b="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financiară</a:t>
          </a:r>
          <a:r>
            <a:rPr lang="ro-RO" sz="16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283" y="1838632"/>
        <a:ext cx="1892345" cy="1587131"/>
      </dsp:txXfrm>
    </dsp:sp>
    <dsp:sp modelId="{E6547311-AF0E-4FCF-BDD0-47989B866E24}">
      <dsp:nvSpPr>
        <dsp:cNvPr id="0" name=""/>
        <dsp:cNvSpPr/>
      </dsp:nvSpPr>
      <dsp:spPr>
        <a:xfrm>
          <a:off x="2103890" y="872701"/>
          <a:ext cx="189234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6DFE2B-B7F2-4F30-B659-B552E321FADD}">
      <dsp:nvSpPr>
        <dsp:cNvPr id="0" name=""/>
        <dsp:cNvSpPr/>
      </dsp:nvSpPr>
      <dsp:spPr>
        <a:xfrm>
          <a:off x="4046698" y="802089"/>
          <a:ext cx="96719" cy="18166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5C8DA-1E76-407A-B430-701BCCF29F00}">
      <dsp:nvSpPr>
        <dsp:cNvPr id="0" name=""/>
        <dsp:cNvSpPr/>
      </dsp:nvSpPr>
      <dsp:spPr>
        <a:xfrm>
          <a:off x="2628237" y="450911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2</a:t>
          </a:r>
          <a:endParaRPr lang="en-US" sz="3800" kern="1200" dirty="0"/>
        </a:p>
      </dsp:txBody>
      <dsp:txXfrm>
        <a:off x="2751787" y="574461"/>
        <a:ext cx="596551" cy="596551"/>
      </dsp:txXfrm>
    </dsp:sp>
    <dsp:sp modelId="{D997FB1E-CF8D-4F5C-9E93-059F85035C01}">
      <dsp:nvSpPr>
        <dsp:cNvPr id="0" name=""/>
        <dsp:cNvSpPr/>
      </dsp:nvSpPr>
      <dsp:spPr>
        <a:xfrm>
          <a:off x="2103890" y="1460163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Asia</a:t>
          </a:r>
          <a:r>
            <a:rPr lang="it-IT" sz="1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ro-RO" sz="1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este</a:t>
          </a:r>
          <a:r>
            <a:rPr lang="it-IT" sz="1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una dintre cele mai importante regiuni pentru piața de reasigurări</a:t>
          </a:r>
          <a:r>
            <a:rPr lang="ro-RO" sz="1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</a:t>
          </a:r>
          <a:r>
            <a:rPr lang="it-IT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datorită expunerii ridicate la dezastre naturale</a:t>
          </a:r>
          <a:r>
            <a:rPr lang="ro-RO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  <a:r>
            <a:rPr lang="ro-RO" sz="1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endParaRPr lang="en-US" sz="12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103890" y="1838632"/>
        <a:ext cx="1892345" cy="1587131"/>
      </dsp:txXfrm>
    </dsp:sp>
    <dsp:sp modelId="{B301E9C0-66A8-4889-AB14-A827A90B7730}">
      <dsp:nvSpPr>
        <dsp:cNvPr id="0" name=""/>
        <dsp:cNvSpPr/>
      </dsp:nvSpPr>
      <dsp:spPr>
        <a:xfrm>
          <a:off x="4206496" y="872701"/>
          <a:ext cx="189234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0B667-F0A6-4456-B459-83C4807E6047}">
      <dsp:nvSpPr>
        <dsp:cNvPr id="0" name=""/>
        <dsp:cNvSpPr/>
      </dsp:nvSpPr>
      <dsp:spPr>
        <a:xfrm>
          <a:off x="6149305" y="802089"/>
          <a:ext cx="96719" cy="18166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D1CCE4-82A5-468F-8BC5-15D0185DBB4E}">
      <dsp:nvSpPr>
        <dsp:cNvPr id="0" name=""/>
        <dsp:cNvSpPr/>
      </dsp:nvSpPr>
      <dsp:spPr>
        <a:xfrm>
          <a:off x="4730844" y="450911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3</a:t>
          </a:r>
          <a:endParaRPr lang="en-US" sz="3800" kern="1200" dirty="0"/>
        </a:p>
      </dsp:txBody>
      <dsp:txXfrm>
        <a:off x="4854394" y="574461"/>
        <a:ext cx="596551" cy="596551"/>
      </dsp:txXfrm>
    </dsp:sp>
    <dsp:sp modelId="{12E9BEA5-B7F5-4B40-9B17-6A733AF73901}">
      <dsp:nvSpPr>
        <dsp:cNvPr id="0" name=""/>
        <dsp:cNvSpPr/>
      </dsp:nvSpPr>
      <dsp:spPr>
        <a:xfrm>
          <a:off x="4206496" y="1460163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Singapore</a:t>
          </a: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este</a:t>
          </a: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centrul</a:t>
          </a: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strategic al </a:t>
          </a:r>
          <a:r>
            <a:rPr lang="en-US" sz="16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reasigurărilor</a:t>
          </a: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din Asia</a:t>
          </a:r>
          <a:r>
            <a:rPr lang="ro-RO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206496" y="1838632"/>
        <a:ext cx="1892345" cy="1587131"/>
      </dsp:txXfrm>
    </dsp:sp>
    <dsp:sp modelId="{98FC13F5-E633-4E1D-AC5F-6F956633F8CC}">
      <dsp:nvSpPr>
        <dsp:cNvPr id="0" name=""/>
        <dsp:cNvSpPr/>
      </dsp:nvSpPr>
      <dsp:spPr>
        <a:xfrm>
          <a:off x="6309103" y="872701"/>
          <a:ext cx="189234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2C83FD-BB6A-41CB-BDAC-26661C8025B8}">
      <dsp:nvSpPr>
        <dsp:cNvPr id="0" name=""/>
        <dsp:cNvSpPr/>
      </dsp:nvSpPr>
      <dsp:spPr>
        <a:xfrm>
          <a:off x="8251911" y="802089"/>
          <a:ext cx="96719" cy="18166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0815D7-3BD6-44D4-A32A-A6FD819154DF}">
      <dsp:nvSpPr>
        <dsp:cNvPr id="0" name=""/>
        <dsp:cNvSpPr/>
      </dsp:nvSpPr>
      <dsp:spPr>
        <a:xfrm>
          <a:off x="6833450" y="450911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4</a:t>
          </a:r>
          <a:endParaRPr lang="en-US" sz="3800" kern="1200" dirty="0"/>
        </a:p>
      </dsp:txBody>
      <dsp:txXfrm>
        <a:off x="6957000" y="574461"/>
        <a:ext cx="596551" cy="596551"/>
      </dsp:txXfrm>
    </dsp:sp>
    <dsp:sp modelId="{B116FA97-1FAE-40A9-8C85-DB8F4C91EF7C}">
      <dsp:nvSpPr>
        <dsp:cNvPr id="0" name=""/>
        <dsp:cNvSpPr/>
      </dsp:nvSpPr>
      <dsp:spPr>
        <a:xfrm>
          <a:off x="6309103" y="1460163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Sri Lanka </a:t>
          </a:r>
          <a:r>
            <a:rPr lang="en-US" sz="1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 </a:t>
          </a:r>
          <a:r>
            <a:rPr lang="en-US" sz="1200" b="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confruntă</a:t>
          </a:r>
          <a:r>
            <a:rPr lang="en-US" sz="1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cu </a:t>
          </a:r>
          <a:r>
            <a:rPr lang="en-US" sz="12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dependența</a:t>
          </a:r>
          <a: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 NITF </a:t>
          </a:r>
          <a:r>
            <a:rPr lang="en-US" sz="12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și</a:t>
          </a:r>
          <a: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2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dificultatea</a:t>
          </a:r>
          <a: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 a </a:t>
          </a:r>
          <a:r>
            <a:rPr lang="en-US" sz="12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plăti</a:t>
          </a:r>
          <a: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2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reasigurările</a:t>
          </a:r>
          <a: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2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internaționale</a:t>
          </a:r>
          <a: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din </a:t>
          </a:r>
          <a:r>
            <a:rPr lang="en-US" sz="12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cauza</a:t>
          </a:r>
          <a: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2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lipsei</a:t>
          </a:r>
          <a:r>
            <a:rPr lang="en-US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 </a:t>
          </a:r>
          <a:r>
            <a:rPr lang="en-US" sz="12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valută</a:t>
          </a:r>
          <a:r>
            <a:rPr lang="ro-RO" sz="12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309103" y="1838632"/>
        <a:ext cx="1892345" cy="1587131"/>
      </dsp:txXfrm>
    </dsp:sp>
    <dsp:sp modelId="{25FF393D-3A61-41D4-B04B-067B1A4AC30E}">
      <dsp:nvSpPr>
        <dsp:cNvPr id="0" name=""/>
        <dsp:cNvSpPr/>
      </dsp:nvSpPr>
      <dsp:spPr>
        <a:xfrm>
          <a:off x="8411709" y="872701"/>
          <a:ext cx="94617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DFBC15-E60F-4D96-A43C-C06F99ED0AEA}">
      <dsp:nvSpPr>
        <dsp:cNvPr id="0" name=""/>
        <dsp:cNvSpPr/>
      </dsp:nvSpPr>
      <dsp:spPr>
        <a:xfrm>
          <a:off x="8936057" y="450911"/>
          <a:ext cx="843651" cy="843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8" tIns="32738" rIns="32738" bIns="32738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5</a:t>
          </a:r>
        </a:p>
      </dsp:txBody>
      <dsp:txXfrm>
        <a:off x="9059607" y="574461"/>
        <a:ext cx="596551" cy="596551"/>
      </dsp:txXfrm>
    </dsp:sp>
    <dsp:sp modelId="{ECD48292-92F0-4C50-9795-35E3556DF461}">
      <dsp:nvSpPr>
        <dsp:cNvPr id="0" name=""/>
        <dsp:cNvSpPr/>
      </dsp:nvSpPr>
      <dsp:spPr>
        <a:xfrm>
          <a:off x="8411709" y="1460163"/>
          <a:ext cx="189234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70" tIns="165100" rIns="149270" bIns="16510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India</a:t>
          </a: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este</a:t>
          </a: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o </a:t>
          </a:r>
          <a:r>
            <a:rPr lang="en-US" sz="16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piață</a:t>
          </a: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6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emergentă</a:t>
          </a: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cu </a:t>
          </a:r>
          <a:r>
            <a:rPr lang="en-US" sz="16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potențial</a:t>
          </a: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major</a:t>
          </a:r>
          <a:r>
            <a:rPr lang="ro-RO" sz="1900" kern="1200" dirty="0"/>
            <a:t>.</a:t>
          </a:r>
          <a:endParaRPr lang="en-US" sz="1900" kern="1200" dirty="0"/>
        </a:p>
      </dsp:txBody>
      <dsp:txXfrm>
        <a:off x="8411709" y="1838632"/>
        <a:ext cx="1892345" cy="15871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#1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0BCCEA4B-F3EB-4171-AE59-457154E02EEE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6E793552-5898-4293-8C7D-49823170C6CF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E37CDDB0-D246-4BF3-A6BB-E15F509C93D9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A6C86A-E696-4915-84A9-365D51368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FA275-E5BD-42D5-86C3-D4A66EF382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D676F-4DB5-46B8-8F00-05DB67D5471C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8037F-BC33-4B71-9390-1FCCB44C8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A39EB-596B-48AB-BC3E-069215B769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DFD5B-C328-43D8-A4C7-929BECA315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01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BE5AB-3192-4552-A220-BA06EA9D867F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D0E63-0F6A-47B0-8BD1-6E95B004C8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2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33" descr="Tag=AccentColor&#10;Flavor=Light&#10;Target=Fill">
            <a:extLst>
              <a:ext uri="{FF2B5EF4-FFF2-40B4-BE49-F238E27FC236}">
                <a16:creationId xmlns:a16="http://schemas.microsoft.com/office/drawing/2014/main" id="{A4E7DAC5-621F-40E6-ACD2-590570CC84F8}"/>
              </a:ext>
            </a:extLst>
          </p:cNvPr>
          <p:cNvSpPr>
            <a:spLocks noChangeAspect="1"/>
          </p:cNvSpPr>
          <p:nvPr userDrawn="1"/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0" y="960120"/>
            <a:ext cx="7077456" cy="2898648"/>
          </a:xfrm>
        </p:spPr>
        <p:txBody>
          <a:bodyPr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472" y="4535424"/>
            <a:ext cx="6931152" cy="94183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71B7A5D-C918-4744-A5FA-75C904B3B8D4}"/>
              </a:ext>
            </a:extLst>
          </p:cNvPr>
          <p:cNvSpPr/>
          <p:nvPr userDrawn="1"/>
        </p:nvSpPr>
        <p:spPr>
          <a:xfrm>
            <a:off x="3974206" y="411333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6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7CE2522-15B5-4BC5-91A9-523F325A8324}"/>
              </a:ext>
            </a:extLst>
          </p:cNvPr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649224"/>
            <a:ext cx="4178808" cy="5568696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24" y="1307592"/>
            <a:ext cx="4992624" cy="4251960"/>
          </a:xfrm>
        </p:spPr>
        <p:txBody>
          <a:bodyPr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228600">
              <a:defRPr sz="4000">
                <a:solidFill>
                  <a:schemeClr val="bg1"/>
                </a:solidFill>
              </a:defRPr>
            </a:lvl2pPr>
            <a:lvl3pPr marL="457200">
              <a:defRPr sz="36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2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7D0AB67-E176-475C-977C-73640253B9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361970"/>
            <a:ext cx="4038599" cy="2496030"/>
          </a:xfrm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ABE113B-49CB-42B2-AC93-B3DF04407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336" cy="4193763"/>
          </a:xfrm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4296" y="329184"/>
            <a:ext cx="6894576" cy="178308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600"/>
            </a:lvl4pPr>
            <a:lvl5pPr marL="9144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9B1377BC-1A5F-4113-953E-30CA51FC6F91}"/>
              </a:ext>
            </a:extLst>
          </p:cNvPr>
          <p:cNvSpPr/>
          <p:nvPr userDrawn="1"/>
        </p:nvSpPr>
        <p:spPr>
          <a:xfrm>
            <a:off x="4654296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CB56F624-1B75-47D6-8B9E-1F3E7840AE13}"/>
              </a:ext>
            </a:extLst>
          </p:cNvPr>
          <p:cNvSpPr>
            <a:spLocks noChangeAspect="1"/>
          </p:cNvSpPr>
          <p:nvPr userDrawn="1"/>
        </p:nvSpPr>
        <p:spPr>
          <a:xfrm>
            <a:off x="807242" y="612648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6544" y="1911096"/>
            <a:ext cx="8055864" cy="2075688"/>
          </a:xfrm>
        </p:spPr>
        <p:txBody>
          <a:bodyPr anchor="b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C686F5F-8990-4C72-9CE5-9517854EA994}"/>
              </a:ext>
            </a:extLst>
          </p:cNvPr>
          <p:cNvSpPr/>
          <p:nvPr userDrawn="1"/>
        </p:nvSpPr>
        <p:spPr>
          <a:xfrm>
            <a:off x="3974206" y="417349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BBF36E3-BC05-42D6-BE88-CFA8276D6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7832" y="4352544"/>
            <a:ext cx="5733288" cy="932688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57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125"/>
            <a:ext cx="10515600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10515600" cy="41056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552069 w 10515600"/>
              <a:gd name="connsiteY1" fmla="*/ 0 h 27432"/>
              <a:gd name="connsiteX2" fmla="*/ 893826 w 10515600"/>
              <a:gd name="connsiteY2" fmla="*/ 0 h 27432"/>
              <a:gd name="connsiteX3" fmla="*/ 1761363 w 10515600"/>
              <a:gd name="connsiteY3" fmla="*/ 0 h 27432"/>
              <a:gd name="connsiteX4" fmla="*/ 2313432 w 10515600"/>
              <a:gd name="connsiteY4" fmla="*/ 0 h 27432"/>
              <a:gd name="connsiteX5" fmla="*/ 2865501 w 10515600"/>
              <a:gd name="connsiteY5" fmla="*/ 0 h 27432"/>
              <a:gd name="connsiteX6" fmla="*/ 3733038 w 10515600"/>
              <a:gd name="connsiteY6" fmla="*/ 0 h 27432"/>
              <a:gd name="connsiteX7" fmla="*/ 4179951 w 10515600"/>
              <a:gd name="connsiteY7" fmla="*/ 0 h 27432"/>
              <a:gd name="connsiteX8" fmla="*/ 5047488 w 10515600"/>
              <a:gd name="connsiteY8" fmla="*/ 0 h 27432"/>
              <a:gd name="connsiteX9" fmla="*/ 5915025 w 10515600"/>
              <a:gd name="connsiteY9" fmla="*/ 0 h 27432"/>
              <a:gd name="connsiteX10" fmla="*/ 6572250 w 10515600"/>
              <a:gd name="connsiteY10" fmla="*/ 0 h 27432"/>
              <a:gd name="connsiteX11" fmla="*/ 7439787 w 10515600"/>
              <a:gd name="connsiteY11" fmla="*/ 0 h 27432"/>
              <a:gd name="connsiteX12" fmla="*/ 7991856 w 10515600"/>
              <a:gd name="connsiteY12" fmla="*/ 0 h 27432"/>
              <a:gd name="connsiteX13" fmla="*/ 8543925 w 10515600"/>
              <a:gd name="connsiteY13" fmla="*/ 0 h 27432"/>
              <a:gd name="connsiteX14" fmla="*/ 9306306 w 10515600"/>
              <a:gd name="connsiteY14" fmla="*/ 0 h 27432"/>
              <a:gd name="connsiteX15" fmla="*/ 9858375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9753219 w 10515600"/>
              <a:gd name="connsiteY18" fmla="*/ 27432 h 27432"/>
              <a:gd name="connsiteX19" fmla="*/ 9411462 w 10515600"/>
              <a:gd name="connsiteY19" fmla="*/ 27432 h 27432"/>
              <a:gd name="connsiteX20" fmla="*/ 8964549 w 10515600"/>
              <a:gd name="connsiteY20" fmla="*/ 27432 h 27432"/>
              <a:gd name="connsiteX21" fmla="*/ 8097012 w 10515600"/>
              <a:gd name="connsiteY21" fmla="*/ 27432 h 27432"/>
              <a:gd name="connsiteX22" fmla="*/ 7439787 w 10515600"/>
              <a:gd name="connsiteY22" fmla="*/ 27432 h 27432"/>
              <a:gd name="connsiteX23" fmla="*/ 6992874 w 10515600"/>
              <a:gd name="connsiteY23" fmla="*/ 27432 h 27432"/>
              <a:gd name="connsiteX24" fmla="*/ 6335649 w 10515600"/>
              <a:gd name="connsiteY24" fmla="*/ 27432 h 27432"/>
              <a:gd name="connsiteX25" fmla="*/ 5993892 w 10515600"/>
              <a:gd name="connsiteY25" fmla="*/ 27432 h 27432"/>
              <a:gd name="connsiteX26" fmla="*/ 5652135 w 10515600"/>
              <a:gd name="connsiteY26" fmla="*/ 27432 h 27432"/>
              <a:gd name="connsiteX27" fmla="*/ 4994910 w 10515600"/>
              <a:gd name="connsiteY27" fmla="*/ 27432 h 27432"/>
              <a:gd name="connsiteX28" fmla="*/ 4547997 w 10515600"/>
              <a:gd name="connsiteY28" fmla="*/ 27432 h 27432"/>
              <a:gd name="connsiteX29" fmla="*/ 3785616 w 10515600"/>
              <a:gd name="connsiteY29" fmla="*/ 27432 h 27432"/>
              <a:gd name="connsiteX30" fmla="*/ 3338703 w 10515600"/>
              <a:gd name="connsiteY30" fmla="*/ 27432 h 27432"/>
              <a:gd name="connsiteX31" fmla="*/ 2576322 w 10515600"/>
              <a:gd name="connsiteY31" fmla="*/ 27432 h 27432"/>
              <a:gd name="connsiteX32" fmla="*/ 2234565 w 10515600"/>
              <a:gd name="connsiteY32" fmla="*/ 27432 h 27432"/>
              <a:gd name="connsiteX33" fmla="*/ 1472184 w 10515600"/>
              <a:gd name="connsiteY33" fmla="*/ 27432 h 27432"/>
              <a:gd name="connsiteX34" fmla="*/ 1025271 w 10515600"/>
              <a:gd name="connsiteY34" fmla="*/ 27432 h 27432"/>
              <a:gd name="connsiteX35" fmla="*/ 683514 w 10515600"/>
              <a:gd name="connsiteY35" fmla="*/ 27432 h 27432"/>
              <a:gd name="connsiteX36" fmla="*/ 0 w 10515600"/>
              <a:gd name="connsiteY36" fmla="*/ 27432 h 27432"/>
              <a:gd name="connsiteX37" fmla="*/ 0 w 10515600"/>
              <a:gd name="connsiteY37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515600" h="27432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3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6F9E1DA-21B7-46CB-A98B-FA0C2179E1DE}"/>
              </a:ext>
            </a:extLst>
          </p:cNvPr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932688"/>
            <a:ext cx="9144000" cy="252374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74AF53-8E5D-4CC4-B341-32DDBD4237D3}"/>
              </a:ext>
            </a:extLst>
          </p:cNvPr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470D2B-C603-4551-B51F-8216C72B2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443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D35F50-8168-4166-90C4-6A55BA443E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09" y="3063095"/>
            <a:ext cx="1463039" cy="1479810"/>
          </a:xfrm>
          <a:custGeom>
            <a:avLst/>
            <a:gdLst>
              <a:gd name="connsiteX0" fmla="*/ 866622 w 1463039"/>
              <a:gd name="connsiteY0" fmla="*/ 571 h 1479810"/>
              <a:gd name="connsiteX1" fmla="*/ 964706 w 1463039"/>
              <a:gd name="connsiteY1" fmla="*/ 8669 h 1479810"/>
              <a:gd name="connsiteX2" fmla="*/ 1111825 w 1463039"/>
              <a:gd name="connsiteY2" fmla="*/ 8366 h 1479810"/>
              <a:gd name="connsiteX3" fmla="*/ 1290055 w 1463039"/>
              <a:gd name="connsiteY3" fmla="*/ 8730 h 1479810"/>
              <a:gd name="connsiteX4" fmla="*/ 1417397 w 1463039"/>
              <a:gd name="connsiteY4" fmla="*/ 6608 h 1479810"/>
              <a:gd name="connsiteX5" fmla="*/ 1454473 w 1463039"/>
              <a:gd name="connsiteY5" fmla="*/ 5290 h 1479810"/>
              <a:gd name="connsiteX6" fmla="*/ 1449518 w 1463039"/>
              <a:gd name="connsiteY6" fmla="*/ 94305 h 1479810"/>
              <a:gd name="connsiteX7" fmla="*/ 1454054 w 1463039"/>
              <a:gd name="connsiteY7" fmla="*/ 198723 h 1479810"/>
              <a:gd name="connsiteX8" fmla="*/ 1456615 w 1463039"/>
              <a:gd name="connsiteY8" fmla="*/ 391199 h 1479810"/>
              <a:gd name="connsiteX9" fmla="*/ 1452607 w 1463039"/>
              <a:gd name="connsiteY9" fmla="*/ 565102 h 1479810"/>
              <a:gd name="connsiteX10" fmla="*/ 1461012 w 1463039"/>
              <a:gd name="connsiteY10" fmla="*/ 624834 h 1479810"/>
              <a:gd name="connsiteX11" fmla="*/ 1451383 w 1463039"/>
              <a:gd name="connsiteY11" fmla="*/ 907022 h 1479810"/>
              <a:gd name="connsiteX12" fmla="*/ 1452663 w 1463039"/>
              <a:gd name="connsiteY12" fmla="*/ 1009694 h 1479810"/>
              <a:gd name="connsiteX13" fmla="*/ 1456002 w 1463039"/>
              <a:gd name="connsiteY13" fmla="*/ 1096988 h 1479810"/>
              <a:gd name="connsiteX14" fmla="*/ 1453720 w 1463039"/>
              <a:gd name="connsiteY14" fmla="*/ 1174562 h 1479810"/>
              <a:gd name="connsiteX15" fmla="*/ 1461722 w 1463039"/>
              <a:gd name="connsiteY15" fmla="*/ 1280018 h 1479810"/>
              <a:gd name="connsiteX16" fmla="*/ 1463039 w 1463039"/>
              <a:gd name="connsiteY16" fmla="*/ 1330769 h 1479810"/>
              <a:gd name="connsiteX17" fmla="*/ 1463039 w 1463039"/>
              <a:gd name="connsiteY17" fmla="*/ 1433804 h 1479810"/>
              <a:gd name="connsiteX18" fmla="*/ 1458897 w 1463039"/>
              <a:gd name="connsiteY18" fmla="*/ 1471900 h 1479810"/>
              <a:gd name="connsiteX19" fmla="*/ 1458306 w 1463039"/>
              <a:gd name="connsiteY19" fmla="*/ 1476109 h 1479810"/>
              <a:gd name="connsiteX20" fmla="*/ 1456251 w 1463039"/>
              <a:gd name="connsiteY20" fmla="*/ 1476006 h 1479810"/>
              <a:gd name="connsiteX21" fmla="*/ 1358699 w 1463039"/>
              <a:gd name="connsiteY21" fmla="*/ 1478795 h 1479810"/>
              <a:gd name="connsiteX22" fmla="*/ 1337088 w 1463039"/>
              <a:gd name="connsiteY22" fmla="*/ 1479810 h 1479810"/>
              <a:gd name="connsiteX23" fmla="*/ 1199842 w 1463039"/>
              <a:gd name="connsiteY23" fmla="*/ 1479810 h 1479810"/>
              <a:gd name="connsiteX24" fmla="*/ 1178285 w 1463039"/>
              <a:gd name="connsiteY24" fmla="*/ 1478795 h 1479810"/>
              <a:gd name="connsiteX25" fmla="*/ 859950 w 1463039"/>
              <a:gd name="connsiteY25" fmla="*/ 1471898 h 1479810"/>
              <a:gd name="connsiteX26" fmla="*/ 711774 w 1463039"/>
              <a:gd name="connsiteY26" fmla="*/ 1479810 h 1479810"/>
              <a:gd name="connsiteX27" fmla="*/ 637511 w 1463039"/>
              <a:gd name="connsiteY27" fmla="*/ 1479810 h 1479810"/>
              <a:gd name="connsiteX28" fmla="*/ 500700 w 1463039"/>
              <a:gd name="connsiteY28" fmla="*/ 1474455 h 1479810"/>
              <a:gd name="connsiteX29" fmla="*/ 234328 w 1463039"/>
              <a:gd name="connsiteY29" fmla="*/ 1468257 h 1479810"/>
              <a:gd name="connsiteX30" fmla="*/ 183686 w 1463039"/>
              <a:gd name="connsiteY30" fmla="*/ 1476228 h 1479810"/>
              <a:gd name="connsiteX31" fmla="*/ 157756 w 1463039"/>
              <a:gd name="connsiteY31" fmla="*/ 1479810 h 1479810"/>
              <a:gd name="connsiteX32" fmla="*/ 13214 w 1463039"/>
              <a:gd name="connsiteY32" fmla="*/ 1479810 h 1479810"/>
              <a:gd name="connsiteX33" fmla="*/ 15315 w 1463039"/>
              <a:gd name="connsiteY33" fmla="*/ 1462749 h 1479810"/>
              <a:gd name="connsiteX34" fmla="*/ 11891 w 1463039"/>
              <a:gd name="connsiteY34" fmla="*/ 1410409 h 1479810"/>
              <a:gd name="connsiteX35" fmla="*/ 6411 w 1463039"/>
              <a:gd name="connsiteY35" fmla="*/ 1244508 h 1479810"/>
              <a:gd name="connsiteX36" fmla="*/ 6849 w 1463039"/>
              <a:gd name="connsiteY36" fmla="*/ 1119455 h 1479810"/>
              <a:gd name="connsiteX37" fmla="*/ 6849 w 1463039"/>
              <a:gd name="connsiteY37" fmla="*/ 1060773 h 1479810"/>
              <a:gd name="connsiteX38" fmla="*/ 9698 w 1463039"/>
              <a:gd name="connsiteY38" fmla="*/ 982321 h 1479810"/>
              <a:gd name="connsiteX39" fmla="*/ 4219 w 1463039"/>
              <a:gd name="connsiteY39" fmla="*/ 947592 h 1479810"/>
              <a:gd name="connsiteX40" fmla="*/ 6903 w 1463039"/>
              <a:gd name="connsiteY40" fmla="*/ 858680 h 1479810"/>
              <a:gd name="connsiteX41" fmla="*/ 9808 w 1463039"/>
              <a:gd name="connsiteY41" fmla="*/ 755960 h 1479810"/>
              <a:gd name="connsiteX42" fmla="*/ 10247 w 1463039"/>
              <a:gd name="connsiteY42" fmla="*/ 673166 h 1479810"/>
              <a:gd name="connsiteX43" fmla="*/ 11452 w 1463039"/>
              <a:gd name="connsiteY43" fmla="*/ 516733 h 1479810"/>
              <a:gd name="connsiteX44" fmla="*/ 10465 w 1463039"/>
              <a:gd name="connsiteY44" fmla="*/ 425571 h 1479810"/>
              <a:gd name="connsiteX45" fmla="*/ 10465 w 1463039"/>
              <a:gd name="connsiteY45" fmla="*/ 216366 h 1479810"/>
              <a:gd name="connsiteX46" fmla="*/ 10795 w 1463039"/>
              <a:gd name="connsiteY46" fmla="*/ 104023 h 1479810"/>
              <a:gd name="connsiteX47" fmla="*/ 3534 w 1463039"/>
              <a:gd name="connsiteY47" fmla="*/ 20936 h 1479810"/>
              <a:gd name="connsiteX48" fmla="*/ 3924 w 1463039"/>
              <a:gd name="connsiteY48" fmla="*/ 8444 h 1479810"/>
              <a:gd name="connsiteX49" fmla="*/ 72291 w 1463039"/>
              <a:gd name="connsiteY49" fmla="*/ 7146 h 1479810"/>
              <a:gd name="connsiteX50" fmla="*/ 231770 w 1463039"/>
              <a:gd name="connsiteY50" fmla="*/ 4001 h 1479810"/>
              <a:gd name="connsiteX51" fmla="*/ 364602 w 1463039"/>
              <a:gd name="connsiteY51" fmla="*/ 11882 h 1479810"/>
              <a:gd name="connsiteX52" fmla="*/ 768233 w 1463039"/>
              <a:gd name="connsiteY52" fmla="*/ 2061 h 1479810"/>
              <a:gd name="connsiteX53" fmla="*/ 866622 w 1463039"/>
              <a:gd name="connsiteY53" fmla="*/ 571 h 147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3039" h="1479810">
                <a:moveTo>
                  <a:pt x="866622" y="571"/>
                </a:moveTo>
                <a:cubicBezTo>
                  <a:pt x="899405" y="1673"/>
                  <a:pt x="932136" y="4374"/>
                  <a:pt x="964706" y="8669"/>
                </a:cubicBezTo>
                <a:cubicBezTo>
                  <a:pt x="1013529" y="15823"/>
                  <a:pt x="1062766" y="11397"/>
                  <a:pt x="1111825" y="8366"/>
                </a:cubicBezTo>
                <a:cubicBezTo>
                  <a:pt x="1171216" y="4668"/>
                  <a:pt x="1230547" y="2667"/>
                  <a:pt x="1290055" y="8730"/>
                </a:cubicBezTo>
                <a:cubicBezTo>
                  <a:pt x="1332384" y="13094"/>
                  <a:pt x="1374949" y="9033"/>
                  <a:pt x="1417397" y="6608"/>
                </a:cubicBezTo>
                <a:lnTo>
                  <a:pt x="1454473" y="5290"/>
                </a:lnTo>
                <a:lnTo>
                  <a:pt x="1449518" y="94305"/>
                </a:lnTo>
                <a:cubicBezTo>
                  <a:pt x="1449059" y="129134"/>
                  <a:pt x="1450325" y="163951"/>
                  <a:pt x="1454054" y="198723"/>
                </a:cubicBezTo>
                <a:cubicBezTo>
                  <a:pt x="1459999" y="262767"/>
                  <a:pt x="1460856" y="327062"/>
                  <a:pt x="1456615" y="391199"/>
                </a:cubicBezTo>
                <a:cubicBezTo>
                  <a:pt x="1453665" y="449151"/>
                  <a:pt x="1446428" y="507012"/>
                  <a:pt x="1452607" y="565102"/>
                </a:cubicBezTo>
                <a:cubicBezTo>
                  <a:pt x="1454722" y="585089"/>
                  <a:pt x="1459843" y="604710"/>
                  <a:pt x="1461012" y="624834"/>
                </a:cubicBezTo>
                <a:cubicBezTo>
                  <a:pt x="1466578" y="719110"/>
                  <a:pt x="1458229" y="813066"/>
                  <a:pt x="1451383" y="907022"/>
                </a:cubicBezTo>
                <a:cubicBezTo>
                  <a:pt x="1448878" y="941246"/>
                  <a:pt x="1445816" y="975470"/>
                  <a:pt x="1452663" y="1009694"/>
                </a:cubicBezTo>
                <a:cubicBezTo>
                  <a:pt x="1458090" y="1038574"/>
                  <a:pt x="1459209" y="1067889"/>
                  <a:pt x="1456002" y="1096988"/>
                </a:cubicBezTo>
                <a:cubicBezTo>
                  <a:pt x="1452796" y="1122760"/>
                  <a:pt x="1452034" y="1148693"/>
                  <a:pt x="1453720" y="1174562"/>
                </a:cubicBezTo>
                <a:cubicBezTo>
                  <a:pt x="1457199" y="1209699"/>
                  <a:pt x="1459899" y="1244847"/>
                  <a:pt x="1461722" y="1280018"/>
                </a:cubicBezTo>
                <a:lnTo>
                  <a:pt x="1463039" y="1330769"/>
                </a:lnTo>
                <a:lnTo>
                  <a:pt x="1463039" y="1433804"/>
                </a:lnTo>
                <a:lnTo>
                  <a:pt x="1458897" y="1471900"/>
                </a:lnTo>
                <a:lnTo>
                  <a:pt x="1458306" y="1476109"/>
                </a:lnTo>
                <a:lnTo>
                  <a:pt x="1456251" y="1476006"/>
                </a:lnTo>
                <a:cubicBezTo>
                  <a:pt x="1423775" y="1477710"/>
                  <a:pt x="1391236" y="1478252"/>
                  <a:pt x="1358699" y="1478795"/>
                </a:cubicBezTo>
                <a:lnTo>
                  <a:pt x="1337088" y="1479810"/>
                </a:lnTo>
                <a:lnTo>
                  <a:pt x="1199842" y="1479810"/>
                </a:lnTo>
                <a:lnTo>
                  <a:pt x="1178285" y="1478795"/>
                </a:lnTo>
                <a:cubicBezTo>
                  <a:pt x="1072671" y="1461942"/>
                  <a:pt x="965946" y="1459625"/>
                  <a:pt x="859950" y="1471898"/>
                </a:cubicBezTo>
                <a:lnTo>
                  <a:pt x="711774" y="1479810"/>
                </a:lnTo>
                <a:lnTo>
                  <a:pt x="637511" y="1479810"/>
                </a:lnTo>
                <a:lnTo>
                  <a:pt x="500700" y="1474455"/>
                </a:lnTo>
                <a:cubicBezTo>
                  <a:pt x="412071" y="1467172"/>
                  <a:pt x="323261" y="1461748"/>
                  <a:pt x="234328" y="1468257"/>
                </a:cubicBezTo>
                <a:cubicBezTo>
                  <a:pt x="217301" y="1469536"/>
                  <a:pt x="200486" y="1472964"/>
                  <a:pt x="183686" y="1476228"/>
                </a:cubicBezTo>
                <a:lnTo>
                  <a:pt x="157756" y="1479810"/>
                </a:lnTo>
                <a:lnTo>
                  <a:pt x="13214" y="1479810"/>
                </a:lnTo>
                <a:lnTo>
                  <a:pt x="15315" y="1462749"/>
                </a:lnTo>
                <a:cubicBezTo>
                  <a:pt x="16576" y="1445267"/>
                  <a:pt x="16192" y="1427772"/>
                  <a:pt x="11891" y="1410409"/>
                </a:cubicBezTo>
                <a:cubicBezTo>
                  <a:pt x="-1809" y="1355230"/>
                  <a:pt x="931" y="1300104"/>
                  <a:pt x="6411" y="1244508"/>
                </a:cubicBezTo>
                <a:cubicBezTo>
                  <a:pt x="10521" y="1203137"/>
                  <a:pt x="15069" y="1161296"/>
                  <a:pt x="6849" y="1119455"/>
                </a:cubicBezTo>
                <a:cubicBezTo>
                  <a:pt x="3315" y="1100041"/>
                  <a:pt x="3315" y="1080187"/>
                  <a:pt x="6849" y="1060773"/>
                </a:cubicBezTo>
                <a:cubicBezTo>
                  <a:pt x="11123" y="1034622"/>
                  <a:pt x="15178" y="1008733"/>
                  <a:pt x="9698" y="982321"/>
                </a:cubicBezTo>
                <a:cubicBezTo>
                  <a:pt x="7288" y="970815"/>
                  <a:pt x="5480" y="959204"/>
                  <a:pt x="4219" y="947592"/>
                </a:cubicBezTo>
                <a:cubicBezTo>
                  <a:pt x="1709" y="917948"/>
                  <a:pt x="2608" y="888136"/>
                  <a:pt x="6903" y="858680"/>
                </a:cubicBezTo>
                <a:cubicBezTo>
                  <a:pt x="11014" y="824475"/>
                  <a:pt x="4328" y="790061"/>
                  <a:pt x="9808" y="755960"/>
                </a:cubicBezTo>
                <a:cubicBezTo>
                  <a:pt x="13699" y="728497"/>
                  <a:pt x="13847" y="700667"/>
                  <a:pt x="10247" y="673166"/>
                </a:cubicBezTo>
                <a:cubicBezTo>
                  <a:pt x="3769" y="621179"/>
                  <a:pt x="4174" y="568621"/>
                  <a:pt x="11452" y="516733"/>
                </a:cubicBezTo>
                <a:cubicBezTo>
                  <a:pt x="15946" y="486450"/>
                  <a:pt x="18521" y="455279"/>
                  <a:pt x="10465" y="425571"/>
                </a:cubicBezTo>
                <a:cubicBezTo>
                  <a:pt x="-8495" y="355749"/>
                  <a:pt x="2575" y="285822"/>
                  <a:pt x="10465" y="216366"/>
                </a:cubicBezTo>
                <a:cubicBezTo>
                  <a:pt x="15261" y="179065"/>
                  <a:pt x="15370" y="141350"/>
                  <a:pt x="10795" y="104023"/>
                </a:cubicBezTo>
                <a:cubicBezTo>
                  <a:pt x="6734" y="76457"/>
                  <a:pt x="4312" y="48717"/>
                  <a:pt x="3534" y="20936"/>
                </a:cubicBezTo>
                <a:lnTo>
                  <a:pt x="3924" y="8444"/>
                </a:lnTo>
                <a:lnTo>
                  <a:pt x="72291" y="7146"/>
                </a:lnTo>
                <a:cubicBezTo>
                  <a:pt x="125549" y="5562"/>
                  <a:pt x="178727" y="3395"/>
                  <a:pt x="231770" y="4001"/>
                </a:cubicBezTo>
                <a:cubicBezTo>
                  <a:pt x="276048" y="4486"/>
                  <a:pt x="320207" y="13579"/>
                  <a:pt x="364602" y="11882"/>
                </a:cubicBezTo>
                <a:cubicBezTo>
                  <a:pt x="499146" y="6911"/>
                  <a:pt x="633749" y="8548"/>
                  <a:pt x="768233" y="2061"/>
                </a:cubicBezTo>
                <a:cubicBezTo>
                  <a:pt x="801007" y="-37"/>
                  <a:pt x="833840" y="-532"/>
                  <a:pt x="866622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63C3609-48D8-42DB-AD9E-61699A6F1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01259" y="3064916"/>
            <a:ext cx="1442437" cy="1477990"/>
          </a:xfrm>
          <a:custGeom>
            <a:avLst/>
            <a:gdLst>
              <a:gd name="connsiteX0" fmla="*/ 866623 w 1442437"/>
              <a:gd name="connsiteY0" fmla="*/ 571 h 1477990"/>
              <a:gd name="connsiteX1" fmla="*/ 964707 w 1442437"/>
              <a:gd name="connsiteY1" fmla="*/ 8669 h 1477990"/>
              <a:gd name="connsiteX2" fmla="*/ 1111826 w 1442437"/>
              <a:gd name="connsiteY2" fmla="*/ 8366 h 1477990"/>
              <a:gd name="connsiteX3" fmla="*/ 1290056 w 1442437"/>
              <a:gd name="connsiteY3" fmla="*/ 8730 h 1477990"/>
              <a:gd name="connsiteX4" fmla="*/ 1417398 w 1442437"/>
              <a:gd name="connsiteY4" fmla="*/ 6608 h 1477990"/>
              <a:gd name="connsiteX5" fmla="*/ 1442437 w 1442437"/>
              <a:gd name="connsiteY5" fmla="*/ 5718 h 1477990"/>
              <a:gd name="connsiteX6" fmla="*/ 1442437 w 1442437"/>
              <a:gd name="connsiteY6" fmla="*/ 1476401 h 1477990"/>
              <a:gd name="connsiteX7" fmla="*/ 1386857 w 1442437"/>
              <a:gd name="connsiteY7" fmla="*/ 1477990 h 1477990"/>
              <a:gd name="connsiteX8" fmla="*/ 1169378 w 1442437"/>
              <a:gd name="connsiteY8" fmla="*/ 1477990 h 1477990"/>
              <a:gd name="connsiteX9" fmla="*/ 1019262 w 1442437"/>
              <a:gd name="connsiteY9" fmla="*/ 1464424 h 1477990"/>
              <a:gd name="connsiteX10" fmla="*/ 859951 w 1442437"/>
              <a:gd name="connsiteY10" fmla="*/ 1471898 h 1477990"/>
              <a:gd name="connsiteX11" fmla="*/ 745859 w 1442437"/>
              <a:gd name="connsiteY11" fmla="*/ 1477990 h 1477990"/>
              <a:gd name="connsiteX12" fmla="*/ 591014 w 1442437"/>
              <a:gd name="connsiteY12" fmla="*/ 1477990 h 1477990"/>
              <a:gd name="connsiteX13" fmla="*/ 500701 w 1442437"/>
              <a:gd name="connsiteY13" fmla="*/ 1474455 h 1477990"/>
              <a:gd name="connsiteX14" fmla="*/ 234329 w 1442437"/>
              <a:gd name="connsiteY14" fmla="*/ 1468257 h 1477990"/>
              <a:gd name="connsiteX15" fmla="*/ 183687 w 1442437"/>
              <a:gd name="connsiteY15" fmla="*/ 1476228 h 1477990"/>
              <a:gd name="connsiteX16" fmla="*/ 170933 w 1442437"/>
              <a:gd name="connsiteY16" fmla="*/ 1477990 h 1477990"/>
              <a:gd name="connsiteX17" fmla="*/ 13439 w 1442437"/>
              <a:gd name="connsiteY17" fmla="*/ 1477990 h 1477990"/>
              <a:gd name="connsiteX18" fmla="*/ 15316 w 1442437"/>
              <a:gd name="connsiteY18" fmla="*/ 1462749 h 1477990"/>
              <a:gd name="connsiteX19" fmla="*/ 11892 w 1442437"/>
              <a:gd name="connsiteY19" fmla="*/ 1410409 h 1477990"/>
              <a:gd name="connsiteX20" fmla="*/ 6412 w 1442437"/>
              <a:gd name="connsiteY20" fmla="*/ 1244508 h 1477990"/>
              <a:gd name="connsiteX21" fmla="*/ 6850 w 1442437"/>
              <a:gd name="connsiteY21" fmla="*/ 1119455 h 1477990"/>
              <a:gd name="connsiteX22" fmla="*/ 6850 w 1442437"/>
              <a:gd name="connsiteY22" fmla="*/ 1060773 h 1477990"/>
              <a:gd name="connsiteX23" fmla="*/ 9699 w 1442437"/>
              <a:gd name="connsiteY23" fmla="*/ 982321 h 1477990"/>
              <a:gd name="connsiteX24" fmla="*/ 4220 w 1442437"/>
              <a:gd name="connsiteY24" fmla="*/ 947592 h 1477990"/>
              <a:gd name="connsiteX25" fmla="*/ 6904 w 1442437"/>
              <a:gd name="connsiteY25" fmla="*/ 858680 h 1477990"/>
              <a:gd name="connsiteX26" fmla="*/ 9809 w 1442437"/>
              <a:gd name="connsiteY26" fmla="*/ 755960 h 1477990"/>
              <a:gd name="connsiteX27" fmla="*/ 10248 w 1442437"/>
              <a:gd name="connsiteY27" fmla="*/ 673166 h 1477990"/>
              <a:gd name="connsiteX28" fmla="*/ 11453 w 1442437"/>
              <a:gd name="connsiteY28" fmla="*/ 516733 h 1477990"/>
              <a:gd name="connsiteX29" fmla="*/ 10466 w 1442437"/>
              <a:gd name="connsiteY29" fmla="*/ 425571 h 1477990"/>
              <a:gd name="connsiteX30" fmla="*/ 10466 w 1442437"/>
              <a:gd name="connsiteY30" fmla="*/ 216366 h 1477990"/>
              <a:gd name="connsiteX31" fmla="*/ 10796 w 1442437"/>
              <a:gd name="connsiteY31" fmla="*/ 104023 h 1477990"/>
              <a:gd name="connsiteX32" fmla="*/ 3535 w 1442437"/>
              <a:gd name="connsiteY32" fmla="*/ 20936 h 1477990"/>
              <a:gd name="connsiteX33" fmla="*/ 3925 w 1442437"/>
              <a:gd name="connsiteY33" fmla="*/ 8444 h 1477990"/>
              <a:gd name="connsiteX34" fmla="*/ 72292 w 1442437"/>
              <a:gd name="connsiteY34" fmla="*/ 7146 h 1477990"/>
              <a:gd name="connsiteX35" fmla="*/ 231771 w 1442437"/>
              <a:gd name="connsiteY35" fmla="*/ 4001 h 1477990"/>
              <a:gd name="connsiteX36" fmla="*/ 364603 w 1442437"/>
              <a:gd name="connsiteY36" fmla="*/ 11882 h 1477990"/>
              <a:gd name="connsiteX37" fmla="*/ 768234 w 1442437"/>
              <a:gd name="connsiteY37" fmla="*/ 2061 h 1477990"/>
              <a:gd name="connsiteX38" fmla="*/ 866623 w 1442437"/>
              <a:gd name="connsiteY38" fmla="*/ 571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42437" h="1477990">
                <a:moveTo>
                  <a:pt x="866623" y="571"/>
                </a:moveTo>
                <a:cubicBezTo>
                  <a:pt x="899406" y="1673"/>
                  <a:pt x="932137" y="4374"/>
                  <a:pt x="964707" y="8669"/>
                </a:cubicBezTo>
                <a:cubicBezTo>
                  <a:pt x="1013530" y="15823"/>
                  <a:pt x="1062767" y="11397"/>
                  <a:pt x="1111826" y="8366"/>
                </a:cubicBezTo>
                <a:cubicBezTo>
                  <a:pt x="1171217" y="4668"/>
                  <a:pt x="1230548" y="2667"/>
                  <a:pt x="1290056" y="8730"/>
                </a:cubicBezTo>
                <a:cubicBezTo>
                  <a:pt x="1332385" y="13094"/>
                  <a:pt x="1374950" y="9033"/>
                  <a:pt x="1417398" y="6608"/>
                </a:cubicBezTo>
                <a:lnTo>
                  <a:pt x="1442437" y="5718"/>
                </a:lnTo>
                <a:lnTo>
                  <a:pt x="1442437" y="1476401"/>
                </a:lnTo>
                <a:lnTo>
                  <a:pt x="1386857" y="1477990"/>
                </a:lnTo>
                <a:lnTo>
                  <a:pt x="1169378" y="1477990"/>
                </a:lnTo>
                <a:lnTo>
                  <a:pt x="1019262" y="1464424"/>
                </a:lnTo>
                <a:cubicBezTo>
                  <a:pt x="966129" y="1463273"/>
                  <a:pt x="912949" y="1465762"/>
                  <a:pt x="859951" y="1471898"/>
                </a:cubicBezTo>
                <a:lnTo>
                  <a:pt x="745859" y="1477990"/>
                </a:lnTo>
                <a:lnTo>
                  <a:pt x="591014" y="1477990"/>
                </a:lnTo>
                <a:lnTo>
                  <a:pt x="500701" y="1474455"/>
                </a:lnTo>
                <a:cubicBezTo>
                  <a:pt x="412072" y="1467172"/>
                  <a:pt x="323262" y="1461748"/>
                  <a:pt x="234329" y="1468257"/>
                </a:cubicBezTo>
                <a:cubicBezTo>
                  <a:pt x="217302" y="1469536"/>
                  <a:pt x="200487" y="1472964"/>
                  <a:pt x="183687" y="1476228"/>
                </a:cubicBezTo>
                <a:lnTo>
                  <a:pt x="170933" y="1477990"/>
                </a:lnTo>
                <a:lnTo>
                  <a:pt x="13439" y="1477990"/>
                </a:lnTo>
                <a:lnTo>
                  <a:pt x="15316" y="1462749"/>
                </a:lnTo>
                <a:cubicBezTo>
                  <a:pt x="16577" y="1445267"/>
                  <a:pt x="16193" y="1427772"/>
                  <a:pt x="11892" y="1410409"/>
                </a:cubicBezTo>
                <a:cubicBezTo>
                  <a:pt x="-1808" y="1355230"/>
                  <a:pt x="932" y="1300104"/>
                  <a:pt x="6412" y="1244508"/>
                </a:cubicBezTo>
                <a:cubicBezTo>
                  <a:pt x="10522" y="1203137"/>
                  <a:pt x="15070" y="1161296"/>
                  <a:pt x="6850" y="1119455"/>
                </a:cubicBezTo>
                <a:cubicBezTo>
                  <a:pt x="3316" y="1100041"/>
                  <a:pt x="3316" y="1080187"/>
                  <a:pt x="6850" y="1060773"/>
                </a:cubicBezTo>
                <a:cubicBezTo>
                  <a:pt x="11124" y="1034622"/>
                  <a:pt x="15179" y="1008733"/>
                  <a:pt x="9699" y="982321"/>
                </a:cubicBezTo>
                <a:cubicBezTo>
                  <a:pt x="7289" y="970815"/>
                  <a:pt x="5481" y="959204"/>
                  <a:pt x="4220" y="947592"/>
                </a:cubicBezTo>
                <a:cubicBezTo>
                  <a:pt x="1710" y="917948"/>
                  <a:pt x="2609" y="888136"/>
                  <a:pt x="6904" y="858680"/>
                </a:cubicBezTo>
                <a:cubicBezTo>
                  <a:pt x="11015" y="824475"/>
                  <a:pt x="4329" y="790061"/>
                  <a:pt x="9809" y="755960"/>
                </a:cubicBezTo>
                <a:cubicBezTo>
                  <a:pt x="13700" y="728497"/>
                  <a:pt x="13848" y="700667"/>
                  <a:pt x="10248" y="673166"/>
                </a:cubicBezTo>
                <a:cubicBezTo>
                  <a:pt x="3770" y="621179"/>
                  <a:pt x="4175" y="568621"/>
                  <a:pt x="11453" y="516733"/>
                </a:cubicBezTo>
                <a:cubicBezTo>
                  <a:pt x="15947" y="486450"/>
                  <a:pt x="18522" y="455279"/>
                  <a:pt x="10466" y="425571"/>
                </a:cubicBezTo>
                <a:cubicBezTo>
                  <a:pt x="-8494" y="355749"/>
                  <a:pt x="2576" y="285822"/>
                  <a:pt x="10466" y="216366"/>
                </a:cubicBezTo>
                <a:cubicBezTo>
                  <a:pt x="15262" y="179065"/>
                  <a:pt x="15371" y="141350"/>
                  <a:pt x="10796" y="104023"/>
                </a:cubicBezTo>
                <a:cubicBezTo>
                  <a:pt x="6735" y="76457"/>
                  <a:pt x="4313" y="48717"/>
                  <a:pt x="3535" y="20936"/>
                </a:cubicBezTo>
                <a:lnTo>
                  <a:pt x="3925" y="8444"/>
                </a:lnTo>
                <a:lnTo>
                  <a:pt x="72292" y="7146"/>
                </a:lnTo>
                <a:cubicBezTo>
                  <a:pt x="125550" y="5562"/>
                  <a:pt x="178728" y="3395"/>
                  <a:pt x="231771" y="4001"/>
                </a:cubicBezTo>
                <a:cubicBezTo>
                  <a:pt x="276049" y="4486"/>
                  <a:pt x="320208" y="13579"/>
                  <a:pt x="364603" y="11882"/>
                </a:cubicBezTo>
                <a:cubicBezTo>
                  <a:pt x="499147" y="6911"/>
                  <a:pt x="633750" y="8548"/>
                  <a:pt x="768234" y="2061"/>
                </a:cubicBezTo>
                <a:cubicBezTo>
                  <a:pt x="801008" y="-37"/>
                  <a:pt x="833841" y="-532"/>
                  <a:pt x="866623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B03F1E7-A2BE-4059-85FC-6546945FA3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0488" y="3064916"/>
            <a:ext cx="1455507" cy="1477990"/>
          </a:xfrm>
          <a:custGeom>
            <a:avLst/>
            <a:gdLst>
              <a:gd name="connsiteX0" fmla="*/ 100458 w 1455507"/>
              <a:gd name="connsiteY0" fmla="*/ 0 h 1477990"/>
              <a:gd name="connsiteX1" fmla="*/ 258284 w 1455507"/>
              <a:gd name="connsiteY1" fmla="*/ 0 h 1477990"/>
              <a:gd name="connsiteX2" fmla="*/ 290610 w 1455507"/>
              <a:gd name="connsiteY2" fmla="*/ 2318 h 1477990"/>
              <a:gd name="connsiteX3" fmla="*/ 357070 w 1455507"/>
              <a:gd name="connsiteY3" fmla="*/ 5440 h 1477990"/>
              <a:gd name="connsiteX4" fmla="*/ 558908 w 1455507"/>
              <a:gd name="connsiteY4" fmla="*/ 1098 h 1477990"/>
              <a:gd name="connsiteX5" fmla="*/ 599348 w 1455507"/>
              <a:gd name="connsiteY5" fmla="*/ 0 h 1477990"/>
              <a:gd name="connsiteX6" fmla="*/ 930201 w 1455507"/>
              <a:gd name="connsiteY6" fmla="*/ 0 h 1477990"/>
              <a:gd name="connsiteX7" fmla="*/ 957174 w 1455507"/>
              <a:gd name="connsiteY7" fmla="*/ 2227 h 1477990"/>
              <a:gd name="connsiteX8" fmla="*/ 1104293 w 1455507"/>
              <a:gd name="connsiteY8" fmla="*/ 1924 h 1477990"/>
              <a:gd name="connsiteX9" fmla="*/ 1153561 w 1455507"/>
              <a:gd name="connsiteY9" fmla="*/ 0 h 1477990"/>
              <a:gd name="connsiteX10" fmla="*/ 1229432 w 1455507"/>
              <a:gd name="connsiteY10" fmla="*/ 0 h 1477990"/>
              <a:gd name="connsiteX11" fmla="*/ 1282523 w 1455507"/>
              <a:gd name="connsiteY11" fmla="*/ 2288 h 1477990"/>
              <a:gd name="connsiteX12" fmla="*/ 1409865 w 1455507"/>
              <a:gd name="connsiteY12" fmla="*/ 166 h 1477990"/>
              <a:gd name="connsiteX13" fmla="*/ 1414535 w 1455507"/>
              <a:gd name="connsiteY13" fmla="*/ 0 h 1477990"/>
              <a:gd name="connsiteX14" fmla="*/ 1446877 w 1455507"/>
              <a:gd name="connsiteY14" fmla="*/ 0 h 1477990"/>
              <a:gd name="connsiteX15" fmla="*/ 1441986 w 1455507"/>
              <a:gd name="connsiteY15" fmla="*/ 87863 h 1477990"/>
              <a:gd name="connsiteX16" fmla="*/ 1446522 w 1455507"/>
              <a:gd name="connsiteY16" fmla="*/ 192281 h 1477990"/>
              <a:gd name="connsiteX17" fmla="*/ 1449083 w 1455507"/>
              <a:gd name="connsiteY17" fmla="*/ 384757 h 1477990"/>
              <a:gd name="connsiteX18" fmla="*/ 1445075 w 1455507"/>
              <a:gd name="connsiteY18" fmla="*/ 558660 h 1477990"/>
              <a:gd name="connsiteX19" fmla="*/ 1453480 w 1455507"/>
              <a:gd name="connsiteY19" fmla="*/ 618392 h 1477990"/>
              <a:gd name="connsiteX20" fmla="*/ 1443851 w 1455507"/>
              <a:gd name="connsiteY20" fmla="*/ 900580 h 1477990"/>
              <a:gd name="connsiteX21" fmla="*/ 1445131 w 1455507"/>
              <a:gd name="connsiteY21" fmla="*/ 1003252 h 1477990"/>
              <a:gd name="connsiteX22" fmla="*/ 1448470 w 1455507"/>
              <a:gd name="connsiteY22" fmla="*/ 1090546 h 1477990"/>
              <a:gd name="connsiteX23" fmla="*/ 1446188 w 1455507"/>
              <a:gd name="connsiteY23" fmla="*/ 1168120 h 1477990"/>
              <a:gd name="connsiteX24" fmla="*/ 1454190 w 1455507"/>
              <a:gd name="connsiteY24" fmla="*/ 1273576 h 1477990"/>
              <a:gd name="connsiteX25" fmla="*/ 1455507 w 1455507"/>
              <a:gd name="connsiteY25" fmla="*/ 1324327 h 1477990"/>
              <a:gd name="connsiteX26" fmla="*/ 1455507 w 1455507"/>
              <a:gd name="connsiteY26" fmla="*/ 1427362 h 1477990"/>
              <a:gd name="connsiteX27" fmla="*/ 1451365 w 1455507"/>
              <a:gd name="connsiteY27" fmla="*/ 1465458 h 1477990"/>
              <a:gd name="connsiteX28" fmla="*/ 1450774 w 1455507"/>
              <a:gd name="connsiteY28" fmla="*/ 1469667 h 1477990"/>
              <a:gd name="connsiteX29" fmla="*/ 1448719 w 1455507"/>
              <a:gd name="connsiteY29" fmla="*/ 1469564 h 1477990"/>
              <a:gd name="connsiteX30" fmla="*/ 1351167 w 1455507"/>
              <a:gd name="connsiteY30" fmla="*/ 1472353 h 1477990"/>
              <a:gd name="connsiteX31" fmla="*/ 1170753 w 1455507"/>
              <a:gd name="connsiteY31" fmla="*/ 1472353 h 1477990"/>
              <a:gd name="connsiteX32" fmla="*/ 852418 w 1455507"/>
              <a:gd name="connsiteY32" fmla="*/ 1465456 h 1477990"/>
              <a:gd name="connsiteX33" fmla="*/ 493168 w 1455507"/>
              <a:gd name="connsiteY33" fmla="*/ 1468013 h 1477990"/>
              <a:gd name="connsiteX34" fmla="*/ 226796 w 1455507"/>
              <a:gd name="connsiteY34" fmla="*/ 1461815 h 1477990"/>
              <a:gd name="connsiteX35" fmla="*/ 125602 w 1455507"/>
              <a:gd name="connsiteY35" fmla="*/ 1476769 h 1477990"/>
              <a:gd name="connsiteX36" fmla="*/ 5112 w 1455507"/>
              <a:gd name="connsiteY36" fmla="*/ 1477990 h 1477990"/>
              <a:gd name="connsiteX37" fmla="*/ 7783 w 1455507"/>
              <a:gd name="connsiteY37" fmla="*/ 1456307 h 1477990"/>
              <a:gd name="connsiteX38" fmla="*/ 4359 w 1455507"/>
              <a:gd name="connsiteY38" fmla="*/ 1403967 h 1477990"/>
              <a:gd name="connsiteX39" fmla="*/ 295 w 1455507"/>
              <a:gd name="connsiteY39" fmla="*/ 1370091 h 1477990"/>
              <a:gd name="connsiteX40" fmla="*/ 295 w 1455507"/>
              <a:gd name="connsiteY40" fmla="*/ 1219835 h 1477990"/>
              <a:gd name="connsiteX41" fmla="*/ 3722 w 1455507"/>
              <a:gd name="connsiteY41" fmla="*/ 1175716 h 1477990"/>
              <a:gd name="connsiteX42" fmla="*/ 295 w 1455507"/>
              <a:gd name="connsiteY42" fmla="*/ 1126935 h 1477990"/>
              <a:gd name="connsiteX43" fmla="*/ 295 w 1455507"/>
              <a:gd name="connsiteY43" fmla="*/ 1046801 h 1477990"/>
              <a:gd name="connsiteX44" fmla="*/ 4400 w 1455507"/>
              <a:gd name="connsiteY44" fmla="*/ 1015203 h 1477990"/>
              <a:gd name="connsiteX45" fmla="*/ 2166 w 1455507"/>
              <a:gd name="connsiteY45" fmla="*/ 975879 h 1477990"/>
              <a:gd name="connsiteX46" fmla="*/ 295 w 1455507"/>
              <a:gd name="connsiteY46" fmla="*/ 964020 h 1477990"/>
              <a:gd name="connsiteX47" fmla="*/ 295 w 1455507"/>
              <a:gd name="connsiteY47" fmla="*/ 801667 h 1477990"/>
              <a:gd name="connsiteX48" fmla="*/ 310 w 1455507"/>
              <a:gd name="connsiteY48" fmla="*/ 800839 h 1477990"/>
              <a:gd name="connsiteX49" fmla="*/ 2276 w 1455507"/>
              <a:gd name="connsiteY49" fmla="*/ 749518 h 1477990"/>
              <a:gd name="connsiteX50" fmla="*/ 2715 w 1455507"/>
              <a:gd name="connsiteY50" fmla="*/ 666724 h 1477990"/>
              <a:gd name="connsiteX51" fmla="*/ 295 w 1455507"/>
              <a:gd name="connsiteY51" fmla="*/ 625158 h 1477990"/>
              <a:gd name="connsiteX52" fmla="*/ 295 w 1455507"/>
              <a:gd name="connsiteY52" fmla="*/ 559484 h 1477990"/>
              <a:gd name="connsiteX53" fmla="*/ 3920 w 1455507"/>
              <a:gd name="connsiteY53" fmla="*/ 510291 h 1477990"/>
              <a:gd name="connsiteX54" fmla="*/ 2933 w 1455507"/>
              <a:gd name="connsiteY54" fmla="*/ 419129 h 1477990"/>
              <a:gd name="connsiteX55" fmla="*/ 295 w 1455507"/>
              <a:gd name="connsiteY55" fmla="*/ 403959 h 1477990"/>
              <a:gd name="connsiteX56" fmla="*/ 295 w 1455507"/>
              <a:gd name="connsiteY56" fmla="*/ 237294 h 1477990"/>
              <a:gd name="connsiteX57" fmla="*/ 2933 w 1455507"/>
              <a:gd name="connsiteY57" fmla="*/ 209924 h 1477990"/>
              <a:gd name="connsiteX58" fmla="*/ 3263 w 1455507"/>
              <a:gd name="connsiteY58" fmla="*/ 97581 h 1477990"/>
              <a:gd name="connsiteX59" fmla="*/ 295 w 1455507"/>
              <a:gd name="connsiteY59" fmla="*/ 63619 h 1477990"/>
              <a:gd name="connsiteX60" fmla="*/ 295 w 1455507"/>
              <a:gd name="connsiteY60" fmla="*/ 1928 h 1477990"/>
              <a:gd name="connsiteX61" fmla="*/ 64759 w 1455507"/>
              <a:gd name="connsiteY61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55507" h="1477990">
                <a:moveTo>
                  <a:pt x="100458" y="0"/>
                </a:moveTo>
                <a:lnTo>
                  <a:pt x="258284" y="0"/>
                </a:lnTo>
                <a:lnTo>
                  <a:pt x="290610" y="2318"/>
                </a:lnTo>
                <a:cubicBezTo>
                  <a:pt x="312734" y="4440"/>
                  <a:pt x="334873" y="6289"/>
                  <a:pt x="357070" y="5440"/>
                </a:cubicBezTo>
                <a:cubicBezTo>
                  <a:pt x="424342" y="2955"/>
                  <a:pt x="491629" y="2121"/>
                  <a:pt x="558908" y="1098"/>
                </a:cubicBezTo>
                <a:lnTo>
                  <a:pt x="599348" y="0"/>
                </a:lnTo>
                <a:lnTo>
                  <a:pt x="930201" y="0"/>
                </a:lnTo>
                <a:lnTo>
                  <a:pt x="957174" y="2227"/>
                </a:lnTo>
                <a:cubicBezTo>
                  <a:pt x="1005997" y="9381"/>
                  <a:pt x="1055234" y="4955"/>
                  <a:pt x="1104293" y="1924"/>
                </a:cubicBezTo>
                <a:lnTo>
                  <a:pt x="1153561" y="0"/>
                </a:lnTo>
                <a:lnTo>
                  <a:pt x="1229432" y="0"/>
                </a:lnTo>
                <a:lnTo>
                  <a:pt x="1282523" y="2288"/>
                </a:lnTo>
                <a:cubicBezTo>
                  <a:pt x="1324852" y="6652"/>
                  <a:pt x="1367417" y="2591"/>
                  <a:pt x="1409865" y="166"/>
                </a:cubicBezTo>
                <a:lnTo>
                  <a:pt x="1414535" y="0"/>
                </a:lnTo>
                <a:lnTo>
                  <a:pt x="1446877" y="0"/>
                </a:lnTo>
                <a:lnTo>
                  <a:pt x="1441986" y="87863"/>
                </a:lnTo>
                <a:cubicBezTo>
                  <a:pt x="1441527" y="122692"/>
                  <a:pt x="1442793" y="157509"/>
                  <a:pt x="1446522" y="192281"/>
                </a:cubicBezTo>
                <a:cubicBezTo>
                  <a:pt x="1452467" y="256325"/>
                  <a:pt x="1453324" y="320620"/>
                  <a:pt x="1449083" y="384757"/>
                </a:cubicBezTo>
                <a:cubicBezTo>
                  <a:pt x="1446133" y="442709"/>
                  <a:pt x="1438896" y="500570"/>
                  <a:pt x="1445075" y="558660"/>
                </a:cubicBezTo>
                <a:cubicBezTo>
                  <a:pt x="1447190" y="578647"/>
                  <a:pt x="1452311" y="598268"/>
                  <a:pt x="1453480" y="618392"/>
                </a:cubicBezTo>
                <a:cubicBezTo>
                  <a:pt x="1459046" y="712668"/>
                  <a:pt x="1450697" y="806624"/>
                  <a:pt x="1443851" y="900580"/>
                </a:cubicBezTo>
                <a:cubicBezTo>
                  <a:pt x="1441346" y="934804"/>
                  <a:pt x="1438284" y="969028"/>
                  <a:pt x="1445131" y="1003252"/>
                </a:cubicBezTo>
                <a:cubicBezTo>
                  <a:pt x="1450558" y="1032132"/>
                  <a:pt x="1451677" y="1061447"/>
                  <a:pt x="1448470" y="1090546"/>
                </a:cubicBezTo>
                <a:cubicBezTo>
                  <a:pt x="1445264" y="1116318"/>
                  <a:pt x="1444502" y="1142251"/>
                  <a:pt x="1446188" y="1168120"/>
                </a:cubicBezTo>
                <a:cubicBezTo>
                  <a:pt x="1449667" y="1203257"/>
                  <a:pt x="1452367" y="1238405"/>
                  <a:pt x="1454190" y="1273576"/>
                </a:cubicBezTo>
                <a:lnTo>
                  <a:pt x="1455507" y="1324327"/>
                </a:lnTo>
                <a:lnTo>
                  <a:pt x="1455507" y="1427362"/>
                </a:lnTo>
                <a:lnTo>
                  <a:pt x="1451365" y="1465458"/>
                </a:lnTo>
                <a:lnTo>
                  <a:pt x="1450774" y="1469667"/>
                </a:lnTo>
                <a:lnTo>
                  <a:pt x="1448719" y="1469564"/>
                </a:lnTo>
                <a:cubicBezTo>
                  <a:pt x="1416243" y="1471268"/>
                  <a:pt x="1383704" y="1471810"/>
                  <a:pt x="1351167" y="1472353"/>
                </a:cubicBezTo>
                <a:cubicBezTo>
                  <a:pt x="1291009" y="1473360"/>
                  <a:pt x="1230608" y="1482658"/>
                  <a:pt x="1170753" y="1472353"/>
                </a:cubicBezTo>
                <a:cubicBezTo>
                  <a:pt x="1065139" y="1455500"/>
                  <a:pt x="958414" y="1453183"/>
                  <a:pt x="852418" y="1465456"/>
                </a:cubicBezTo>
                <a:cubicBezTo>
                  <a:pt x="732873" y="1477389"/>
                  <a:pt x="612811" y="1478242"/>
                  <a:pt x="493168" y="1468013"/>
                </a:cubicBezTo>
                <a:cubicBezTo>
                  <a:pt x="404539" y="1460730"/>
                  <a:pt x="315729" y="1455306"/>
                  <a:pt x="226796" y="1461815"/>
                </a:cubicBezTo>
                <a:cubicBezTo>
                  <a:pt x="192742" y="1464372"/>
                  <a:pt x="159536" y="1475530"/>
                  <a:pt x="125602" y="1476769"/>
                </a:cubicBezTo>
                <a:lnTo>
                  <a:pt x="5112" y="1477990"/>
                </a:lnTo>
                <a:lnTo>
                  <a:pt x="7783" y="1456307"/>
                </a:lnTo>
                <a:cubicBezTo>
                  <a:pt x="9044" y="1438825"/>
                  <a:pt x="8660" y="1421330"/>
                  <a:pt x="4359" y="1403967"/>
                </a:cubicBezTo>
                <a:lnTo>
                  <a:pt x="295" y="1370091"/>
                </a:lnTo>
                <a:lnTo>
                  <a:pt x="295" y="1219835"/>
                </a:lnTo>
                <a:lnTo>
                  <a:pt x="3722" y="1175716"/>
                </a:lnTo>
                <a:lnTo>
                  <a:pt x="295" y="1126935"/>
                </a:lnTo>
                <a:lnTo>
                  <a:pt x="295" y="1046801"/>
                </a:lnTo>
                <a:lnTo>
                  <a:pt x="4400" y="1015203"/>
                </a:lnTo>
                <a:cubicBezTo>
                  <a:pt x="5263" y="1002160"/>
                  <a:pt x="4906" y="989085"/>
                  <a:pt x="2166" y="975879"/>
                </a:cubicBezTo>
                <a:lnTo>
                  <a:pt x="295" y="964020"/>
                </a:lnTo>
                <a:lnTo>
                  <a:pt x="295" y="801667"/>
                </a:lnTo>
                <a:lnTo>
                  <a:pt x="310" y="800839"/>
                </a:lnTo>
                <a:cubicBezTo>
                  <a:pt x="-163" y="783697"/>
                  <a:pt x="-464" y="766569"/>
                  <a:pt x="2276" y="749518"/>
                </a:cubicBezTo>
                <a:cubicBezTo>
                  <a:pt x="6167" y="722055"/>
                  <a:pt x="6315" y="694225"/>
                  <a:pt x="2715" y="666724"/>
                </a:cubicBezTo>
                <a:lnTo>
                  <a:pt x="295" y="625158"/>
                </a:lnTo>
                <a:lnTo>
                  <a:pt x="295" y="559484"/>
                </a:lnTo>
                <a:lnTo>
                  <a:pt x="3920" y="510291"/>
                </a:lnTo>
                <a:cubicBezTo>
                  <a:pt x="8414" y="480008"/>
                  <a:pt x="10989" y="448837"/>
                  <a:pt x="2933" y="419129"/>
                </a:cubicBezTo>
                <a:lnTo>
                  <a:pt x="295" y="403959"/>
                </a:lnTo>
                <a:lnTo>
                  <a:pt x="295" y="237294"/>
                </a:lnTo>
                <a:lnTo>
                  <a:pt x="2933" y="209924"/>
                </a:lnTo>
                <a:cubicBezTo>
                  <a:pt x="7729" y="172623"/>
                  <a:pt x="7838" y="134908"/>
                  <a:pt x="3263" y="97581"/>
                </a:cubicBezTo>
                <a:lnTo>
                  <a:pt x="295" y="63619"/>
                </a:lnTo>
                <a:lnTo>
                  <a:pt x="295" y="1928"/>
                </a:lnTo>
                <a:lnTo>
                  <a:pt x="64759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62C212D-2434-4610-A983-7FC587B51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9627" y="3064916"/>
            <a:ext cx="1447216" cy="1477990"/>
          </a:xfrm>
          <a:custGeom>
            <a:avLst/>
            <a:gdLst>
              <a:gd name="connsiteX0" fmla="*/ 107991 w 1447216"/>
              <a:gd name="connsiteY0" fmla="*/ 0 h 1477990"/>
              <a:gd name="connsiteX1" fmla="*/ 265817 w 1447216"/>
              <a:gd name="connsiteY1" fmla="*/ 0 h 1477990"/>
              <a:gd name="connsiteX2" fmla="*/ 298143 w 1447216"/>
              <a:gd name="connsiteY2" fmla="*/ 2318 h 1477990"/>
              <a:gd name="connsiteX3" fmla="*/ 364603 w 1447216"/>
              <a:gd name="connsiteY3" fmla="*/ 5440 h 1477990"/>
              <a:gd name="connsiteX4" fmla="*/ 566441 w 1447216"/>
              <a:gd name="connsiteY4" fmla="*/ 1098 h 1477990"/>
              <a:gd name="connsiteX5" fmla="*/ 606880 w 1447216"/>
              <a:gd name="connsiteY5" fmla="*/ 0 h 1477990"/>
              <a:gd name="connsiteX6" fmla="*/ 937733 w 1447216"/>
              <a:gd name="connsiteY6" fmla="*/ 0 h 1477990"/>
              <a:gd name="connsiteX7" fmla="*/ 964707 w 1447216"/>
              <a:gd name="connsiteY7" fmla="*/ 2227 h 1477990"/>
              <a:gd name="connsiteX8" fmla="*/ 1111826 w 1447216"/>
              <a:gd name="connsiteY8" fmla="*/ 1924 h 1477990"/>
              <a:gd name="connsiteX9" fmla="*/ 1161094 w 1447216"/>
              <a:gd name="connsiteY9" fmla="*/ 0 h 1477990"/>
              <a:gd name="connsiteX10" fmla="*/ 1236965 w 1447216"/>
              <a:gd name="connsiteY10" fmla="*/ 0 h 1477990"/>
              <a:gd name="connsiteX11" fmla="*/ 1290056 w 1447216"/>
              <a:gd name="connsiteY11" fmla="*/ 2288 h 1477990"/>
              <a:gd name="connsiteX12" fmla="*/ 1417398 w 1447216"/>
              <a:gd name="connsiteY12" fmla="*/ 166 h 1477990"/>
              <a:gd name="connsiteX13" fmla="*/ 1422068 w 1447216"/>
              <a:gd name="connsiteY13" fmla="*/ 0 h 1477990"/>
              <a:gd name="connsiteX14" fmla="*/ 1447216 w 1447216"/>
              <a:gd name="connsiteY14" fmla="*/ 0 h 1477990"/>
              <a:gd name="connsiteX15" fmla="*/ 1447216 w 1447216"/>
              <a:gd name="connsiteY15" fmla="*/ 1469823 h 1477990"/>
              <a:gd name="connsiteX16" fmla="*/ 1358700 w 1447216"/>
              <a:gd name="connsiteY16" fmla="*/ 1472353 h 1477990"/>
              <a:gd name="connsiteX17" fmla="*/ 1178286 w 1447216"/>
              <a:gd name="connsiteY17" fmla="*/ 1472353 h 1477990"/>
              <a:gd name="connsiteX18" fmla="*/ 859951 w 1447216"/>
              <a:gd name="connsiteY18" fmla="*/ 1465456 h 1477990"/>
              <a:gd name="connsiteX19" fmla="*/ 500701 w 1447216"/>
              <a:gd name="connsiteY19" fmla="*/ 1468013 h 1477990"/>
              <a:gd name="connsiteX20" fmla="*/ 234329 w 1447216"/>
              <a:gd name="connsiteY20" fmla="*/ 1461815 h 1477990"/>
              <a:gd name="connsiteX21" fmla="*/ 133135 w 1447216"/>
              <a:gd name="connsiteY21" fmla="*/ 1476769 h 1477990"/>
              <a:gd name="connsiteX22" fmla="*/ 12645 w 1447216"/>
              <a:gd name="connsiteY22" fmla="*/ 1477990 h 1477990"/>
              <a:gd name="connsiteX23" fmla="*/ 15316 w 1447216"/>
              <a:gd name="connsiteY23" fmla="*/ 1456307 h 1477990"/>
              <a:gd name="connsiteX24" fmla="*/ 11892 w 1447216"/>
              <a:gd name="connsiteY24" fmla="*/ 1403967 h 1477990"/>
              <a:gd name="connsiteX25" fmla="*/ 6412 w 1447216"/>
              <a:gd name="connsiteY25" fmla="*/ 1238066 h 1477990"/>
              <a:gd name="connsiteX26" fmla="*/ 6850 w 1447216"/>
              <a:gd name="connsiteY26" fmla="*/ 1113013 h 1477990"/>
              <a:gd name="connsiteX27" fmla="*/ 6850 w 1447216"/>
              <a:gd name="connsiteY27" fmla="*/ 1054331 h 1477990"/>
              <a:gd name="connsiteX28" fmla="*/ 9699 w 1447216"/>
              <a:gd name="connsiteY28" fmla="*/ 975879 h 1477990"/>
              <a:gd name="connsiteX29" fmla="*/ 4220 w 1447216"/>
              <a:gd name="connsiteY29" fmla="*/ 941150 h 1477990"/>
              <a:gd name="connsiteX30" fmla="*/ 6904 w 1447216"/>
              <a:gd name="connsiteY30" fmla="*/ 852238 h 1477990"/>
              <a:gd name="connsiteX31" fmla="*/ 9809 w 1447216"/>
              <a:gd name="connsiteY31" fmla="*/ 749518 h 1477990"/>
              <a:gd name="connsiteX32" fmla="*/ 10248 w 1447216"/>
              <a:gd name="connsiteY32" fmla="*/ 666724 h 1477990"/>
              <a:gd name="connsiteX33" fmla="*/ 11453 w 1447216"/>
              <a:gd name="connsiteY33" fmla="*/ 510291 h 1477990"/>
              <a:gd name="connsiteX34" fmla="*/ 10466 w 1447216"/>
              <a:gd name="connsiteY34" fmla="*/ 419129 h 1477990"/>
              <a:gd name="connsiteX35" fmla="*/ 10466 w 1447216"/>
              <a:gd name="connsiteY35" fmla="*/ 209924 h 1477990"/>
              <a:gd name="connsiteX36" fmla="*/ 10796 w 1447216"/>
              <a:gd name="connsiteY36" fmla="*/ 97581 h 1477990"/>
              <a:gd name="connsiteX37" fmla="*/ 3535 w 1447216"/>
              <a:gd name="connsiteY37" fmla="*/ 14494 h 1477990"/>
              <a:gd name="connsiteX38" fmla="*/ 3925 w 1447216"/>
              <a:gd name="connsiteY38" fmla="*/ 2002 h 1477990"/>
              <a:gd name="connsiteX39" fmla="*/ 72292 w 1447216"/>
              <a:gd name="connsiteY39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7216" h="1477990">
                <a:moveTo>
                  <a:pt x="107991" y="0"/>
                </a:moveTo>
                <a:lnTo>
                  <a:pt x="265817" y="0"/>
                </a:lnTo>
                <a:lnTo>
                  <a:pt x="298143" y="2318"/>
                </a:lnTo>
                <a:cubicBezTo>
                  <a:pt x="320267" y="4440"/>
                  <a:pt x="342406" y="6289"/>
                  <a:pt x="364603" y="5440"/>
                </a:cubicBezTo>
                <a:cubicBezTo>
                  <a:pt x="431875" y="2955"/>
                  <a:pt x="499162" y="2121"/>
                  <a:pt x="566441" y="1098"/>
                </a:cubicBezTo>
                <a:lnTo>
                  <a:pt x="606880" y="0"/>
                </a:lnTo>
                <a:lnTo>
                  <a:pt x="937733" y="0"/>
                </a:lnTo>
                <a:lnTo>
                  <a:pt x="964707" y="2227"/>
                </a:lnTo>
                <a:cubicBezTo>
                  <a:pt x="1013530" y="9381"/>
                  <a:pt x="1062767" y="4955"/>
                  <a:pt x="1111826" y="1924"/>
                </a:cubicBezTo>
                <a:lnTo>
                  <a:pt x="1161094" y="0"/>
                </a:lnTo>
                <a:lnTo>
                  <a:pt x="1236965" y="0"/>
                </a:lnTo>
                <a:lnTo>
                  <a:pt x="1290056" y="2288"/>
                </a:lnTo>
                <a:cubicBezTo>
                  <a:pt x="1332385" y="6652"/>
                  <a:pt x="1374950" y="2591"/>
                  <a:pt x="1417398" y="166"/>
                </a:cubicBezTo>
                <a:lnTo>
                  <a:pt x="1422068" y="0"/>
                </a:lnTo>
                <a:lnTo>
                  <a:pt x="1447216" y="0"/>
                </a:lnTo>
                <a:lnTo>
                  <a:pt x="1447216" y="1469823"/>
                </a:lnTo>
                <a:lnTo>
                  <a:pt x="1358700" y="1472353"/>
                </a:lnTo>
                <a:cubicBezTo>
                  <a:pt x="1298542" y="1473360"/>
                  <a:pt x="1238141" y="1482658"/>
                  <a:pt x="1178286" y="1472353"/>
                </a:cubicBezTo>
                <a:cubicBezTo>
                  <a:pt x="1072672" y="1455500"/>
                  <a:pt x="965947" y="1453183"/>
                  <a:pt x="859951" y="1465456"/>
                </a:cubicBezTo>
                <a:cubicBezTo>
                  <a:pt x="740406" y="1477389"/>
                  <a:pt x="620344" y="1478242"/>
                  <a:pt x="500701" y="1468013"/>
                </a:cubicBezTo>
                <a:cubicBezTo>
                  <a:pt x="412072" y="1460730"/>
                  <a:pt x="323262" y="1455306"/>
                  <a:pt x="234329" y="1461815"/>
                </a:cubicBezTo>
                <a:cubicBezTo>
                  <a:pt x="200275" y="1464372"/>
                  <a:pt x="167069" y="1475530"/>
                  <a:pt x="133135" y="1476769"/>
                </a:cubicBezTo>
                <a:lnTo>
                  <a:pt x="12645" y="1477990"/>
                </a:lnTo>
                <a:lnTo>
                  <a:pt x="15316" y="1456307"/>
                </a:lnTo>
                <a:cubicBezTo>
                  <a:pt x="16577" y="1438825"/>
                  <a:pt x="16193" y="1421330"/>
                  <a:pt x="11892" y="1403967"/>
                </a:cubicBezTo>
                <a:cubicBezTo>
                  <a:pt x="-1808" y="1348788"/>
                  <a:pt x="932" y="1293662"/>
                  <a:pt x="6412" y="1238066"/>
                </a:cubicBezTo>
                <a:cubicBezTo>
                  <a:pt x="10522" y="1196695"/>
                  <a:pt x="15070" y="1154854"/>
                  <a:pt x="6850" y="1113013"/>
                </a:cubicBezTo>
                <a:cubicBezTo>
                  <a:pt x="3316" y="1093599"/>
                  <a:pt x="3316" y="1073745"/>
                  <a:pt x="6850" y="1054331"/>
                </a:cubicBezTo>
                <a:cubicBezTo>
                  <a:pt x="11124" y="1028180"/>
                  <a:pt x="15179" y="1002291"/>
                  <a:pt x="9699" y="975879"/>
                </a:cubicBezTo>
                <a:cubicBezTo>
                  <a:pt x="7289" y="964373"/>
                  <a:pt x="5481" y="952762"/>
                  <a:pt x="4220" y="941150"/>
                </a:cubicBezTo>
                <a:cubicBezTo>
                  <a:pt x="1710" y="911506"/>
                  <a:pt x="2609" y="881694"/>
                  <a:pt x="6904" y="852238"/>
                </a:cubicBezTo>
                <a:cubicBezTo>
                  <a:pt x="11015" y="818033"/>
                  <a:pt x="4329" y="783619"/>
                  <a:pt x="9809" y="749518"/>
                </a:cubicBezTo>
                <a:cubicBezTo>
                  <a:pt x="13700" y="722055"/>
                  <a:pt x="13848" y="694225"/>
                  <a:pt x="10248" y="666724"/>
                </a:cubicBezTo>
                <a:cubicBezTo>
                  <a:pt x="3770" y="614737"/>
                  <a:pt x="4175" y="562179"/>
                  <a:pt x="11453" y="510291"/>
                </a:cubicBezTo>
                <a:cubicBezTo>
                  <a:pt x="15947" y="480008"/>
                  <a:pt x="18522" y="448837"/>
                  <a:pt x="10466" y="419129"/>
                </a:cubicBezTo>
                <a:cubicBezTo>
                  <a:pt x="-8494" y="349307"/>
                  <a:pt x="2576" y="279380"/>
                  <a:pt x="10466" y="209924"/>
                </a:cubicBezTo>
                <a:cubicBezTo>
                  <a:pt x="15262" y="172623"/>
                  <a:pt x="15371" y="134908"/>
                  <a:pt x="10796" y="97581"/>
                </a:cubicBezTo>
                <a:cubicBezTo>
                  <a:pt x="6735" y="70015"/>
                  <a:pt x="4313" y="42275"/>
                  <a:pt x="3535" y="14494"/>
                </a:cubicBezTo>
                <a:lnTo>
                  <a:pt x="3925" y="2002"/>
                </a:lnTo>
                <a:lnTo>
                  <a:pt x="72292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959C17-53EC-4A48-8276-E73A5CF125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4" y="3058476"/>
            <a:ext cx="1463039" cy="1484431"/>
          </a:xfrm>
          <a:custGeom>
            <a:avLst/>
            <a:gdLst>
              <a:gd name="connsiteX0" fmla="*/ 866623 w 1463039"/>
              <a:gd name="connsiteY0" fmla="*/ 570 h 1484431"/>
              <a:gd name="connsiteX1" fmla="*/ 964707 w 1463039"/>
              <a:gd name="connsiteY1" fmla="*/ 8668 h 1484431"/>
              <a:gd name="connsiteX2" fmla="*/ 1111826 w 1463039"/>
              <a:gd name="connsiteY2" fmla="*/ 8365 h 1484431"/>
              <a:gd name="connsiteX3" fmla="*/ 1290056 w 1463039"/>
              <a:gd name="connsiteY3" fmla="*/ 8729 h 1484431"/>
              <a:gd name="connsiteX4" fmla="*/ 1417398 w 1463039"/>
              <a:gd name="connsiteY4" fmla="*/ 6607 h 1484431"/>
              <a:gd name="connsiteX5" fmla="*/ 1454474 w 1463039"/>
              <a:gd name="connsiteY5" fmla="*/ 5289 h 1484431"/>
              <a:gd name="connsiteX6" fmla="*/ 1449519 w 1463039"/>
              <a:gd name="connsiteY6" fmla="*/ 94304 h 1484431"/>
              <a:gd name="connsiteX7" fmla="*/ 1454055 w 1463039"/>
              <a:gd name="connsiteY7" fmla="*/ 198722 h 1484431"/>
              <a:gd name="connsiteX8" fmla="*/ 1456616 w 1463039"/>
              <a:gd name="connsiteY8" fmla="*/ 391198 h 1484431"/>
              <a:gd name="connsiteX9" fmla="*/ 1452608 w 1463039"/>
              <a:gd name="connsiteY9" fmla="*/ 565101 h 1484431"/>
              <a:gd name="connsiteX10" fmla="*/ 1461013 w 1463039"/>
              <a:gd name="connsiteY10" fmla="*/ 624833 h 1484431"/>
              <a:gd name="connsiteX11" fmla="*/ 1451384 w 1463039"/>
              <a:gd name="connsiteY11" fmla="*/ 907021 h 1484431"/>
              <a:gd name="connsiteX12" fmla="*/ 1452664 w 1463039"/>
              <a:gd name="connsiteY12" fmla="*/ 1009693 h 1484431"/>
              <a:gd name="connsiteX13" fmla="*/ 1456003 w 1463039"/>
              <a:gd name="connsiteY13" fmla="*/ 1096987 h 1484431"/>
              <a:gd name="connsiteX14" fmla="*/ 1453721 w 1463039"/>
              <a:gd name="connsiteY14" fmla="*/ 1174561 h 1484431"/>
              <a:gd name="connsiteX15" fmla="*/ 1461723 w 1463039"/>
              <a:gd name="connsiteY15" fmla="*/ 1280017 h 1484431"/>
              <a:gd name="connsiteX16" fmla="*/ 1463039 w 1463039"/>
              <a:gd name="connsiteY16" fmla="*/ 1330730 h 1484431"/>
              <a:gd name="connsiteX17" fmla="*/ 1463039 w 1463039"/>
              <a:gd name="connsiteY17" fmla="*/ 1433812 h 1484431"/>
              <a:gd name="connsiteX18" fmla="*/ 1458898 w 1463039"/>
              <a:gd name="connsiteY18" fmla="*/ 1471899 h 1484431"/>
              <a:gd name="connsiteX19" fmla="*/ 1458307 w 1463039"/>
              <a:gd name="connsiteY19" fmla="*/ 1476108 h 1484431"/>
              <a:gd name="connsiteX20" fmla="*/ 1456252 w 1463039"/>
              <a:gd name="connsiteY20" fmla="*/ 1476005 h 1484431"/>
              <a:gd name="connsiteX21" fmla="*/ 1358700 w 1463039"/>
              <a:gd name="connsiteY21" fmla="*/ 1478794 h 1484431"/>
              <a:gd name="connsiteX22" fmla="*/ 1178286 w 1463039"/>
              <a:gd name="connsiteY22" fmla="*/ 1478794 h 1484431"/>
              <a:gd name="connsiteX23" fmla="*/ 859951 w 1463039"/>
              <a:gd name="connsiteY23" fmla="*/ 1471897 h 1484431"/>
              <a:gd name="connsiteX24" fmla="*/ 500701 w 1463039"/>
              <a:gd name="connsiteY24" fmla="*/ 1474454 h 1484431"/>
              <a:gd name="connsiteX25" fmla="*/ 234329 w 1463039"/>
              <a:gd name="connsiteY25" fmla="*/ 1468256 h 1484431"/>
              <a:gd name="connsiteX26" fmla="*/ 133135 w 1463039"/>
              <a:gd name="connsiteY26" fmla="*/ 1483210 h 1484431"/>
              <a:gd name="connsiteX27" fmla="*/ 12645 w 1463039"/>
              <a:gd name="connsiteY27" fmla="*/ 1484431 h 1484431"/>
              <a:gd name="connsiteX28" fmla="*/ 15316 w 1463039"/>
              <a:gd name="connsiteY28" fmla="*/ 1462748 h 1484431"/>
              <a:gd name="connsiteX29" fmla="*/ 11892 w 1463039"/>
              <a:gd name="connsiteY29" fmla="*/ 1410408 h 1484431"/>
              <a:gd name="connsiteX30" fmla="*/ 6412 w 1463039"/>
              <a:gd name="connsiteY30" fmla="*/ 1244507 h 1484431"/>
              <a:gd name="connsiteX31" fmla="*/ 6850 w 1463039"/>
              <a:gd name="connsiteY31" fmla="*/ 1119454 h 1484431"/>
              <a:gd name="connsiteX32" fmla="*/ 6850 w 1463039"/>
              <a:gd name="connsiteY32" fmla="*/ 1060772 h 1484431"/>
              <a:gd name="connsiteX33" fmla="*/ 9699 w 1463039"/>
              <a:gd name="connsiteY33" fmla="*/ 982320 h 1484431"/>
              <a:gd name="connsiteX34" fmla="*/ 4220 w 1463039"/>
              <a:gd name="connsiteY34" fmla="*/ 947591 h 1484431"/>
              <a:gd name="connsiteX35" fmla="*/ 6904 w 1463039"/>
              <a:gd name="connsiteY35" fmla="*/ 858679 h 1484431"/>
              <a:gd name="connsiteX36" fmla="*/ 9809 w 1463039"/>
              <a:gd name="connsiteY36" fmla="*/ 755959 h 1484431"/>
              <a:gd name="connsiteX37" fmla="*/ 10248 w 1463039"/>
              <a:gd name="connsiteY37" fmla="*/ 673165 h 1484431"/>
              <a:gd name="connsiteX38" fmla="*/ 11453 w 1463039"/>
              <a:gd name="connsiteY38" fmla="*/ 516732 h 1484431"/>
              <a:gd name="connsiteX39" fmla="*/ 10466 w 1463039"/>
              <a:gd name="connsiteY39" fmla="*/ 425570 h 1484431"/>
              <a:gd name="connsiteX40" fmla="*/ 10466 w 1463039"/>
              <a:gd name="connsiteY40" fmla="*/ 216365 h 1484431"/>
              <a:gd name="connsiteX41" fmla="*/ 10796 w 1463039"/>
              <a:gd name="connsiteY41" fmla="*/ 104022 h 1484431"/>
              <a:gd name="connsiteX42" fmla="*/ 3535 w 1463039"/>
              <a:gd name="connsiteY42" fmla="*/ 20935 h 1484431"/>
              <a:gd name="connsiteX43" fmla="*/ 3925 w 1463039"/>
              <a:gd name="connsiteY43" fmla="*/ 8443 h 1484431"/>
              <a:gd name="connsiteX44" fmla="*/ 72292 w 1463039"/>
              <a:gd name="connsiteY44" fmla="*/ 7145 h 1484431"/>
              <a:gd name="connsiteX45" fmla="*/ 231771 w 1463039"/>
              <a:gd name="connsiteY45" fmla="*/ 4000 h 1484431"/>
              <a:gd name="connsiteX46" fmla="*/ 364603 w 1463039"/>
              <a:gd name="connsiteY46" fmla="*/ 11881 h 1484431"/>
              <a:gd name="connsiteX47" fmla="*/ 768234 w 1463039"/>
              <a:gd name="connsiteY47" fmla="*/ 2060 h 1484431"/>
              <a:gd name="connsiteX48" fmla="*/ 866623 w 1463039"/>
              <a:gd name="connsiteY48" fmla="*/ 570 h 14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63039" h="1484431">
                <a:moveTo>
                  <a:pt x="866623" y="570"/>
                </a:moveTo>
                <a:cubicBezTo>
                  <a:pt x="899406" y="1672"/>
                  <a:pt x="932137" y="4373"/>
                  <a:pt x="964707" y="8668"/>
                </a:cubicBezTo>
                <a:cubicBezTo>
                  <a:pt x="1013530" y="15822"/>
                  <a:pt x="1062767" y="11396"/>
                  <a:pt x="1111826" y="8365"/>
                </a:cubicBezTo>
                <a:cubicBezTo>
                  <a:pt x="1171217" y="4667"/>
                  <a:pt x="1230548" y="2666"/>
                  <a:pt x="1290056" y="8729"/>
                </a:cubicBezTo>
                <a:cubicBezTo>
                  <a:pt x="1332385" y="13093"/>
                  <a:pt x="1374950" y="9032"/>
                  <a:pt x="1417398" y="6607"/>
                </a:cubicBezTo>
                <a:lnTo>
                  <a:pt x="1454474" y="5289"/>
                </a:lnTo>
                <a:lnTo>
                  <a:pt x="1449519" y="94304"/>
                </a:lnTo>
                <a:cubicBezTo>
                  <a:pt x="1449060" y="129133"/>
                  <a:pt x="1450326" y="163950"/>
                  <a:pt x="1454055" y="198722"/>
                </a:cubicBezTo>
                <a:cubicBezTo>
                  <a:pt x="1460000" y="262766"/>
                  <a:pt x="1460857" y="327061"/>
                  <a:pt x="1456616" y="391198"/>
                </a:cubicBezTo>
                <a:cubicBezTo>
                  <a:pt x="1453666" y="449150"/>
                  <a:pt x="1446429" y="507011"/>
                  <a:pt x="1452608" y="565101"/>
                </a:cubicBezTo>
                <a:cubicBezTo>
                  <a:pt x="1454723" y="585088"/>
                  <a:pt x="1459844" y="604709"/>
                  <a:pt x="1461013" y="624833"/>
                </a:cubicBezTo>
                <a:cubicBezTo>
                  <a:pt x="1466579" y="719109"/>
                  <a:pt x="1458230" y="813065"/>
                  <a:pt x="1451384" y="907021"/>
                </a:cubicBezTo>
                <a:cubicBezTo>
                  <a:pt x="1448879" y="941245"/>
                  <a:pt x="1445817" y="975469"/>
                  <a:pt x="1452664" y="1009693"/>
                </a:cubicBezTo>
                <a:cubicBezTo>
                  <a:pt x="1458091" y="1038573"/>
                  <a:pt x="1459210" y="1067888"/>
                  <a:pt x="1456003" y="1096987"/>
                </a:cubicBezTo>
                <a:cubicBezTo>
                  <a:pt x="1452797" y="1122759"/>
                  <a:pt x="1452035" y="1148692"/>
                  <a:pt x="1453721" y="1174561"/>
                </a:cubicBezTo>
                <a:cubicBezTo>
                  <a:pt x="1457200" y="1209698"/>
                  <a:pt x="1459900" y="1244846"/>
                  <a:pt x="1461723" y="1280017"/>
                </a:cubicBezTo>
                <a:lnTo>
                  <a:pt x="1463039" y="1330730"/>
                </a:lnTo>
                <a:lnTo>
                  <a:pt x="1463039" y="1433812"/>
                </a:lnTo>
                <a:lnTo>
                  <a:pt x="1458898" y="1471899"/>
                </a:lnTo>
                <a:lnTo>
                  <a:pt x="1458307" y="1476108"/>
                </a:lnTo>
                <a:lnTo>
                  <a:pt x="1456252" y="1476005"/>
                </a:lnTo>
                <a:cubicBezTo>
                  <a:pt x="1423776" y="1477709"/>
                  <a:pt x="1391237" y="1478251"/>
                  <a:pt x="1358700" y="1478794"/>
                </a:cubicBezTo>
                <a:cubicBezTo>
                  <a:pt x="1298542" y="1479801"/>
                  <a:pt x="1238141" y="1489099"/>
                  <a:pt x="1178286" y="1478794"/>
                </a:cubicBezTo>
                <a:cubicBezTo>
                  <a:pt x="1072672" y="1461941"/>
                  <a:pt x="965947" y="1459624"/>
                  <a:pt x="859951" y="1471897"/>
                </a:cubicBezTo>
                <a:cubicBezTo>
                  <a:pt x="740406" y="1483830"/>
                  <a:pt x="620344" y="1484683"/>
                  <a:pt x="500701" y="1474454"/>
                </a:cubicBezTo>
                <a:cubicBezTo>
                  <a:pt x="412072" y="1467171"/>
                  <a:pt x="323262" y="1461747"/>
                  <a:pt x="234329" y="1468256"/>
                </a:cubicBezTo>
                <a:cubicBezTo>
                  <a:pt x="200275" y="1470813"/>
                  <a:pt x="167069" y="1481971"/>
                  <a:pt x="133135" y="1483210"/>
                </a:cubicBezTo>
                <a:lnTo>
                  <a:pt x="12645" y="1484431"/>
                </a:lnTo>
                <a:lnTo>
                  <a:pt x="15316" y="1462748"/>
                </a:lnTo>
                <a:cubicBezTo>
                  <a:pt x="16577" y="1445266"/>
                  <a:pt x="16193" y="1427771"/>
                  <a:pt x="11892" y="1410408"/>
                </a:cubicBezTo>
                <a:cubicBezTo>
                  <a:pt x="-1808" y="1355229"/>
                  <a:pt x="932" y="1300103"/>
                  <a:pt x="6412" y="1244507"/>
                </a:cubicBezTo>
                <a:cubicBezTo>
                  <a:pt x="10522" y="1203136"/>
                  <a:pt x="15070" y="1161295"/>
                  <a:pt x="6850" y="1119454"/>
                </a:cubicBezTo>
                <a:cubicBezTo>
                  <a:pt x="3316" y="1100040"/>
                  <a:pt x="3316" y="1080186"/>
                  <a:pt x="6850" y="1060772"/>
                </a:cubicBezTo>
                <a:cubicBezTo>
                  <a:pt x="11124" y="1034621"/>
                  <a:pt x="15179" y="1008732"/>
                  <a:pt x="9699" y="982320"/>
                </a:cubicBezTo>
                <a:cubicBezTo>
                  <a:pt x="7289" y="970814"/>
                  <a:pt x="5481" y="959203"/>
                  <a:pt x="4220" y="947591"/>
                </a:cubicBezTo>
                <a:cubicBezTo>
                  <a:pt x="1710" y="917947"/>
                  <a:pt x="2609" y="888135"/>
                  <a:pt x="6904" y="858679"/>
                </a:cubicBezTo>
                <a:cubicBezTo>
                  <a:pt x="11015" y="824474"/>
                  <a:pt x="4329" y="790060"/>
                  <a:pt x="9809" y="755959"/>
                </a:cubicBezTo>
                <a:cubicBezTo>
                  <a:pt x="13700" y="728496"/>
                  <a:pt x="13848" y="700666"/>
                  <a:pt x="10248" y="673165"/>
                </a:cubicBezTo>
                <a:cubicBezTo>
                  <a:pt x="3770" y="621178"/>
                  <a:pt x="4175" y="568620"/>
                  <a:pt x="11453" y="516732"/>
                </a:cubicBezTo>
                <a:cubicBezTo>
                  <a:pt x="15947" y="486449"/>
                  <a:pt x="18522" y="455278"/>
                  <a:pt x="10466" y="425570"/>
                </a:cubicBezTo>
                <a:cubicBezTo>
                  <a:pt x="-8494" y="355748"/>
                  <a:pt x="2576" y="285821"/>
                  <a:pt x="10466" y="216365"/>
                </a:cubicBezTo>
                <a:cubicBezTo>
                  <a:pt x="15262" y="179064"/>
                  <a:pt x="15371" y="141349"/>
                  <a:pt x="10796" y="104022"/>
                </a:cubicBezTo>
                <a:cubicBezTo>
                  <a:pt x="6735" y="76456"/>
                  <a:pt x="4313" y="48716"/>
                  <a:pt x="3535" y="20935"/>
                </a:cubicBezTo>
                <a:lnTo>
                  <a:pt x="3925" y="8443"/>
                </a:lnTo>
                <a:lnTo>
                  <a:pt x="72292" y="7145"/>
                </a:lnTo>
                <a:cubicBezTo>
                  <a:pt x="125550" y="5561"/>
                  <a:pt x="178728" y="3394"/>
                  <a:pt x="231771" y="4000"/>
                </a:cubicBezTo>
                <a:cubicBezTo>
                  <a:pt x="276049" y="4485"/>
                  <a:pt x="320208" y="13578"/>
                  <a:pt x="364603" y="11881"/>
                </a:cubicBezTo>
                <a:cubicBezTo>
                  <a:pt x="499147" y="6910"/>
                  <a:pt x="633750" y="8547"/>
                  <a:pt x="768234" y="2060"/>
                </a:cubicBezTo>
                <a:cubicBezTo>
                  <a:pt x="801008" y="-38"/>
                  <a:pt x="833841" y="-533"/>
                  <a:pt x="866623" y="57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Rectangle 18" descr="Tag=AccentColor&#10;Flavor=Light&#10;Target=FillAndLine">
            <a:extLst>
              <a:ext uri="{FF2B5EF4-FFF2-40B4-BE49-F238E27FC236}">
                <a16:creationId xmlns:a16="http://schemas.microsoft.com/office/drawing/2014/main" id="{2D7984C8-AF4A-4D59-BB2D-72D92F873C0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C125114-9BE9-4C21-BEC1-81B6851622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2AB98BFD-4068-4EDA-8DE5-E5D978EDDF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31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37737FC-57C8-4243-BE91-4E9684B836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53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CA78FA67-D083-4763-B647-4554C3C509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75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F1892FE5-DAA3-4902-93EF-46D6565F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797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834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Center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880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04288"/>
            <a:ext cx="10515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83465705-093A-460D-83A5-4A4F3275ADB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9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23FEB8C5-87FB-41BA-B300-D935D5EEAEC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3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78608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617842"/>
            <a:ext cx="5157787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78608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5183188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0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9224" y="2578608"/>
            <a:ext cx="3200400" cy="71124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3339547"/>
            <a:ext cx="3200400" cy="290063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9884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2AA5FD4-D71A-436D-B50A-847980623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3932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98877DB-362B-4B53-84A8-D53090240F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932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5429EAB-EC88-4283-9CAC-5C4336D68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63901" y="-1"/>
            <a:ext cx="3928091" cy="4143506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5853130-EDA3-41D2-A3D5-E39613A79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1029" y="4328340"/>
            <a:ext cx="3910962" cy="2529660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A9F270A-23C2-4A09-BC7C-5CB160B890C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21992" y="3792430"/>
            <a:ext cx="3041329" cy="3065569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3DF8F2-18BB-45CB-8A9F-A6F8DED4CE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7598" y="0"/>
            <a:ext cx="3035794" cy="3597039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429768"/>
            <a:ext cx="3922776" cy="164592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706624"/>
            <a:ext cx="3931920" cy="33832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3D56BB16-3103-4F61-889C-DDC4E4A678C2}"/>
              </a:ext>
            </a:extLst>
          </p:cNvPr>
          <p:cNvSpPr/>
          <p:nvPr userDrawn="1"/>
        </p:nvSpPr>
        <p:spPr>
          <a:xfrm>
            <a:off x="629328" y="2423160"/>
            <a:ext cx="3877056" cy="27432"/>
          </a:xfrm>
          <a:custGeom>
            <a:avLst/>
            <a:gdLst>
              <a:gd name="connsiteX0" fmla="*/ 0 w 3877056"/>
              <a:gd name="connsiteY0" fmla="*/ 0 h 27432"/>
              <a:gd name="connsiteX1" fmla="*/ 723717 w 3877056"/>
              <a:gd name="connsiteY1" fmla="*/ 0 h 27432"/>
              <a:gd name="connsiteX2" fmla="*/ 1408664 w 3877056"/>
              <a:gd name="connsiteY2" fmla="*/ 0 h 27432"/>
              <a:gd name="connsiteX3" fmla="*/ 2093610 w 3877056"/>
              <a:gd name="connsiteY3" fmla="*/ 0 h 27432"/>
              <a:gd name="connsiteX4" fmla="*/ 2623475 w 3877056"/>
              <a:gd name="connsiteY4" fmla="*/ 0 h 27432"/>
              <a:gd name="connsiteX5" fmla="*/ 3192109 w 3877056"/>
              <a:gd name="connsiteY5" fmla="*/ 0 h 27432"/>
              <a:gd name="connsiteX6" fmla="*/ 3877056 w 3877056"/>
              <a:gd name="connsiteY6" fmla="*/ 0 h 27432"/>
              <a:gd name="connsiteX7" fmla="*/ 3877056 w 3877056"/>
              <a:gd name="connsiteY7" fmla="*/ 27432 h 27432"/>
              <a:gd name="connsiteX8" fmla="*/ 3230880 w 3877056"/>
              <a:gd name="connsiteY8" fmla="*/ 27432 h 27432"/>
              <a:gd name="connsiteX9" fmla="*/ 2701016 w 3877056"/>
              <a:gd name="connsiteY9" fmla="*/ 27432 h 27432"/>
              <a:gd name="connsiteX10" fmla="*/ 2171151 w 3877056"/>
              <a:gd name="connsiteY10" fmla="*/ 27432 h 27432"/>
              <a:gd name="connsiteX11" fmla="*/ 1486205 w 3877056"/>
              <a:gd name="connsiteY11" fmla="*/ 27432 h 27432"/>
              <a:gd name="connsiteX12" fmla="*/ 917570 w 3877056"/>
              <a:gd name="connsiteY12" fmla="*/ 27432 h 27432"/>
              <a:gd name="connsiteX13" fmla="*/ 0 w 3877056"/>
              <a:gd name="connsiteY13" fmla="*/ 27432 h 27432"/>
              <a:gd name="connsiteX14" fmla="*/ 0 w 3877056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27432" fill="none" extrusionOk="0">
                <a:moveTo>
                  <a:pt x="0" y="0"/>
                </a:moveTo>
                <a:cubicBezTo>
                  <a:pt x="212376" y="-32836"/>
                  <a:pt x="570944" y="24926"/>
                  <a:pt x="723717" y="0"/>
                </a:cubicBezTo>
                <a:cubicBezTo>
                  <a:pt x="876490" y="-24926"/>
                  <a:pt x="1149502" y="-13047"/>
                  <a:pt x="1408664" y="0"/>
                </a:cubicBezTo>
                <a:cubicBezTo>
                  <a:pt x="1667826" y="13047"/>
                  <a:pt x="1931449" y="-10086"/>
                  <a:pt x="2093610" y="0"/>
                </a:cubicBezTo>
                <a:cubicBezTo>
                  <a:pt x="2255771" y="10086"/>
                  <a:pt x="2364217" y="17704"/>
                  <a:pt x="2623475" y="0"/>
                </a:cubicBezTo>
                <a:cubicBezTo>
                  <a:pt x="2882734" y="-17704"/>
                  <a:pt x="3039913" y="-18191"/>
                  <a:pt x="3192109" y="0"/>
                </a:cubicBezTo>
                <a:cubicBezTo>
                  <a:pt x="3344305" y="18191"/>
                  <a:pt x="3704655" y="9863"/>
                  <a:pt x="3877056" y="0"/>
                </a:cubicBezTo>
                <a:cubicBezTo>
                  <a:pt x="3876099" y="8431"/>
                  <a:pt x="3876707" y="14612"/>
                  <a:pt x="3877056" y="27432"/>
                </a:cubicBezTo>
                <a:cubicBezTo>
                  <a:pt x="3653020" y="26009"/>
                  <a:pt x="3480940" y="44647"/>
                  <a:pt x="3230880" y="27432"/>
                </a:cubicBezTo>
                <a:cubicBezTo>
                  <a:pt x="2980820" y="10217"/>
                  <a:pt x="2872670" y="48866"/>
                  <a:pt x="2701016" y="27432"/>
                </a:cubicBezTo>
                <a:cubicBezTo>
                  <a:pt x="2529362" y="5998"/>
                  <a:pt x="2364157" y="35954"/>
                  <a:pt x="2171151" y="27432"/>
                </a:cubicBezTo>
                <a:cubicBezTo>
                  <a:pt x="1978146" y="18910"/>
                  <a:pt x="1773461" y="38798"/>
                  <a:pt x="1486205" y="27432"/>
                </a:cubicBezTo>
                <a:cubicBezTo>
                  <a:pt x="1198949" y="16066"/>
                  <a:pt x="1139376" y="-574"/>
                  <a:pt x="917570" y="27432"/>
                </a:cubicBezTo>
                <a:cubicBezTo>
                  <a:pt x="695765" y="55438"/>
                  <a:pt x="293344" y="-5450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877056" h="27432" stroke="0" extrusionOk="0">
                <a:moveTo>
                  <a:pt x="0" y="0"/>
                </a:moveTo>
                <a:cubicBezTo>
                  <a:pt x="192669" y="-10137"/>
                  <a:pt x="331692" y="-29256"/>
                  <a:pt x="607405" y="0"/>
                </a:cubicBezTo>
                <a:cubicBezTo>
                  <a:pt x="883118" y="29256"/>
                  <a:pt x="907253" y="-6037"/>
                  <a:pt x="1137270" y="0"/>
                </a:cubicBezTo>
                <a:cubicBezTo>
                  <a:pt x="1367288" y="6037"/>
                  <a:pt x="1546023" y="-32212"/>
                  <a:pt x="1860987" y="0"/>
                </a:cubicBezTo>
                <a:cubicBezTo>
                  <a:pt x="2175951" y="32212"/>
                  <a:pt x="2298836" y="29855"/>
                  <a:pt x="2468392" y="0"/>
                </a:cubicBezTo>
                <a:cubicBezTo>
                  <a:pt x="2637949" y="-29855"/>
                  <a:pt x="2790821" y="13504"/>
                  <a:pt x="3075798" y="0"/>
                </a:cubicBezTo>
                <a:cubicBezTo>
                  <a:pt x="3360775" y="-13504"/>
                  <a:pt x="3584812" y="38899"/>
                  <a:pt x="3877056" y="0"/>
                </a:cubicBezTo>
                <a:cubicBezTo>
                  <a:pt x="3875701" y="9524"/>
                  <a:pt x="3875854" y="13975"/>
                  <a:pt x="3877056" y="27432"/>
                </a:cubicBezTo>
                <a:cubicBezTo>
                  <a:pt x="3651600" y="-703"/>
                  <a:pt x="3532844" y="44229"/>
                  <a:pt x="3230880" y="27432"/>
                </a:cubicBezTo>
                <a:cubicBezTo>
                  <a:pt x="2928916" y="10635"/>
                  <a:pt x="2860399" y="20237"/>
                  <a:pt x="2701016" y="27432"/>
                </a:cubicBezTo>
                <a:cubicBezTo>
                  <a:pt x="2541633" y="34627"/>
                  <a:pt x="2238516" y="40277"/>
                  <a:pt x="2054840" y="27432"/>
                </a:cubicBezTo>
                <a:cubicBezTo>
                  <a:pt x="1871164" y="14587"/>
                  <a:pt x="1583795" y="3252"/>
                  <a:pt x="1408664" y="27432"/>
                </a:cubicBezTo>
                <a:cubicBezTo>
                  <a:pt x="1233533" y="51612"/>
                  <a:pt x="956608" y="20984"/>
                  <a:pt x="801258" y="27432"/>
                </a:cubicBezTo>
                <a:cubicBezTo>
                  <a:pt x="645908" y="33880"/>
                  <a:pt x="165566" y="12646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3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6E9FA88B-AFEE-4852-B85E-7E7C8AF78BFF}"/>
              </a:ext>
            </a:extLst>
          </p:cNvPr>
          <p:cNvSpPr/>
          <p:nvPr userDrawn="1"/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2336"/>
            <a:ext cx="10515600" cy="1344168"/>
          </a:xfrm>
        </p:spPr>
        <p:txBody>
          <a:bodyPr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08AE94-7094-4D70-9812-D22ECD79C7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635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B505429-1B51-4AA8-8307-05F6447493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2871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3F3360D-2801-410A-A4E5-7AE529A3E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107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B745A5D6-A4E0-4308-9600-DE5E195729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216" y="4315968"/>
            <a:ext cx="3063240" cy="5486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C3466BB8-D955-4280-BA4D-66F3DC0341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285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F829B8DE-3184-4E0A-AAD4-8F27B55DA9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049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248033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8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4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1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8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4" r:id="rId5"/>
    <p:sldLayoutId id="2147483751" r:id="rId6"/>
    <p:sldLayoutId id="2147483752" r:id="rId7"/>
    <p:sldLayoutId id="2147483753" r:id="rId8"/>
    <p:sldLayoutId id="2147483724" r:id="rId9"/>
    <p:sldLayoutId id="2147483737" r:id="rId10"/>
    <p:sldLayoutId id="2147483755" r:id="rId11"/>
    <p:sldLayoutId id="2147483754" r:id="rId12"/>
    <p:sldLayoutId id="214748375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B3DD-35BD-42F7-9AD7-7F3402B26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9627" y="1630017"/>
            <a:ext cx="7552746" cy="2248629"/>
          </a:xfrm>
        </p:spPr>
        <p:txBody>
          <a:bodyPr/>
          <a:lstStyle/>
          <a:p>
            <a:r>
              <a:rPr lang="ro-RO" sz="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 reasigurărilor la nivel mondial</a:t>
            </a:r>
            <a:br>
              <a:rPr lang="en-US" dirty="0"/>
            </a:br>
            <a:r>
              <a:rPr lang="ro-RO" sz="3200" dirty="0"/>
              <a:t>- Asia: Singapore, Sri Lanka, India – 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A2D86-784C-417D-9AD4-AF18311FB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0556" y="4495667"/>
            <a:ext cx="3715446" cy="941832"/>
          </a:xfrm>
        </p:spPr>
        <p:txBody>
          <a:bodyPr>
            <a:noAutofit/>
          </a:bodyPr>
          <a:lstStyle/>
          <a:p>
            <a:r>
              <a:rPr lang="ro-R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Rus </a:t>
            </a:r>
            <a:r>
              <a:rPr lang="ro-RO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Miruna-Alexia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Cojocaru Eugeniu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77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B5DAA40F-4F28-4316-934E-C55D7C3AA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F6D467C8-A8E0-468B-B88D-9CEEE37BF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33452" cy="6858000"/>
          </a:xfrm>
          <a:custGeom>
            <a:avLst/>
            <a:gdLst>
              <a:gd name="connsiteX0" fmla="*/ 0 w 7433452"/>
              <a:gd name="connsiteY0" fmla="*/ 0 h 6858000"/>
              <a:gd name="connsiteX1" fmla="*/ 1592736 w 7433452"/>
              <a:gd name="connsiteY1" fmla="*/ 0 h 6858000"/>
              <a:gd name="connsiteX2" fmla="*/ 2171700 w 7433452"/>
              <a:gd name="connsiteY2" fmla="*/ 0 h 6858000"/>
              <a:gd name="connsiteX3" fmla="*/ 2762696 w 7433452"/>
              <a:gd name="connsiteY3" fmla="*/ 0 h 6858000"/>
              <a:gd name="connsiteX4" fmla="*/ 2829254 w 7433452"/>
              <a:gd name="connsiteY4" fmla="*/ 0 h 6858000"/>
              <a:gd name="connsiteX5" fmla="*/ 7415310 w 7433452"/>
              <a:gd name="connsiteY5" fmla="*/ 0 h 6858000"/>
              <a:gd name="connsiteX6" fmla="*/ 7405703 w 7433452"/>
              <a:gd name="connsiteY6" fmla="*/ 94814 h 6858000"/>
              <a:gd name="connsiteX7" fmla="*/ 7410754 w 7433452"/>
              <a:gd name="connsiteY7" fmla="*/ 421796 h 6858000"/>
              <a:gd name="connsiteX8" fmla="*/ 7414688 w 7433452"/>
              <a:gd name="connsiteY8" fmla="*/ 812192 h 6858000"/>
              <a:gd name="connsiteX9" fmla="*/ 7395017 w 7433452"/>
              <a:gd name="connsiteY9" fmla="*/ 1113642 h 6858000"/>
              <a:gd name="connsiteX10" fmla="*/ 7422810 w 7433452"/>
              <a:gd name="connsiteY10" fmla="*/ 1796708 h 6858000"/>
              <a:gd name="connsiteX11" fmla="*/ 7421161 w 7433452"/>
              <a:gd name="connsiteY11" fmla="*/ 2327333 h 6858000"/>
              <a:gd name="connsiteX12" fmla="*/ 7412023 w 7433452"/>
              <a:gd name="connsiteY12" fmla="*/ 2784280 h 6858000"/>
              <a:gd name="connsiteX13" fmla="*/ 7417480 w 7433452"/>
              <a:gd name="connsiteY13" fmla="*/ 2985458 h 6858000"/>
              <a:gd name="connsiteX14" fmla="*/ 7403774 w 7433452"/>
              <a:gd name="connsiteY14" fmla="*/ 3531096 h 6858000"/>
              <a:gd name="connsiteX15" fmla="*/ 7414307 w 7433452"/>
              <a:gd name="connsiteY15" fmla="*/ 4336830 h 6858000"/>
              <a:gd name="connsiteX16" fmla="*/ 7413419 w 7433452"/>
              <a:gd name="connsiteY16" fmla="*/ 5026893 h 6858000"/>
              <a:gd name="connsiteX17" fmla="*/ 7417734 w 7433452"/>
              <a:gd name="connsiteY17" fmla="*/ 5252632 h 6858000"/>
              <a:gd name="connsiteX18" fmla="*/ 7417734 w 7433452"/>
              <a:gd name="connsiteY18" fmla="*/ 5466282 h 6858000"/>
              <a:gd name="connsiteX19" fmla="*/ 7379659 w 7433452"/>
              <a:gd name="connsiteY19" fmla="*/ 6121225 h 6858000"/>
              <a:gd name="connsiteX20" fmla="*/ 7395115 w 7433452"/>
              <a:gd name="connsiteY20" fmla="*/ 6708907 h 6858000"/>
              <a:gd name="connsiteX21" fmla="*/ 7412408 w 7433452"/>
              <a:gd name="connsiteY21" fmla="*/ 6858000 h 6858000"/>
              <a:gd name="connsiteX22" fmla="*/ 2829254 w 7433452"/>
              <a:gd name="connsiteY22" fmla="*/ 6858000 h 6858000"/>
              <a:gd name="connsiteX23" fmla="*/ 2762696 w 7433452"/>
              <a:gd name="connsiteY23" fmla="*/ 6858000 h 6858000"/>
              <a:gd name="connsiteX24" fmla="*/ 2171700 w 7433452"/>
              <a:gd name="connsiteY24" fmla="*/ 6858000 h 6858000"/>
              <a:gd name="connsiteX25" fmla="*/ 1592736 w 7433452"/>
              <a:gd name="connsiteY25" fmla="*/ 6858000 h 6858000"/>
              <a:gd name="connsiteX26" fmla="*/ 0 w 7433452"/>
              <a:gd name="connsiteY2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433452" h="6858000">
                <a:moveTo>
                  <a:pt x="0" y="0"/>
                </a:moveTo>
                <a:lnTo>
                  <a:pt x="1592736" y="0"/>
                </a:lnTo>
                <a:lnTo>
                  <a:pt x="2171700" y="0"/>
                </a:lnTo>
                <a:lnTo>
                  <a:pt x="2762696" y="0"/>
                </a:lnTo>
                <a:lnTo>
                  <a:pt x="2829254" y="0"/>
                </a:lnTo>
                <a:lnTo>
                  <a:pt x="7415310" y="0"/>
                </a:lnTo>
                <a:lnTo>
                  <a:pt x="7405703" y="94814"/>
                </a:lnTo>
                <a:cubicBezTo>
                  <a:pt x="7398856" y="203629"/>
                  <a:pt x="7403520" y="312712"/>
                  <a:pt x="7410754" y="421796"/>
                </a:cubicBezTo>
                <a:cubicBezTo>
                  <a:pt x="7421580" y="551656"/>
                  <a:pt x="7422900" y="682144"/>
                  <a:pt x="7414688" y="812192"/>
                </a:cubicBezTo>
                <a:cubicBezTo>
                  <a:pt x="7406693" y="912591"/>
                  <a:pt x="7397682" y="1012988"/>
                  <a:pt x="7395017" y="1113642"/>
                </a:cubicBezTo>
                <a:cubicBezTo>
                  <a:pt x="7388670" y="1342689"/>
                  <a:pt x="7407708" y="1569316"/>
                  <a:pt x="7422810" y="1796708"/>
                </a:cubicBezTo>
                <a:cubicBezTo>
                  <a:pt x="7434487" y="1973710"/>
                  <a:pt x="7439944" y="2150457"/>
                  <a:pt x="7421161" y="2327333"/>
                </a:cubicBezTo>
                <a:cubicBezTo>
                  <a:pt x="7405170" y="2479266"/>
                  <a:pt x="7396793" y="2631453"/>
                  <a:pt x="7412023" y="2784280"/>
                </a:cubicBezTo>
                <a:cubicBezTo>
                  <a:pt x="7418749" y="2851085"/>
                  <a:pt x="7425984" y="2918653"/>
                  <a:pt x="7417480" y="2985458"/>
                </a:cubicBezTo>
                <a:cubicBezTo>
                  <a:pt x="7394508" y="3167039"/>
                  <a:pt x="7398063" y="3349132"/>
                  <a:pt x="7403774" y="3531096"/>
                </a:cubicBezTo>
                <a:cubicBezTo>
                  <a:pt x="7412277" y="3799715"/>
                  <a:pt x="7426364" y="4067954"/>
                  <a:pt x="7414307" y="4336830"/>
                </a:cubicBezTo>
                <a:cubicBezTo>
                  <a:pt x="7404027" y="4566639"/>
                  <a:pt x="7420653" y="4796831"/>
                  <a:pt x="7413419" y="5026893"/>
                </a:cubicBezTo>
                <a:cubicBezTo>
                  <a:pt x="7410982" y="5102162"/>
                  <a:pt x="7412429" y="5177504"/>
                  <a:pt x="7417734" y="5252632"/>
                </a:cubicBezTo>
                <a:cubicBezTo>
                  <a:pt x="7424271" y="5323700"/>
                  <a:pt x="7424271" y="5395213"/>
                  <a:pt x="7417734" y="5466282"/>
                </a:cubicBezTo>
                <a:cubicBezTo>
                  <a:pt x="7393239" y="5683875"/>
                  <a:pt x="7383214" y="5902486"/>
                  <a:pt x="7379659" y="6121225"/>
                </a:cubicBezTo>
                <a:cubicBezTo>
                  <a:pt x="7376423" y="6317442"/>
                  <a:pt x="7378041" y="6513586"/>
                  <a:pt x="7395115" y="6708907"/>
                </a:cubicBezTo>
                <a:lnTo>
                  <a:pt x="7412408" y="6858000"/>
                </a:lnTo>
                <a:lnTo>
                  <a:pt x="2829254" y="6858000"/>
                </a:lnTo>
                <a:lnTo>
                  <a:pt x="2762696" y="6858000"/>
                </a:lnTo>
                <a:lnTo>
                  <a:pt x="2171700" y="6858000"/>
                </a:lnTo>
                <a:lnTo>
                  <a:pt x="159273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A6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8C0DDC-D116-43DA-B0B5-A6A82668A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329184"/>
            <a:ext cx="6241568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000" dirty="0">
                <a:solidFill>
                  <a:schemeClr val="bg1"/>
                </a:solidFill>
              </a:rPr>
              <a:t>Singapore </a:t>
            </a:r>
            <a:br>
              <a:rPr lang="en-US" sz="5000" dirty="0">
                <a:solidFill>
                  <a:schemeClr val="bg1"/>
                </a:solidFill>
              </a:rPr>
            </a:br>
            <a:r>
              <a:rPr lang="en-US" sz="5000" dirty="0">
                <a:solidFill>
                  <a:schemeClr val="bg1"/>
                </a:solidFill>
              </a:rPr>
              <a:t>– Hub regional de </a:t>
            </a:r>
            <a:r>
              <a:rPr lang="en-US" sz="5000" dirty="0" err="1">
                <a:solidFill>
                  <a:schemeClr val="bg1"/>
                </a:solidFill>
              </a:rPr>
              <a:t>reasigurare</a:t>
            </a:r>
            <a:r>
              <a:rPr lang="en-US" sz="5000" dirty="0">
                <a:solidFill>
                  <a:schemeClr val="bg1"/>
                </a:solidFill>
              </a:rPr>
              <a:t> – </a:t>
            </a:r>
          </a:p>
        </p:txBody>
      </p:sp>
      <p:sp>
        <p:nvSpPr>
          <p:cNvPr id="1037" name="sketchy rul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430F02-9645-4F56-99F7-1DC2F76FF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706624"/>
            <a:ext cx="6043984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Asigurări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dintre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dezvoltate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piețe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lume</a:t>
            </a:r>
            <a:endParaRPr lang="ro-RO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Munich Re, Swiss Re, SCOR</a:t>
            </a:r>
            <a:r>
              <a:rPr lang="ro-RO" sz="2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reasigurători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globali</a:t>
            </a:r>
            <a:r>
              <a:rPr lang="ro-RO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sediul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central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Asia-Pacific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Singapore 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Singapore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ferit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dezastre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naturale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reasigură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clădiri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Singapore,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fabrici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Vietnam,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infrastructură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Indonezia</a:t>
            </a:r>
            <a:endParaRPr lang="en-US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1B180-F4BB-46B9-937E-3469FC68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5809" y="6356350"/>
            <a:ext cx="10058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C18C1E5-FB55-42F5-BD6D-9CC153FCDBE6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1026" name="Picture 2" descr="Where is Singapore? 🇸🇬 | Mappr">
            <a:extLst>
              <a:ext uri="{FF2B5EF4-FFF2-40B4-BE49-F238E27FC236}">
                <a16:creationId xmlns:a16="http://schemas.microsoft.com/office/drawing/2014/main" id="{24A3E970-00A3-F0FD-EC14-4004681BB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34304" y="452478"/>
            <a:ext cx="4014216" cy="2679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FEEA75-0664-0CA2-947C-A6DBA24C7B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7"/>
          <a:stretch>
            <a:fillRect/>
          </a:stretch>
        </p:blipFill>
        <p:spPr>
          <a:xfrm>
            <a:off x="7822747" y="3772533"/>
            <a:ext cx="4025773" cy="244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73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75D77-45AA-B00B-852B-C345252B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74D0-4735-ACC0-E032-E60E316F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Munich R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27C2D-6AD2-07C8-CCA1-CDA957753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BEB62B8-131D-1DA4-9785-41C48B7F0A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5022774"/>
              </p:ext>
            </p:extLst>
          </p:nvPr>
        </p:nvGraphicFramePr>
        <p:xfrm>
          <a:off x="1453242" y="2307562"/>
          <a:ext cx="9285516" cy="3234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379">
                  <a:extLst>
                    <a:ext uri="{9D8B030D-6E8A-4147-A177-3AD203B41FA5}">
                      <a16:colId xmlns:a16="http://schemas.microsoft.com/office/drawing/2014/main" val="186077397"/>
                    </a:ext>
                  </a:extLst>
                </a:gridCol>
                <a:gridCol w="2321379">
                  <a:extLst>
                    <a:ext uri="{9D8B030D-6E8A-4147-A177-3AD203B41FA5}">
                      <a16:colId xmlns:a16="http://schemas.microsoft.com/office/drawing/2014/main" val="2608711539"/>
                    </a:ext>
                  </a:extLst>
                </a:gridCol>
                <a:gridCol w="2321379">
                  <a:extLst>
                    <a:ext uri="{9D8B030D-6E8A-4147-A177-3AD203B41FA5}">
                      <a16:colId xmlns:a16="http://schemas.microsoft.com/office/drawing/2014/main" val="2701450816"/>
                    </a:ext>
                  </a:extLst>
                </a:gridCol>
                <a:gridCol w="2321379">
                  <a:extLst>
                    <a:ext uri="{9D8B030D-6E8A-4147-A177-3AD203B41FA5}">
                      <a16:colId xmlns:a16="http://schemas.microsoft.com/office/drawing/2014/main" val="1842724465"/>
                    </a:ext>
                  </a:extLst>
                </a:gridCol>
              </a:tblGrid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Venit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Costuri</a:t>
                      </a: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 (m €)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4072947"/>
                  </a:ext>
                </a:extLst>
              </a:tr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2025 (target)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58 000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6 000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571971"/>
                  </a:ext>
                </a:extLst>
              </a:tr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60 830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52 004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5 671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581831"/>
                  </a:ext>
                </a:extLst>
              </a:tr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57 884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50 098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4 597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744395"/>
                  </a:ext>
                </a:extLst>
              </a:tr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55 385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48 200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5 309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18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5071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896F-D3B9-151C-AB76-BF475528E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1DD0-838E-FE7E-53A8-29473C30C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Munich R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689C2-5B07-A592-F6B2-787213ADC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0A157DE-48BE-B90C-BBAE-470CCF4FF0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4327510"/>
              </p:ext>
            </p:extLst>
          </p:nvPr>
        </p:nvGraphicFramePr>
        <p:xfrm>
          <a:off x="1204658" y="2118520"/>
          <a:ext cx="9642475" cy="4237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2684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449DDA-613F-C73D-0B5A-5AFDFF857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Rectangle 1048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050" name="Rectangle 1049">
            <a:extLst>
              <a:ext uri="{FF2B5EF4-FFF2-40B4-BE49-F238E27FC236}">
                <a16:creationId xmlns:a16="http://schemas.microsoft.com/office/drawing/2014/main" id="{B5DAA40F-4F28-4316-934E-C55D7C3AA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Freeform: Shape 1050">
            <a:extLst>
              <a:ext uri="{FF2B5EF4-FFF2-40B4-BE49-F238E27FC236}">
                <a16:creationId xmlns:a16="http://schemas.microsoft.com/office/drawing/2014/main" id="{F6D467C8-A8E0-468B-B88D-9CEEE37BF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33452" cy="6858000"/>
          </a:xfrm>
          <a:custGeom>
            <a:avLst/>
            <a:gdLst>
              <a:gd name="connsiteX0" fmla="*/ 0 w 7433452"/>
              <a:gd name="connsiteY0" fmla="*/ 0 h 6858000"/>
              <a:gd name="connsiteX1" fmla="*/ 1592736 w 7433452"/>
              <a:gd name="connsiteY1" fmla="*/ 0 h 6858000"/>
              <a:gd name="connsiteX2" fmla="*/ 2171700 w 7433452"/>
              <a:gd name="connsiteY2" fmla="*/ 0 h 6858000"/>
              <a:gd name="connsiteX3" fmla="*/ 2762696 w 7433452"/>
              <a:gd name="connsiteY3" fmla="*/ 0 h 6858000"/>
              <a:gd name="connsiteX4" fmla="*/ 2829254 w 7433452"/>
              <a:gd name="connsiteY4" fmla="*/ 0 h 6858000"/>
              <a:gd name="connsiteX5" fmla="*/ 7415310 w 7433452"/>
              <a:gd name="connsiteY5" fmla="*/ 0 h 6858000"/>
              <a:gd name="connsiteX6" fmla="*/ 7405703 w 7433452"/>
              <a:gd name="connsiteY6" fmla="*/ 94814 h 6858000"/>
              <a:gd name="connsiteX7" fmla="*/ 7410754 w 7433452"/>
              <a:gd name="connsiteY7" fmla="*/ 421796 h 6858000"/>
              <a:gd name="connsiteX8" fmla="*/ 7414688 w 7433452"/>
              <a:gd name="connsiteY8" fmla="*/ 812192 h 6858000"/>
              <a:gd name="connsiteX9" fmla="*/ 7395017 w 7433452"/>
              <a:gd name="connsiteY9" fmla="*/ 1113642 h 6858000"/>
              <a:gd name="connsiteX10" fmla="*/ 7422810 w 7433452"/>
              <a:gd name="connsiteY10" fmla="*/ 1796708 h 6858000"/>
              <a:gd name="connsiteX11" fmla="*/ 7421161 w 7433452"/>
              <a:gd name="connsiteY11" fmla="*/ 2327333 h 6858000"/>
              <a:gd name="connsiteX12" fmla="*/ 7412023 w 7433452"/>
              <a:gd name="connsiteY12" fmla="*/ 2784280 h 6858000"/>
              <a:gd name="connsiteX13" fmla="*/ 7417480 w 7433452"/>
              <a:gd name="connsiteY13" fmla="*/ 2985458 h 6858000"/>
              <a:gd name="connsiteX14" fmla="*/ 7403774 w 7433452"/>
              <a:gd name="connsiteY14" fmla="*/ 3531096 h 6858000"/>
              <a:gd name="connsiteX15" fmla="*/ 7414307 w 7433452"/>
              <a:gd name="connsiteY15" fmla="*/ 4336830 h 6858000"/>
              <a:gd name="connsiteX16" fmla="*/ 7413419 w 7433452"/>
              <a:gd name="connsiteY16" fmla="*/ 5026893 h 6858000"/>
              <a:gd name="connsiteX17" fmla="*/ 7417734 w 7433452"/>
              <a:gd name="connsiteY17" fmla="*/ 5252632 h 6858000"/>
              <a:gd name="connsiteX18" fmla="*/ 7417734 w 7433452"/>
              <a:gd name="connsiteY18" fmla="*/ 5466282 h 6858000"/>
              <a:gd name="connsiteX19" fmla="*/ 7379659 w 7433452"/>
              <a:gd name="connsiteY19" fmla="*/ 6121225 h 6858000"/>
              <a:gd name="connsiteX20" fmla="*/ 7395115 w 7433452"/>
              <a:gd name="connsiteY20" fmla="*/ 6708907 h 6858000"/>
              <a:gd name="connsiteX21" fmla="*/ 7412408 w 7433452"/>
              <a:gd name="connsiteY21" fmla="*/ 6858000 h 6858000"/>
              <a:gd name="connsiteX22" fmla="*/ 2829254 w 7433452"/>
              <a:gd name="connsiteY22" fmla="*/ 6858000 h 6858000"/>
              <a:gd name="connsiteX23" fmla="*/ 2762696 w 7433452"/>
              <a:gd name="connsiteY23" fmla="*/ 6858000 h 6858000"/>
              <a:gd name="connsiteX24" fmla="*/ 2171700 w 7433452"/>
              <a:gd name="connsiteY24" fmla="*/ 6858000 h 6858000"/>
              <a:gd name="connsiteX25" fmla="*/ 1592736 w 7433452"/>
              <a:gd name="connsiteY25" fmla="*/ 6858000 h 6858000"/>
              <a:gd name="connsiteX26" fmla="*/ 0 w 7433452"/>
              <a:gd name="connsiteY2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433452" h="6858000">
                <a:moveTo>
                  <a:pt x="0" y="0"/>
                </a:moveTo>
                <a:lnTo>
                  <a:pt x="1592736" y="0"/>
                </a:lnTo>
                <a:lnTo>
                  <a:pt x="2171700" y="0"/>
                </a:lnTo>
                <a:lnTo>
                  <a:pt x="2762696" y="0"/>
                </a:lnTo>
                <a:lnTo>
                  <a:pt x="2829254" y="0"/>
                </a:lnTo>
                <a:lnTo>
                  <a:pt x="7415310" y="0"/>
                </a:lnTo>
                <a:lnTo>
                  <a:pt x="7405703" y="94814"/>
                </a:lnTo>
                <a:cubicBezTo>
                  <a:pt x="7398856" y="203629"/>
                  <a:pt x="7403520" y="312712"/>
                  <a:pt x="7410754" y="421796"/>
                </a:cubicBezTo>
                <a:cubicBezTo>
                  <a:pt x="7421580" y="551656"/>
                  <a:pt x="7422900" y="682144"/>
                  <a:pt x="7414688" y="812192"/>
                </a:cubicBezTo>
                <a:cubicBezTo>
                  <a:pt x="7406693" y="912591"/>
                  <a:pt x="7397682" y="1012988"/>
                  <a:pt x="7395017" y="1113642"/>
                </a:cubicBezTo>
                <a:cubicBezTo>
                  <a:pt x="7388670" y="1342689"/>
                  <a:pt x="7407708" y="1569316"/>
                  <a:pt x="7422810" y="1796708"/>
                </a:cubicBezTo>
                <a:cubicBezTo>
                  <a:pt x="7434487" y="1973710"/>
                  <a:pt x="7439944" y="2150457"/>
                  <a:pt x="7421161" y="2327333"/>
                </a:cubicBezTo>
                <a:cubicBezTo>
                  <a:pt x="7405170" y="2479266"/>
                  <a:pt x="7396793" y="2631453"/>
                  <a:pt x="7412023" y="2784280"/>
                </a:cubicBezTo>
                <a:cubicBezTo>
                  <a:pt x="7418749" y="2851085"/>
                  <a:pt x="7425984" y="2918653"/>
                  <a:pt x="7417480" y="2985458"/>
                </a:cubicBezTo>
                <a:cubicBezTo>
                  <a:pt x="7394508" y="3167039"/>
                  <a:pt x="7398063" y="3349132"/>
                  <a:pt x="7403774" y="3531096"/>
                </a:cubicBezTo>
                <a:cubicBezTo>
                  <a:pt x="7412277" y="3799715"/>
                  <a:pt x="7426364" y="4067954"/>
                  <a:pt x="7414307" y="4336830"/>
                </a:cubicBezTo>
                <a:cubicBezTo>
                  <a:pt x="7404027" y="4566639"/>
                  <a:pt x="7420653" y="4796831"/>
                  <a:pt x="7413419" y="5026893"/>
                </a:cubicBezTo>
                <a:cubicBezTo>
                  <a:pt x="7410982" y="5102162"/>
                  <a:pt x="7412429" y="5177504"/>
                  <a:pt x="7417734" y="5252632"/>
                </a:cubicBezTo>
                <a:cubicBezTo>
                  <a:pt x="7424271" y="5323700"/>
                  <a:pt x="7424271" y="5395213"/>
                  <a:pt x="7417734" y="5466282"/>
                </a:cubicBezTo>
                <a:cubicBezTo>
                  <a:pt x="7393239" y="5683875"/>
                  <a:pt x="7383214" y="5902486"/>
                  <a:pt x="7379659" y="6121225"/>
                </a:cubicBezTo>
                <a:cubicBezTo>
                  <a:pt x="7376423" y="6317442"/>
                  <a:pt x="7378041" y="6513586"/>
                  <a:pt x="7395115" y="6708907"/>
                </a:cubicBezTo>
                <a:lnTo>
                  <a:pt x="7412408" y="6858000"/>
                </a:lnTo>
                <a:lnTo>
                  <a:pt x="2829254" y="6858000"/>
                </a:lnTo>
                <a:lnTo>
                  <a:pt x="2762696" y="6858000"/>
                </a:lnTo>
                <a:lnTo>
                  <a:pt x="2171700" y="6858000"/>
                </a:lnTo>
                <a:lnTo>
                  <a:pt x="159273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8B2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2B1517-7474-D7F5-7F45-08610A47C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329184"/>
            <a:ext cx="6241568" cy="14747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Sri </a:t>
            </a:r>
            <a:r>
              <a:rPr lang="en-US" dirty="0" err="1">
                <a:solidFill>
                  <a:schemeClr val="bg1"/>
                </a:solidFill>
              </a:rPr>
              <a:t>lanka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048" name="sketchy rul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3E700-A6F9-D786-564E-70C4ED361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706624"/>
            <a:ext cx="6241568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Extrem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vulnerabilă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inundații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musonice</a:t>
            </a:r>
            <a:endParaRPr lang="en-US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Piața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asigurărilor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dominată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asigurările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auto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NITF (National Insurance Trust Fund) 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US" sz="2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Toți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asigurătorii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Sri Lanka sunt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obligați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să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cedeze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30% din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riscurile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lor de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reasigurare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către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NITF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C07CF-CC71-95C5-BB22-AFBC7BC9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5809" y="6356350"/>
            <a:ext cx="10058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C18C1E5-FB55-42F5-BD6D-9CC153FCDBE6}" type="slidenum">
              <a:rPr lang="en-US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A map with a pin pointing at sri lanka&#10;&#10;AI-generated content may be incorrect.">
            <a:extLst>
              <a:ext uri="{FF2B5EF4-FFF2-40B4-BE49-F238E27FC236}">
                <a16:creationId xmlns:a16="http://schemas.microsoft.com/office/drawing/2014/main" id="{D92E20F1-EEFA-D968-057C-86C83BF82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304" y="532763"/>
            <a:ext cx="4014216" cy="2518920"/>
          </a:xfrm>
          <a:prstGeom prst="rect">
            <a:avLst/>
          </a:prstGeom>
        </p:spPr>
      </p:pic>
      <p:pic>
        <p:nvPicPr>
          <p:cNvPr id="13" name="Picture 12" descr="A calculator and pen on a notebook&#10;&#10;AI-generated content may be incorrect.">
            <a:extLst>
              <a:ext uri="{FF2B5EF4-FFF2-40B4-BE49-F238E27FC236}">
                <a16:creationId xmlns:a16="http://schemas.microsoft.com/office/drawing/2014/main" id="{888C6F39-F78F-E1C8-E03D-42F8903970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7"/>
          <a:stretch>
            <a:fillRect/>
          </a:stretch>
        </p:blipFill>
        <p:spPr>
          <a:xfrm>
            <a:off x="7834304" y="3737697"/>
            <a:ext cx="4014216" cy="244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776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DC5CB-C695-A11F-BC9A-D895170EC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B00B2-1354-2AA5-E637-B13C0D3A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National Insurance Trust Fund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12DFF-5700-4C01-5E17-946CC72B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759E8DF-E74C-525F-0DCD-85714CD3A5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1198556"/>
              </p:ext>
            </p:extLst>
          </p:nvPr>
        </p:nvGraphicFramePr>
        <p:xfrm>
          <a:off x="1453242" y="2307562"/>
          <a:ext cx="9285516" cy="3234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379">
                  <a:extLst>
                    <a:ext uri="{9D8B030D-6E8A-4147-A177-3AD203B41FA5}">
                      <a16:colId xmlns:a16="http://schemas.microsoft.com/office/drawing/2014/main" val="186077397"/>
                    </a:ext>
                  </a:extLst>
                </a:gridCol>
                <a:gridCol w="2321379">
                  <a:extLst>
                    <a:ext uri="{9D8B030D-6E8A-4147-A177-3AD203B41FA5}">
                      <a16:colId xmlns:a16="http://schemas.microsoft.com/office/drawing/2014/main" val="2608711539"/>
                    </a:ext>
                  </a:extLst>
                </a:gridCol>
                <a:gridCol w="2321379">
                  <a:extLst>
                    <a:ext uri="{9D8B030D-6E8A-4147-A177-3AD203B41FA5}">
                      <a16:colId xmlns:a16="http://schemas.microsoft.com/office/drawing/2014/main" val="2701450816"/>
                    </a:ext>
                  </a:extLst>
                </a:gridCol>
                <a:gridCol w="2321379">
                  <a:extLst>
                    <a:ext uri="{9D8B030D-6E8A-4147-A177-3AD203B41FA5}">
                      <a16:colId xmlns:a16="http://schemas.microsoft.com/office/drawing/2014/main" val="1842724465"/>
                    </a:ext>
                  </a:extLst>
                </a:gridCol>
              </a:tblGrid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Venit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Costuri</a:t>
                      </a: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 (m €)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4072947"/>
                  </a:ext>
                </a:extLst>
              </a:tr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2025 (target)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571971"/>
                  </a:ext>
                </a:extLst>
              </a:tr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581831"/>
                  </a:ext>
                </a:extLst>
              </a:tr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744395"/>
                  </a:ext>
                </a:extLst>
              </a:tr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18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751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F50F4-0165-A51F-3444-F92546FDF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74D3F-B3F2-8466-E75C-721A01BFB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8CC537-DC99-ABF3-534E-C69DB20DEA41}"/>
              </a:ext>
            </a:extLst>
          </p:cNvPr>
          <p:cNvSpPr txBox="1">
            <a:spLocks/>
          </p:cNvSpPr>
          <p:nvPr/>
        </p:nvSpPr>
        <p:spPr>
          <a:xfrm>
            <a:off x="920496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National Insurance Trust Fund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CC4E04D-A7BE-423A-26E2-6D57267FAC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7476300"/>
              </p:ext>
            </p:extLst>
          </p:nvPr>
        </p:nvGraphicFramePr>
        <p:xfrm>
          <a:off x="1220418" y="1925726"/>
          <a:ext cx="9752381" cy="4430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41256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8CE1C-1085-5285-E3A5-B72FA13F9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Rectangle 1055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058" name="Rectangle 1057">
            <a:extLst>
              <a:ext uri="{FF2B5EF4-FFF2-40B4-BE49-F238E27FC236}">
                <a16:creationId xmlns:a16="http://schemas.microsoft.com/office/drawing/2014/main" id="{B5DAA40F-4F28-4316-934E-C55D7C3AA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Freeform: Shape 1059">
            <a:extLst>
              <a:ext uri="{FF2B5EF4-FFF2-40B4-BE49-F238E27FC236}">
                <a16:creationId xmlns:a16="http://schemas.microsoft.com/office/drawing/2014/main" id="{F6D467C8-A8E0-468B-B88D-9CEEE37BF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33452" cy="6858000"/>
          </a:xfrm>
          <a:custGeom>
            <a:avLst/>
            <a:gdLst>
              <a:gd name="connsiteX0" fmla="*/ 0 w 7433452"/>
              <a:gd name="connsiteY0" fmla="*/ 0 h 6858000"/>
              <a:gd name="connsiteX1" fmla="*/ 1592736 w 7433452"/>
              <a:gd name="connsiteY1" fmla="*/ 0 h 6858000"/>
              <a:gd name="connsiteX2" fmla="*/ 2171700 w 7433452"/>
              <a:gd name="connsiteY2" fmla="*/ 0 h 6858000"/>
              <a:gd name="connsiteX3" fmla="*/ 2762696 w 7433452"/>
              <a:gd name="connsiteY3" fmla="*/ 0 h 6858000"/>
              <a:gd name="connsiteX4" fmla="*/ 2829254 w 7433452"/>
              <a:gd name="connsiteY4" fmla="*/ 0 h 6858000"/>
              <a:gd name="connsiteX5" fmla="*/ 7415310 w 7433452"/>
              <a:gd name="connsiteY5" fmla="*/ 0 h 6858000"/>
              <a:gd name="connsiteX6" fmla="*/ 7405703 w 7433452"/>
              <a:gd name="connsiteY6" fmla="*/ 94814 h 6858000"/>
              <a:gd name="connsiteX7" fmla="*/ 7410754 w 7433452"/>
              <a:gd name="connsiteY7" fmla="*/ 421796 h 6858000"/>
              <a:gd name="connsiteX8" fmla="*/ 7414688 w 7433452"/>
              <a:gd name="connsiteY8" fmla="*/ 812192 h 6858000"/>
              <a:gd name="connsiteX9" fmla="*/ 7395017 w 7433452"/>
              <a:gd name="connsiteY9" fmla="*/ 1113642 h 6858000"/>
              <a:gd name="connsiteX10" fmla="*/ 7422810 w 7433452"/>
              <a:gd name="connsiteY10" fmla="*/ 1796708 h 6858000"/>
              <a:gd name="connsiteX11" fmla="*/ 7421161 w 7433452"/>
              <a:gd name="connsiteY11" fmla="*/ 2327333 h 6858000"/>
              <a:gd name="connsiteX12" fmla="*/ 7412023 w 7433452"/>
              <a:gd name="connsiteY12" fmla="*/ 2784280 h 6858000"/>
              <a:gd name="connsiteX13" fmla="*/ 7417480 w 7433452"/>
              <a:gd name="connsiteY13" fmla="*/ 2985458 h 6858000"/>
              <a:gd name="connsiteX14" fmla="*/ 7403774 w 7433452"/>
              <a:gd name="connsiteY14" fmla="*/ 3531096 h 6858000"/>
              <a:gd name="connsiteX15" fmla="*/ 7414307 w 7433452"/>
              <a:gd name="connsiteY15" fmla="*/ 4336830 h 6858000"/>
              <a:gd name="connsiteX16" fmla="*/ 7413419 w 7433452"/>
              <a:gd name="connsiteY16" fmla="*/ 5026893 h 6858000"/>
              <a:gd name="connsiteX17" fmla="*/ 7417734 w 7433452"/>
              <a:gd name="connsiteY17" fmla="*/ 5252632 h 6858000"/>
              <a:gd name="connsiteX18" fmla="*/ 7417734 w 7433452"/>
              <a:gd name="connsiteY18" fmla="*/ 5466282 h 6858000"/>
              <a:gd name="connsiteX19" fmla="*/ 7379659 w 7433452"/>
              <a:gd name="connsiteY19" fmla="*/ 6121225 h 6858000"/>
              <a:gd name="connsiteX20" fmla="*/ 7395115 w 7433452"/>
              <a:gd name="connsiteY20" fmla="*/ 6708907 h 6858000"/>
              <a:gd name="connsiteX21" fmla="*/ 7412408 w 7433452"/>
              <a:gd name="connsiteY21" fmla="*/ 6858000 h 6858000"/>
              <a:gd name="connsiteX22" fmla="*/ 2829254 w 7433452"/>
              <a:gd name="connsiteY22" fmla="*/ 6858000 h 6858000"/>
              <a:gd name="connsiteX23" fmla="*/ 2762696 w 7433452"/>
              <a:gd name="connsiteY23" fmla="*/ 6858000 h 6858000"/>
              <a:gd name="connsiteX24" fmla="*/ 2171700 w 7433452"/>
              <a:gd name="connsiteY24" fmla="*/ 6858000 h 6858000"/>
              <a:gd name="connsiteX25" fmla="*/ 1592736 w 7433452"/>
              <a:gd name="connsiteY25" fmla="*/ 6858000 h 6858000"/>
              <a:gd name="connsiteX26" fmla="*/ 0 w 7433452"/>
              <a:gd name="connsiteY2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433452" h="6858000">
                <a:moveTo>
                  <a:pt x="0" y="0"/>
                </a:moveTo>
                <a:lnTo>
                  <a:pt x="1592736" y="0"/>
                </a:lnTo>
                <a:lnTo>
                  <a:pt x="2171700" y="0"/>
                </a:lnTo>
                <a:lnTo>
                  <a:pt x="2762696" y="0"/>
                </a:lnTo>
                <a:lnTo>
                  <a:pt x="2829254" y="0"/>
                </a:lnTo>
                <a:lnTo>
                  <a:pt x="7415310" y="0"/>
                </a:lnTo>
                <a:lnTo>
                  <a:pt x="7405703" y="94814"/>
                </a:lnTo>
                <a:cubicBezTo>
                  <a:pt x="7398856" y="203629"/>
                  <a:pt x="7403520" y="312712"/>
                  <a:pt x="7410754" y="421796"/>
                </a:cubicBezTo>
                <a:cubicBezTo>
                  <a:pt x="7421580" y="551656"/>
                  <a:pt x="7422900" y="682144"/>
                  <a:pt x="7414688" y="812192"/>
                </a:cubicBezTo>
                <a:cubicBezTo>
                  <a:pt x="7406693" y="912591"/>
                  <a:pt x="7397682" y="1012988"/>
                  <a:pt x="7395017" y="1113642"/>
                </a:cubicBezTo>
                <a:cubicBezTo>
                  <a:pt x="7388670" y="1342689"/>
                  <a:pt x="7407708" y="1569316"/>
                  <a:pt x="7422810" y="1796708"/>
                </a:cubicBezTo>
                <a:cubicBezTo>
                  <a:pt x="7434487" y="1973710"/>
                  <a:pt x="7439944" y="2150457"/>
                  <a:pt x="7421161" y="2327333"/>
                </a:cubicBezTo>
                <a:cubicBezTo>
                  <a:pt x="7405170" y="2479266"/>
                  <a:pt x="7396793" y="2631453"/>
                  <a:pt x="7412023" y="2784280"/>
                </a:cubicBezTo>
                <a:cubicBezTo>
                  <a:pt x="7418749" y="2851085"/>
                  <a:pt x="7425984" y="2918653"/>
                  <a:pt x="7417480" y="2985458"/>
                </a:cubicBezTo>
                <a:cubicBezTo>
                  <a:pt x="7394508" y="3167039"/>
                  <a:pt x="7398063" y="3349132"/>
                  <a:pt x="7403774" y="3531096"/>
                </a:cubicBezTo>
                <a:cubicBezTo>
                  <a:pt x="7412277" y="3799715"/>
                  <a:pt x="7426364" y="4067954"/>
                  <a:pt x="7414307" y="4336830"/>
                </a:cubicBezTo>
                <a:cubicBezTo>
                  <a:pt x="7404027" y="4566639"/>
                  <a:pt x="7420653" y="4796831"/>
                  <a:pt x="7413419" y="5026893"/>
                </a:cubicBezTo>
                <a:cubicBezTo>
                  <a:pt x="7410982" y="5102162"/>
                  <a:pt x="7412429" y="5177504"/>
                  <a:pt x="7417734" y="5252632"/>
                </a:cubicBezTo>
                <a:cubicBezTo>
                  <a:pt x="7424271" y="5323700"/>
                  <a:pt x="7424271" y="5395213"/>
                  <a:pt x="7417734" y="5466282"/>
                </a:cubicBezTo>
                <a:cubicBezTo>
                  <a:pt x="7393239" y="5683875"/>
                  <a:pt x="7383214" y="5902486"/>
                  <a:pt x="7379659" y="6121225"/>
                </a:cubicBezTo>
                <a:cubicBezTo>
                  <a:pt x="7376423" y="6317442"/>
                  <a:pt x="7378041" y="6513586"/>
                  <a:pt x="7395115" y="6708907"/>
                </a:cubicBezTo>
                <a:lnTo>
                  <a:pt x="7412408" y="6858000"/>
                </a:lnTo>
                <a:lnTo>
                  <a:pt x="2829254" y="6858000"/>
                </a:lnTo>
                <a:lnTo>
                  <a:pt x="2762696" y="6858000"/>
                </a:lnTo>
                <a:lnTo>
                  <a:pt x="2171700" y="6858000"/>
                </a:lnTo>
                <a:lnTo>
                  <a:pt x="159273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A99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0BE483-1A32-63B6-8DFD-1B5D2E874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329184"/>
            <a:ext cx="6241568" cy="14721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India</a:t>
            </a:r>
          </a:p>
        </p:txBody>
      </p:sp>
      <p:sp>
        <p:nvSpPr>
          <p:cNvPr id="1062" name="sketchy rul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0AC312-285F-BBF4-66CE-BDC32B5BC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706624"/>
            <a:ext cx="6241568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dintre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piețele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cea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rapidă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creștere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lume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o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rată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penetrare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asigurărilor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încă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scăzută</a:t>
            </a:r>
            <a:endParaRPr lang="en-US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 Insurance Corporation of India (GIC Re) 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jucătorul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dominant pe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piața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reasigurări</a:t>
            </a:r>
            <a:endParaRPr lang="en-US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India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atrage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reasigurătorii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taxe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reguli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flexibile</a:t>
            </a: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5A11E-CD7D-5987-D2BC-A3B70FA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5809" y="6356350"/>
            <a:ext cx="10058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C18C1E5-FB55-42F5-BD6D-9CC153FCDBE6}" type="slidenum">
              <a:rPr lang="en-US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 descr="A pin on a map&#10;&#10;AI-generated content may be incorrect.">
            <a:extLst>
              <a:ext uri="{FF2B5EF4-FFF2-40B4-BE49-F238E27FC236}">
                <a16:creationId xmlns:a16="http://schemas.microsoft.com/office/drawing/2014/main" id="{717D67F5-AAB2-7FD4-CCB5-CC46F391E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304" y="457496"/>
            <a:ext cx="4014216" cy="2669453"/>
          </a:xfrm>
          <a:prstGeom prst="rect">
            <a:avLst/>
          </a:prstGeom>
        </p:spPr>
      </p:pic>
      <p:pic>
        <p:nvPicPr>
          <p:cNvPr id="13" name="Picture 12" descr="A calculator and pen on a notebook&#10;&#10;AI-generated content may be incorrect.">
            <a:extLst>
              <a:ext uri="{FF2B5EF4-FFF2-40B4-BE49-F238E27FC236}">
                <a16:creationId xmlns:a16="http://schemas.microsoft.com/office/drawing/2014/main" id="{090C9CAF-A1F1-3C93-51EC-569347EA2D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7"/>
          <a:stretch>
            <a:fillRect/>
          </a:stretch>
        </p:blipFill>
        <p:spPr>
          <a:xfrm>
            <a:off x="7834304" y="3737697"/>
            <a:ext cx="4014216" cy="244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710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9E3FA-2605-8DDD-15CC-B749B1549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616A-FAF1-13D0-2DDE-BA57554D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 Insurance Corporation R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F7271-F543-E0F5-B908-9EC4DCBE6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3C6584C-40E2-68A7-DA9B-ABCC42D6B0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1577134"/>
              </p:ext>
            </p:extLst>
          </p:nvPr>
        </p:nvGraphicFramePr>
        <p:xfrm>
          <a:off x="1453242" y="2307562"/>
          <a:ext cx="9285516" cy="3234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379">
                  <a:extLst>
                    <a:ext uri="{9D8B030D-6E8A-4147-A177-3AD203B41FA5}">
                      <a16:colId xmlns:a16="http://schemas.microsoft.com/office/drawing/2014/main" val="186077397"/>
                    </a:ext>
                  </a:extLst>
                </a:gridCol>
                <a:gridCol w="2321379">
                  <a:extLst>
                    <a:ext uri="{9D8B030D-6E8A-4147-A177-3AD203B41FA5}">
                      <a16:colId xmlns:a16="http://schemas.microsoft.com/office/drawing/2014/main" val="2608711539"/>
                    </a:ext>
                  </a:extLst>
                </a:gridCol>
                <a:gridCol w="2321379">
                  <a:extLst>
                    <a:ext uri="{9D8B030D-6E8A-4147-A177-3AD203B41FA5}">
                      <a16:colId xmlns:a16="http://schemas.microsoft.com/office/drawing/2014/main" val="2701450816"/>
                    </a:ext>
                  </a:extLst>
                </a:gridCol>
                <a:gridCol w="2321379">
                  <a:extLst>
                    <a:ext uri="{9D8B030D-6E8A-4147-A177-3AD203B41FA5}">
                      <a16:colId xmlns:a16="http://schemas.microsoft.com/office/drawing/2014/main" val="1842724465"/>
                    </a:ext>
                  </a:extLst>
                </a:gridCol>
              </a:tblGrid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Venit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Costuri</a:t>
                      </a: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 (m €)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4072947"/>
                  </a:ext>
                </a:extLst>
              </a:tr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2025 (target)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5 513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4 535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571971"/>
                  </a:ext>
                </a:extLst>
              </a:tr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5 137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4 302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581831"/>
                  </a:ext>
                </a:extLst>
              </a:tr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5 585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4 755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744395"/>
                  </a:ext>
                </a:extLst>
              </a:tr>
              <a:tr h="64682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5 596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5 236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18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027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60EF-9F20-4E94-8801-8BA37007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 Insurance Corporation R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A3822-3DBB-41A6-8C93-47E05C8A7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0A157DE-48BE-B90C-BBAE-470CCF4FF0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5102241"/>
              </p:ext>
            </p:extLst>
          </p:nvPr>
        </p:nvGraphicFramePr>
        <p:xfrm>
          <a:off x="1166812" y="2213769"/>
          <a:ext cx="9858375" cy="4142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83648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E4F8F-12AF-D290-921A-6F3A908AA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8DA76-313D-D6D1-5502-2EBF12A99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Munich Re </a:t>
            </a:r>
            <a:r>
              <a:rPr lang="ro-RO" sz="4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lang="ro-RO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General Insurance Corporation Re</a:t>
            </a:r>
            <a:endParaRPr lang="en-US" sz="4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BD483-082E-0F94-0AA6-A981F1923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DBA8F3-49FB-04AE-2339-65555750B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059136"/>
              </p:ext>
            </p:extLst>
          </p:nvPr>
        </p:nvGraphicFramePr>
        <p:xfrm>
          <a:off x="841248" y="2687363"/>
          <a:ext cx="10512550" cy="3615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255">
                  <a:extLst>
                    <a:ext uri="{9D8B030D-6E8A-4147-A177-3AD203B41FA5}">
                      <a16:colId xmlns:a16="http://schemas.microsoft.com/office/drawing/2014/main" val="1524151122"/>
                    </a:ext>
                  </a:extLst>
                </a:gridCol>
                <a:gridCol w="1051255">
                  <a:extLst>
                    <a:ext uri="{9D8B030D-6E8A-4147-A177-3AD203B41FA5}">
                      <a16:colId xmlns:a16="http://schemas.microsoft.com/office/drawing/2014/main" val="1117019722"/>
                    </a:ext>
                  </a:extLst>
                </a:gridCol>
                <a:gridCol w="1051255">
                  <a:extLst>
                    <a:ext uri="{9D8B030D-6E8A-4147-A177-3AD203B41FA5}">
                      <a16:colId xmlns:a16="http://schemas.microsoft.com/office/drawing/2014/main" val="494096022"/>
                    </a:ext>
                  </a:extLst>
                </a:gridCol>
                <a:gridCol w="1051255">
                  <a:extLst>
                    <a:ext uri="{9D8B030D-6E8A-4147-A177-3AD203B41FA5}">
                      <a16:colId xmlns:a16="http://schemas.microsoft.com/office/drawing/2014/main" val="3072124703"/>
                    </a:ext>
                  </a:extLst>
                </a:gridCol>
                <a:gridCol w="1051255">
                  <a:extLst>
                    <a:ext uri="{9D8B030D-6E8A-4147-A177-3AD203B41FA5}">
                      <a16:colId xmlns:a16="http://schemas.microsoft.com/office/drawing/2014/main" val="4094555958"/>
                    </a:ext>
                  </a:extLst>
                </a:gridCol>
                <a:gridCol w="1051255">
                  <a:extLst>
                    <a:ext uri="{9D8B030D-6E8A-4147-A177-3AD203B41FA5}">
                      <a16:colId xmlns:a16="http://schemas.microsoft.com/office/drawing/2014/main" val="2590289672"/>
                    </a:ext>
                  </a:extLst>
                </a:gridCol>
                <a:gridCol w="1051255">
                  <a:extLst>
                    <a:ext uri="{9D8B030D-6E8A-4147-A177-3AD203B41FA5}">
                      <a16:colId xmlns:a16="http://schemas.microsoft.com/office/drawing/2014/main" val="3613680174"/>
                    </a:ext>
                  </a:extLst>
                </a:gridCol>
                <a:gridCol w="1051255">
                  <a:extLst>
                    <a:ext uri="{9D8B030D-6E8A-4147-A177-3AD203B41FA5}">
                      <a16:colId xmlns:a16="http://schemas.microsoft.com/office/drawing/2014/main" val="4262512275"/>
                    </a:ext>
                  </a:extLst>
                </a:gridCol>
                <a:gridCol w="1051255">
                  <a:extLst>
                    <a:ext uri="{9D8B030D-6E8A-4147-A177-3AD203B41FA5}">
                      <a16:colId xmlns:a16="http://schemas.microsoft.com/office/drawing/2014/main" val="3201842260"/>
                    </a:ext>
                  </a:extLst>
                </a:gridCol>
                <a:gridCol w="1051255">
                  <a:extLst>
                    <a:ext uri="{9D8B030D-6E8A-4147-A177-3AD203B41FA5}">
                      <a16:colId xmlns:a16="http://schemas.microsoft.com/office/drawing/2014/main" val="1238479810"/>
                    </a:ext>
                  </a:extLst>
                </a:gridCol>
              </a:tblGrid>
              <a:tr h="56971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o-R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Munich R</a:t>
                      </a:r>
                      <a:r>
                        <a:rPr lang="ro-R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General Insurance Corporation R</a:t>
                      </a:r>
                      <a:r>
                        <a:rPr lang="ro-R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National Insurance Trust Fund</a:t>
                      </a: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070179487"/>
                  </a:ext>
                </a:extLst>
              </a:tr>
              <a:tr h="9046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Venit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Costuri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Venit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Costuri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Venit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Costuri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 (m €)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673486"/>
                  </a:ext>
                </a:extLst>
              </a:tr>
              <a:tr h="52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2025 (Target)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64000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58000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5513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4535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865929"/>
                  </a:ext>
                </a:extLst>
              </a:tr>
              <a:tr h="52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60830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52004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5671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5137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4302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747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897531"/>
                  </a:ext>
                </a:extLst>
              </a:tr>
              <a:tr h="52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2023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57884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50098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4597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5585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4755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934905"/>
                  </a:ext>
                </a:extLst>
              </a:tr>
              <a:tr h="52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55385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48200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5309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5596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5236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272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2352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582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8302C-4F6A-2D94-2DB5-3346CFB49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o-RO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Munich Re </a:t>
            </a:r>
            <a:r>
              <a:rPr lang="ro-RO" sz="4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lang="ro-RO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General Insurance Corporation Re</a:t>
            </a:r>
            <a:endParaRPr lang="en-US" sz="4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9196E-342F-E7C1-66C8-E7A7DC35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EFE555F-35DC-C34B-16E4-3B3086A317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2612717"/>
              </p:ext>
            </p:extLst>
          </p:nvPr>
        </p:nvGraphicFramePr>
        <p:xfrm>
          <a:off x="270662" y="2406700"/>
          <a:ext cx="11878476" cy="41536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25378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E2D9CA0-1791-40C7-A419-1A0FC27F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Concluzii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1BFD0-E989-4A8A-BFF6-3E2CFC5F4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9" name="Content Placeholder 4" descr="timeline SmartArt graphic">
            <a:extLst>
              <a:ext uri="{FF2B5EF4-FFF2-40B4-BE49-F238E27FC236}">
                <a16:creationId xmlns:a16="http://schemas.microsoft.com/office/drawing/2014/main" id="{F1FE7965-FFF1-4D76-8410-67C3D7905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9045502"/>
              </p:ext>
            </p:extLst>
          </p:nvPr>
        </p:nvGraphicFramePr>
        <p:xfrm>
          <a:off x="841375" y="2305050"/>
          <a:ext cx="10515600" cy="3876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603525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30">
      <a:majorFont>
        <a:latin typeface="The Serif Hand Black"/>
        <a:ea typeface=""/>
        <a:cs typeface=""/>
      </a:majorFont>
      <a:minorFont>
        <a:latin typeface="The Hand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5408fd6a-f1f3-415b-8083-04a6ccb505f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AACF876B70B64EBF9CCA02F6669BD8" ma:contentTypeVersion="4" ma:contentTypeDescription="Create a new document." ma:contentTypeScope="" ma:versionID="356a829c204a36002d0e69d75c4073d8">
  <xsd:schema xmlns:xsd="http://www.w3.org/2001/XMLSchema" xmlns:xs="http://www.w3.org/2001/XMLSchema" xmlns:p="http://schemas.microsoft.com/office/2006/metadata/properties" xmlns:ns2="5408fd6a-f1f3-415b-8083-04a6ccb505fb" targetNamespace="http://schemas.microsoft.com/office/2006/metadata/properties" ma:root="true" ma:fieldsID="c62fd35a8c548a93e99a21c8946773f5" ns2:_="">
    <xsd:import namespace="5408fd6a-f1f3-415b-8083-04a6ccb505f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08fd6a-f1f3-415b-8083-04a6ccb505f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2896BB-5566-4403-84AA-2FD10D9622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A8DA88-2D67-4B30-8205-C52078711284}">
  <ds:schemaRefs>
    <ds:schemaRef ds:uri="http://schemas.microsoft.com/office/2006/documentManagement/types"/>
    <ds:schemaRef ds:uri="16c05727-aa75-4e4a-9b5f-8a80a1165891"/>
    <ds:schemaRef ds:uri="http://purl.org/dc/terms/"/>
    <ds:schemaRef ds:uri="71af3243-3dd4-4a8d-8c0d-dd76da1f02a5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A02ECFC-DC9F-43F5-9036-9E8E547799C7}"/>
</file>

<file path=docProps/app.xml><?xml version="1.0" encoding="utf-8"?>
<Properties xmlns="http://schemas.openxmlformats.org/officeDocument/2006/extended-properties" xmlns:vt="http://schemas.openxmlformats.org/officeDocument/2006/docPropsVTypes">
  <Template>Sketch presentation</Template>
  <TotalTime>172</TotalTime>
  <Words>544</Words>
  <Application>Microsoft Office PowerPoint</Application>
  <PresentationFormat>Widescreen</PresentationFormat>
  <Paragraphs>159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The Hand Black</vt:lpstr>
      <vt:lpstr>The Serif Hand Black</vt:lpstr>
      <vt:lpstr>SketchyVTI</vt:lpstr>
      <vt:lpstr>Analiza reasigurărilor la nivel mondial - Asia: Singapore, Sri Lanka, India – </vt:lpstr>
      <vt:lpstr>Singapore  – Hub regional de reasigurare – </vt:lpstr>
      <vt:lpstr>Munich Re</vt:lpstr>
      <vt:lpstr>Munich Re</vt:lpstr>
      <vt:lpstr>Sri lanka </vt:lpstr>
      <vt:lpstr>National Insurance Trust Fund</vt:lpstr>
      <vt:lpstr>PowerPoint Presentation</vt:lpstr>
      <vt:lpstr>India</vt:lpstr>
      <vt:lpstr>General Insurance Corporation Re</vt:lpstr>
      <vt:lpstr>General Insurance Corporation Re</vt:lpstr>
      <vt:lpstr>Munich Re vs General Insurance Corporation Re</vt:lpstr>
      <vt:lpstr>Munich Re vs General Insurance Corporation Re</vt:lpstr>
      <vt:lpstr>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MIRUNA-ALEXIA RUS</dc:creator>
  <cp:lastModifiedBy>EUGENIU COJOCARU</cp:lastModifiedBy>
  <cp:revision>6</cp:revision>
  <dcterms:created xsi:type="dcterms:W3CDTF">2025-11-23T19:28:11Z</dcterms:created>
  <dcterms:modified xsi:type="dcterms:W3CDTF">2025-11-24T18:51:14Z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0x01010081AACF876B70B64EBF9CCA02F6669BD8</vt:lpwstr>
  </property>
</Properties>
</file>