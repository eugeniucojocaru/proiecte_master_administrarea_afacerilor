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6A27D-1B2E-71E4-6419-8D7F83937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0ACD31-F847-9174-8DAF-722789FFB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59496-F5A0-B1AB-B346-89AD3957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40D7-48AA-4CE3-9F48-7DC62622722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00F7C-C1DC-EE00-BAB5-064C8BE01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B06C3-705B-1C82-72ED-AA1627C5D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5C2A-41C8-478B-BDA8-9C29C2AAC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40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9C0F6-4822-A1C5-695D-D79E7551C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9E3C2-CA49-77E0-C277-61C2C9A85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08A72-225D-BCD8-2D02-47518ECB0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40D7-48AA-4CE3-9F48-7DC62622722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B2909-4FA2-BF2A-34DF-402C0C1E4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118BB-079D-4311-C298-2D03CEC99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5C2A-41C8-478B-BDA8-9C29C2AAC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52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BB9B3-578D-5BD0-0DE9-8D07B14BE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A7CD8-27E0-E1A2-6696-AD0DB4AA0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7DA34-DA43-623E-A7FB-717E8769C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40D7-48AA-4CE3-9F48-7DC62622722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F6AF7-01DD-8043-EA19-775FFB437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2AC6F-C920-CD13-9243-ACBB76847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5C2A-41C8-478B-BDA8-9C29C2AAC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26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B00F9-84A7-D7F7-12E6-4DD29F038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56AF7-2D86-D036-C8A8-574979B3BE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EB1BE-C292-653E-40C7-33C930D2F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D2F27-B4F6-C3B2-3F46-A99614FE3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40D7-48AA-4CE3-9F48-7DC62622722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901F7-9F12-6C08-CD51-9420410E9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D8E86-CDE9-EC86-E937-CE48AA1F2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5C2A-41C8-478B-BDA8-9C29C2AAC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76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E2DA-2E43-53F7-71AF-8BD76F7B6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EEE1E-47A1-5887-C234-14867FF85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3E8363-5BE8-FABB-2AB9-5157043EB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35A010-B798-9819-D9CE-6FF333AD4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4CE1F-4862-40F4-FE9E-759B198A5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E94F04-83B7-06E1-55FF-CC2FA714B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40D7-48AA-4CE3-9F48-7DC62622722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11E8A0-2690-7AE3-1FDA-1BDC3CF08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F39756-2932-34A6-FF9C-81AF7936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5C2A-41C8-478B-BDA8-9C29C2AAC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30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EF1E1-D545-C7A6-E8C1-BF4B5829B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6DA7C-90C7-BA6B-103E-59F862F6F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40D7-48AA-4CE3-9F48-7DC62622722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3A7E18-52C4-5878-A78B-19970204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BBE13-8DB4-8225-6899-7106C7C2C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5C2A-41C8-478B-BDA8-9C29C2AAC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32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65D26A-2BAA-8923-460B-CFF9419D3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40D7-48AA-4CE3-9F48-7DC62622722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B48A63-21A9-8236-C89B-C7D75C9EA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C6082-BAA1-F3DD-2138-B16EAB4AF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5C2A-41C8-478B-BDA8-9C29C2AAC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46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37757-0FDA-531B-0CB8-ADED0B72B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8E55E-9DE7-3025-A365-A35FB8806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AC0EB-2D9B-CA75-6AF8-55EADA3B4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1A7F7-1DD2-3406-B048-2F7DE637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40D7-48AA-4CE3-9F48-7DC62622722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30C81-D22B-CA58-173D-85C28372F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77DFD-79D7-96EC-8EBE-41AAD7884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5C2A-41C8-478B-BDA8-9C29C2AAC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61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37A14-D5EB-2F0C-3B34-80C19C946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9D34B9-C0BC-57EB-FAF4-FA1B48D6F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EE2A6-EA88-47A6-6CC7-9DA280D00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33FB5-2F47-9C14-9F7E-077AC3C4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40D7-48AA-4CE3-9F48-7DC62622722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54FD3-0BCF-B79A-BB2C-2143055B7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AEA99-0684-CC2D-EAAA-F0F83DD70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5C2A-41C8-478B-BDA8-9C29C2AAC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88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440A4-06D1-BC15-289A-33BB5177F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BEF2E-8937-7C1F-C29D-7A23B58A7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44718-BA17-E27F-83DC-C5C09DE3C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40D7-48AA-4CE3-9F48-7DC62622722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E9A7A-276A-D889-DC2A-9F5099F4B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9DE3C-FBD7-E8D6-6CC1-8389BE332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5C2A-41C8-478B-BDA8-9C29C2AAC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533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BD7427-DE17-1452-CFFC-4C87BB51EA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46FE3-EC0E-A220-1914-0BF0BEA44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C4F7E-D320-D2C1-3DD5-C91AFEDF5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40D7-48AA-4CE3-9F48-7DC62622722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A5466-F568-BBD9-F2D3-F2C0BAF09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AAEAB-028F-0AF1-FDE0-D8C436B84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5C2A-41C8-478B-BDA8-9C29C2AAC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41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9010F-D7A7-600D-64F0-268861C2B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B23B0-7914-CFAD-D02F-FABDE4E0E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1FE75-925A-B186-DA70-7028373B18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BA40D7-48AA-4CE3-9F48-7DC62622722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3543C-0479-8641-A3CA-76AAE512C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29C52-2418-59AC-F630-819DBE51C8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55C2A-41C8-478B-BDA8-9C29C2AAC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00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FB1CC-DA6B-FDC8-6FBB-2FF6872753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Dreptul</a:t>
            </a:r>
            <a:r>
              <a:rPr lang="en-US" dirty="0"/>
              <a:t> la </a:t>
            </a:r>
            <a:r>
              <a:rPr lang="en-US" dirty="0" err="1"/>
              <a:t>deconectare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A0778-0A29-6EDE-6E0A-6D70255DB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31350" y="6388100"/>
            <a:ext cx="2736850" cy="381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Cojocaru Eugeniu</a:t>
            </a:r>
          </a:p>
        </p:txBody>
      </p:sp>
    </p:spTree>
    <p:extLst>
      <p:ext uri="{BB962C8B-B14F-4D97-AF65-F5344CB8AC3E}">
        <p14:creationId xmlns:p14="http://schemas.microsoft.com/office/powerpoint/2010/main" val="3082335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DEA729-141B-FC7A-2560-2A46FF33BC12}"/>
              </a:ext>
            </a:extLst>
          </p:cNvPr>
          <p:cNvSpPr/>
          <p:nvPr/>
        </p:nvSpPr>
        <p:spPr>
          <a:xfrm>
            <a:off x="2514600" y="2105561"/>
            <a:ext cx="7162800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2021</a:t>
            </a:r>
          </a:p>
        </p:txBody>
      </p:sp>
    </p:spTree>
    <p:extLst>
      <p:ext uri="{BB962C8B-B14F-4D97-AF65-F5344CB8AC3E}">
        <p14:creationId xmlns:p14="http://schemas.microsoft.com/office/powerpoint/2010/main" val="879837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of a planet and a moon&#10;&#10;AI-generated content may be incorrect.">
            <a:extLst>
              <a:ext uri="{FF2B5EF4-FFF2-40B4-BE49-F238E27FC236}">
                <a16:creationId xmlns:a16="http://schemas.microsoft.com/office/drawing/2014/main" id="{D491B0EC-508B-3D25-F70F-8035C7414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5" name="Picture 4" descr="A close up of a virus&#10;&#10;AI-generated content may be incorrect.">
            <a:extLst>
              <a:ext uri="{FF2B5EF4-FFF2-40B4-BE49-F238E27FC236}">
                <a16:creationId xmlns:a16="http://schemas.microsoft.com/office/drawing/2014/main" id="{C9C82AB1-22C5-D5A7-D25D-4FB8B08019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587" y="-1210734"/>
            <a:ext cx="8773160" cy="877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7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itting at a desk with a computer&#10;&#10;AI-generated content may be incorrect.">
            <a:extLst>
              <a:ext uri="{FF2B5EF4-FFF2-40B4-BE49-F238E27FC236}">
                <a16:creationId xmlns:a16="http://schemas.microsoft.com/office/drawing/2014/main" id="{F7066E31-40F8-E6A6-1533-AAABEE80D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94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and a baby at a desk&#10;&#10;AI-generated content may be incorrect.">
            <a:extLst>
              <a:ext uri="{FF2B5EF4-FFF2-40B4-BE49-F238E27FC236}">
                <a16:creationId xmlns:a16="http://schemas.microsoft.com/office/drawing/2014/main" id="{6FCD8E82-BA07-9F48-FF29-F77A45651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358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itting at a computer&#10;&#10;AI-generated content may be incorrect.">
            <a:extLst>
              <a:ext uri="{FF2B5EF4-FFF2-40B4-BE49-F238E27FC236}">
                <a16:creationId xmlns:a16="http://schemas.microsoft.com/office/drawing/2014/main" id="{07CDE00D-CA93-342C-D2B0-9C60B5017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88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leeping at a desk&#10;&#10;AI-generated content may be incorrect.">
            <a:extLst>
              <a:ext uri="{FF2B5EF4-FFF2-40B4-BE49-F238E27FC236}">
                <a16:creationId xmlns:a16="http://schemas.microsoft.com/office/drawing/2014/main" id="{5497ADBA-E978-2359-BF69-33FA86B1B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246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B09B0-F40C-1A53-ABFE-408BD667D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US" sz="2600">
                <a:solidFill>
                  <a:srgbClr val="FFFFFF"/>
                </a:solidFill>
              </a:rPr>
              <a:t>Mapa Cronologica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DDC59C-BF62-5A20-7CC3-814F5AB7E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472120"/>
              </p:ext>
            </p:extLst>
          </p:nvPr>
        </p:nvGraphicFramePr>
        <p:xfrm>
          <a:off x="4038600" y="1119885"/>
          <a:ext cx="7734300" cy="4597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0021">
                  <a:extLst>
                    <a:ext uri="{9D8B030D-6E8A-4147-A177-3AD203B41FA5}">
                      <a16:colId xmlns:a16="http://schemas.microsoft.com/office/drawing/2014/main" val="469269651"/>
                    </a:ext>
                  </a:extLst>
                </a:gridCol>
                <a:gridCol w="2371408">
                  <a:extLst>
                    <a:ext uri="{9D8B030D-6E8A-4147-A177-3AD203B41FA5}">
                      <a16:colId xmlns:a16="http://schemas.microsoft.com/office/drawing/2014/main" val="2100437535"/>
                    </a:ext>
                  </a:extLst>
                </a:gridCol>
                <a:gridCol w="4382871">
                  <a:extLst>
                    <a:ext uri="{9D8B030D-6E8A-4147-A177-3AD203B41FA5}">
                      <a16:colId xmlns:a16="http://schemas.microsoft.com/office/drawing/2014/main" val="3423350350"/>
                    </a:ext>
                  </a:extLst>
                </a:gridCol>
              </a:tblGrid>
              <a:tr h="445292">
                <a:tc>
                  <a:txBody>
                    <a:bodyPr/>
                    <a:lstStyle/>
                    <a:p>
                      <a:r>
                        <a:rPr lang="en-US" sz="2000" b="1"/>
                        <a:t>2021</a:t>
                      </a:r>
                    </a:p>
                  </a:txBody>
                  <a:tcPr marL="101203" marR="101203" marT="50601" marB="50601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21 Ianuarie (</a:t>
                      </a:r>
                      <a:r>
                        <a:rPr lang="en-US" sz="2000" b="1"/>
                        <a:t>UE</a:t>
                      </a:r>
                      <a:r>
                        <a:rPr lang="en-US" sz="2000"/>
                        <a:t>)</a:t>
                      </a:r>
                    </a:p>
                  </a:txBody>
                  <a:tcPr marL="101203" marR="101203" marT="50601" marB="50601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2019/2181(INL)</a:t>
                      </a:r>
                    </a:p>
                  </a:txBody>
                  <a:tcPr marL="101203" marR="101203" marT="50601" marB="50601"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948021"/>
                  </a:ext>
                </a:extLst>
              </a:tr>
              <a:tr h="445292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RO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Pl-x 599/2021 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284006"/>
                  </a:ext>
                </a:extLst>
              </a:tr>
              <a:tr h="445292">
                <a:tc>
                  <a:txBody>
                    <a:bodyPr/>
                    <a:lstStyle/>
                    <a:p>
                      <a:r>
                        <a:rPr lang="en-US" sz="2000" b="1"/>
                        <a:t>2022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RO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L482/2022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9651263"/>
                  </a:ext>
                </a:extLst>
              </a:tr>
              <a:tr h="770039">
                <a:tc>
                  <a:txBody>
                    <a:bodyPr/>
                    <a:lstStyle/>
                    <a:p>
                      <a:r>
                        <a:rPr lang="en-US" sz="2000" b="1"/>
                        <a:t>2023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Noiembrie (</a:t>
                      </a:r>
                      <a:r>
                        <a:rPr lang="en-US" sz="2000" b="1"/>
                        <a:t>UE</a:t>
                      </a:r>
                      <a:r>
                        <a:rPr lang="en-US" sz="2000"/>
                        <a:t>)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Sindicatele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patronatele</a:t>
                      </a:r>
                      <a:r>
                        <a:rPr lang="en-US" sz="2000" dirty="0"/>
                        <a:t> nu </a:t>
                      </a:r>
                      <a:r>
                        <a:rPr lang="en-US" sz="2000" dirty="0" err="1"/>
                        <a:t>reusesc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ajunga</a:t>
                      </a:r>
                      <a:r>
                        <a:rPr lang="en-US" sz="2000" dirty="0"/>
                        <a:t> la un </a:t>
                      </a:r>
                      <a:r>
                        <a:rPr lang="en-US" sz="2000" dirty="0" err="1"/>
                        <a:t>acord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comun</a:t>
                      </a:r>
                      <a:endParaRPr lang="en-US" sz="2000" dirty="0"/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4019825"/>
                  </a:ext>
                </a:extLst>
              </a:tr>
              <a:tr h="445292">
                <a:tc>
                  <a:txBody>
                    <a:bodyPr/>
                    <a:lstStyle/>
                    <a:p>
                      <a:r>
                        <a:rPr lang="en-US" sz="2000" b="1" dirty="0"/>
                        <a:t>2024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Aprilie (</a:t>
                      </a:r>
                      <a:r>
                        <a:rPr lang="en-US" sz="2000" b="1"/>
                        <a:t>UE</a:t>
                      </a:r>
                      <a:r>
                        <a:rPr lang="en-US" sz="2000"/>
                        <a:t>)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Comisia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demareaza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procesul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initierii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unei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noi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propuneri</a:t>
                      </a:r>
                      <a:r>
                        <a:rPr lang="en-US" sz="2000" dirty="0"/>
                        <a:t> legislative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4063079"/>
                  </a:ext>
                </a:extLst>
              </a:tr>
              <a:tr h="445292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Iunie (</a:t>
                      </a:r>
                      <a:r>
                        <a:rPr lang="en-US" sz="2000" b="1"/>
                        <a:t>UE</a:t>
                      </a:r>
                      <a:r>
                        <a:rPr lang="en-US" sz="2000"/>
                        <a:t>)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Consultare cu partenerii sociali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938968"/>
                  </a:ext>
                </a:extLst>
              </a:tr>
              <a:tr h="445292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Octombrie (</a:t>
                      </a:r>
                      <a:r>
                        <a:rPr lang="en-US" sz="2000" b="1"/>
                        <a:t>RO</a:t>
                      </a:r>
                      <a:r>
                        <a:rPr lang="en-US" sz="2000"/>
                        <a:t>)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Legea 290/2024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6659386"/>
                  </a:ext>
                </a:extLst>
              </a:tr>
              <a:tr h="445292">
                <a:tc>
                  <a:txBody>
                    <a:bodyPr/>
                    <a:lstStyle/>
                    <a:p>
                      <a:r>
                        <a:rPr lang="en-US" sz="2000" b="1"/>
                        <a:t>2025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UE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Analizeaza rezultatele Iunie 2024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8769570"/>
                  </a:ext>
                </a:extLst>
              </a:tr>
              <a:tr h="445292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RO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290/2024 ✅</a:t>
                      </a:r>
                    </a:p>
                  </a:txBody>
                  <a:tcPr marL="101203" marR="101203" marT="50601" marB="506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3411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529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FB2B24-2DA2-6E0C-86C7-61B405782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US" sz="2600">
                <a:solidFill>
                  <a:srgbClr val="FFFFFF"/>
                </a:solidFill>
              </a:rPr>
              <a:t>Legea 290/2024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387066-6800-2C27-022F-B28AD55C4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518535"/>
              </p:ext>
            </p:extLst>
          </p:nvPr>
        </p:nvGraphicFramePr>
        <p:xfrm>
          <a:off x="4038600" y="1666777"/>
          <a:ext cx="7188200" cy="35210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9950">
                  <a:extLst>
                    <a:ext uri="{9D8B030D-6E8A-4147-A177-3AD203B41FA5}">
                      <a16:colId xmlns:a16="http://schemas.microsoft.com/office/drawing/2014/main" val="430732371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1577113327"/>
                    </a:ext>
                  </a:extLst>
                </a:gridCol>
              </a:tblGrid>
              <a:tr h="835123">
                <a:tc>
                  <a:txBody>
                    <a:bodyPr/>
                    <a:lstStyle/>
                    <a:p>
                      <a:r>
                        <a:rPr lang="en-US" sz="2200" b="1" dirty="0"/>
                        <a:t>Ce face </a:t>
                      </a:r>
                      <a:r>
                        <a:rPr lang="en-US" sz="2200" b="1" dirty="0" err="1"/>
                        <a:t>legea</a:t>
                      </a:r>
                      <a:r>
                        <a:rPr lang="en-US" sz="2200" b="1" dirty="0"/>
                        <a:t>?</a:t>
                      </a:r>
                    </a:p>
                  </a:txBody>
                  <a:tcPr marL="112854" marR="112854" marT="56427" marB="56427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Modifica Legea Telemuncii (</a:t>
                      </a:r>
                      <a:r>
                        <a:rPr lang="en-US" sz="2200" b="1"/>
                        <a:t>81/2018</a:t>
                      </a:r>
                      <a:r>
                        <a:rPr lang="en-US" sz="2200"/>
                        <a:t>)</a:t>
                      </a:r>
                    </a:p>
                  </a:txBody>
                  <a:tcPr marL="112854" marR="112854" marT="56427" marB="56427"/>
                </a:tc>
                <a:extLst>
                  <a:ext uri="{0D108BD9-81ED-4DB2-BD59-A6C34878D82A}">
                    <a16:rowId xmlns:a16="http://schemas.microsoft.com/office/drawing/2014/main" val="3567137126"/>
                  </a:ext>
                </a:extLst>
              </a:tr>
              <a:tr h="1173686">
                <a:tc>
                  <a:txBody>
                    <a:bodyPr/>
                    <a:lstStyle/>
                    <a:p>
                      <a:r>
                        <a:rPr lang="en-US" sz="2200" b="1"/>
                        <a:t>Punct central:</a:t>
                      </a:r>
                    </a:p>
                  </a:txBody>
                  <a:tcPr marL="112854" marR="112854" marT="56427" marB="56427"/>
                </a:tc>
                <a:tc>
                  <a:txBody>
                    <a:bodyPr/>
                    <a:lstStyle/>
                    <a:p>
                      <a:r>
                        <a:rPr lang="en-US" sz="2200" dirty="0" err="1"/>
                        <a:t>Obligatia</a:t>
                      </a:r>
                      <a:r>
                        <a:rPr lang="en-US" sz="2200" dirty="0"/>
                        <a:t> </a:t>
                      </a:r>
                      <a:r>
                        <a:rPr lang="en-US" sz="2200" dirty="0" err="1"/>
                        <a:t>angajatului</a:t>
                      </a:r>
                      <a:r>
                        <a:rPr lang="en-US" sz="2200" dirty="0"/>
                        <a:t> </a:t>
                      </a:r>
                      <a:r>
                        <a:rPr lang="en-US" sz="2200" dirty="0" err="1"/>
                        <a:t>si</a:t>
                      </a:r>
                      <a:r>
                        <a:rPr lang="en-US" sz="2200" dirty="0"/>
                        <a:t> a </a:t>
                      </a:r>
                      <a:r>
                        <a:rPr lang="en-US" sz="2200" dirty="0" err="1"/>
                        <a:t>angajatorului</a:t>
                      </a:r>
                      <a:r>
                        <a:rPr lang="en-US" sz="2200" dirty="0"/>
                        <a:t> de a </a:t>
                      </a:r>
                      <a:r>
                        <a:rPr lang="en-US" sz="2200" dirty="0" err="1"/>
                        <a:t>stabili</a:t>
                      </a:r>
                      <a:r>
                        <a:rPr lang="en-US" sz="2200" dirty="0"/>
                        <a:t> </a:t>
                      </a:r>
                      <a:r>
                        <a:rPr lang="en-US" sz="2200" dirty="0" err="1"/>
                        <a:t>modalitati</a:t>
                      </a:r>
                      <a:r>
                        <a:rPr lang="en-US" sz="2200" dirty="0"/>
                        <a:t> concrete de </a:t>
                      </a:r>
                      <a:r>
                        <a:rPr lang="en-US" sz="2200" dirty="0" err="1"/>
                        <a:t>exercitare</a:t>
                      </a:r>
                      <a:r>
                        <a:rPr lang="en-US" sz="2200" dirty="0"/>
                        <a:t> a </a:t>
                      </a:r>
                      <a:r>
                        <a:rPr lang="en-US" sz="2200" dirty="0" err="1"/>
                        <a:t>deptului</a:t>
                      </a:r>
                      <a:r>
                        <a:rPr lang="en-US" sz="2200" dirty="0"/>
                        <a:t> la </a:t>
                      </a:r>
                      <a:r>
                        <a:rPr lang="en-US" sz="2200" dirty="0" err="1"/>
                        <a:t>deconectare</a:t>
                      </a:r>
                      <a:endParaRPr lang="en-US" sz="2200" dirty="0"/>
                    </a:p>
                  </a:txBody>
                  <a:tcPr marL="112854" marR="112854" marT="56427" marB="56427"/>
                </a:tc>
                <a:extLst>
                  <a:ext uri="{0D108BD9-81ED-4DB2-BD59-A6C34878D82A}">
                    <a16:rowId xmlns:a16="http://schemas.microsoft.com/office/drawing/2014/main" val="1492645866"/>
                  </a:ext>
                </a:extLst>
              </a:tr>
              <a:tr h="1512250">
                <a:tc>
                  <a:txBody>
                    <a:bodyPr/>
                    <a:lstStyle/>
                    <a:p>
                      <a:r>
                        <a:rPr lang="en-US" sz="2200" b="1" dirty="0"/>
                        <a:t>Zone </a:t>
                      </a:r>
                      <a:r>
                        <a:rPr lang="en-US" sz="2200" b="1" dirty="0" err="1"/>
                        <a:t>gri</a:t>
                      </a:r>
                      <a:r>
                        <a:rPr lang="en-US" sz="2200" b="1" dirty="0"/>
                        <a:t>:</a:t>
                      </a:r>
                    </a:p>
                  </a:txBody>
                  <a:tcPr marL="112854" marR="112854" marT="56427" marB="56427"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NU</a:t>
                      </a:r>
                      <a:r>
                        <a:rPr lang="en-US" sz="2200" dirty="0"/>
                        <a:t> e </a:t>
                      </a:r>
                      <a:r>
                        <a:rPr lang="en-US" sz="2200" dirty="0" err="1"/>
                        <a:t>lege</a:t>
                      </a:r>
                      <a:r>
                        <a:rPr lang="en-US" sz="2200" dirty="0"/>
                        <a:t> </a:t>
                      </a:r>
                      <a:r>
                        <a:rPr lang="en-US" sz="2200" dirty="0" err="1"/>
                        <a:t>universala</a:t>
                      </a:r>
                      <a:r>
                        <a:rPr lang="en-US" sz="2200" dirty="0"/>
                        <a:t>.</a:t>
                      </a:r>
                    </a:p>
                    <a:p>
                      <a:r>
                        <a:rPr lang="en-US" sz="2200" b="1" dirty="0"/>
                        <a:t>NU</a:t>
                      </a:r>
                      <a:r>
                        <a:rPr lang="en-US" sz="2200" dirty="0"/>
                        <a:t> </a:t>
                      </a:r>
                      <a:r>
                        <a:rPr lang="en-US" sz="2200" dirty="0" err="1"/>
                        <a:t>stabileste</a:t>
                      </a:r>
                      <a:r>
                        <a:rPr lang="en-US" sz="2200" dirty="0"/>
                        <a:t> </a:t>
                      </a:r>
                      <a:r>
                        <a:rPr lang="en-US" sz="2200" dirty="0" err="1"/>
                        <a:t>repercusiuni</a:t>
                      </a:r>
                      <a:r>
                        <a:rPr lang="en-US" sz="2200" dirty="0"/>
                        <a:t>.</a:t>
                      </a:r>
                    </a:p>
                    <a:p>
                      <a:r>
                        <a:rPr lang="en-US" sz="2200" b="1" dirty="0"/>
                        <a:t>NU</a:t>
                      </a:r>
                      <a:r>
                        <a:rPr lang="en-US" sz="2200" dirty="0"/>
                        <a:t> se </a:t>
                      </a:r>
                      <a:r>
                        <a:rPr lang="en-US" sz="2200" dirty="0" err="1"/>
                        <a:t>aplica</a:t>
                      </a:r>
                      <a:r>
                        <a:rPr lang="en-US" sz="2200" dirty="0"/>
                        <a:t> </a:t>
                      </a:r>
                      <a:r>
                        <a:rPr lang="en-US" sz="2200" dirty="0" err="1"/>
                        <a:t>salariatilor</a:t>
                      </a:r>
                      <a:r>
                        <a:rPr lang="en-US" sz="2200" dirty="0"/>
                        <a:t> care </a:t>
                      </a:r>
                      <a:r>
                        <a:rPr lang="en-US" sz="2200" dirty="0" err="1"/>
                        <a:t>lucreaza</a:t>
                      </a:r>
                      <a:r>
                        <a:rPr lang="en-US" sz="2200" dirty="0"/>
                        <a:t> la </a:t>
                      </a:r>
                      <a:r>
                        <a:rPr lang="en-US" sz="2200" dirty="0" err="1"/>
                        <a:t>sediu</a:t>
                      </a:r>
                      <a:r>
                        <a:rPr lang="en-US" sz="2200" dirty="0"/>
                        <a:t>.</a:t>
                      </a:r>
                    </a:p>
                  </a:txBody>
                  <a:tcPr marL="112854" marR="112854" marT="56427" marB="56427"/>
                </a:tc>
                <a:extLst>
                  <a:ext uri="{0D108BD9-81ED-4DB2-BD59-A6C34878D82A}">
                    <a16:rowId xmlns:a16="http://schemas.microsoft.com/office/drawing/2014/main" val="3052899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774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97750-D22F-0EB3-D552-851766046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US" sz="2600">
                <a:solidFill>
                  <a:srgbClr val="FFFFFF"/>
                </a:solidFill>
              </a:rPr>
              <a:t>Beneficii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542161-2595-A85D-5117-7AFE4AA78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151466"/>
              </p:ext>
            </p:extLst>
          </p:nvPr>
        </p:nvGraphicFramePr>
        <p:xfrm>
          <a:off x="4038600" y="1605807"/>
          <a:ext cx="7188200" cy="3702653"/>
        </p:xfrm>
        <a:graphic>
          <a:graphicData uri="http://schemas.openxmlformats.org/drawingml/2006/table">
            <a:tbl>
              <a:tblPr firstRow="1" bandRow="1">
                <a:noFill/>
                <a:tableStyleId>{2D5ABB26-0587-4C30-8999-92F81FD0307C}</a:tableStyleId>
              </a:tblPr>
              <a:tblGrid>
                <a:gridCol w="3428027">
                  <a:extLst>
                    <a:ext uri="{9D8B030D-6E8A-4147-A177-3AD203B41FA5}">
                      <a16:colId xmlns:a16="http://schemas.microsoft.com/office/drawing/2014/main" val="2621393026"/>
                    </a:ext>
                  </a:extLst>
                </a:gridCol>
                <a:gridCol w="3760173">
                  <a:extLst>
                    <a:ext uri="{9D8B030D-6E8A-4147-A177-3AD203B41FA5}">
                      <a16:colId xmlns:a16="http://schemas.microsoft.com/office/drawing/2014/main" val="4286648399"/>
                    </a:ext>
                  </a:extLst>
                </a:gridCol>
              </a:tblGrid>
              <a:tr h="561194">
                <a:tc>
                  <a:txBody>
                    <a:bodyPr/>
                    <a:lstStyle/>
                    <a:p>
                      <a:pPr algn="ctr"/>
                      <a:r>
                        <a:rPr lang="en-US" sz="2400" b="1" cap="all" spc="60" dirty="0" err="1">
                          <a:solidFill>
                            <a:schemeClr val="tx1"/>
                          </a:solidFill>
                        </a:rPr>
                        <a:t>Angajat</a:t>
                      </a:r>
                      <a:endParaRPr lang="en-US" sz="2400" b="1" cap="all" spc="60" dirty="0">
                        <a:solidFill>
                          <a:schemeClr val="tx1"/>
                        </a:solidFill>
                      </a:endParaRPr>
                    </a:p>
                  </a:txBody>
                  <a:tcPr marL="170420" marR="170420" marT="127544" marB="127544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cap="all" spc="60" dirty="0" err="1">
                          <a:solidFill>
                            <a:schemeClr val="tx1"/>
                          </a:solidFill>
                        </a:rPr>
                        <a:t>Angajator</a:t>
                      </a:r>
                      <a:endParaRPr lang="en-US" sz="2400" b="1" cap="all" spc="60" dirty="0">
                        <a:solidFill>
                          <a:schemeClr val="tx1"/>
                        </a:solidFill>
                      </a:endParaRPr>
                    </a:p>
                  </a:txBody>
                  <a:tcPr marL="170420" marR="170420" marT="127544" marB="127544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064313"/>
                  </a:ext>
                </a:extLst>
              </a:tr>
              <a:tr h="666245">
                <a:tc>
                  <a:txBody>
                    <a:bodyPr/>
                    <a:lstStyle/>
                    <a:p>
                      <a:endParaRPr lang="en-US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70420" marR="170420" marT="85211" marB="127544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70420" marR="170420" marT="85211" marB="1275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038083"/>
                  </a:ext>
                </a:extLst>
              </a:tr>
              <a:tr h="603890">
                <a:tc>
                  <a:txBody>
                    <a:bodyPr/>
                    <a:lstStyle/>
                    <a:p>
                      <a:r>
                        <a:rPr lang="en-US" sz="2200" cap="none" spc="0" dirty="0">
                          <a:solidFill>
                            <a:schemeClr val="tx1"/>
                          </a:solidFill>
                        </a:rPr>
                        <a:t>Reduce </a:t>
                      </a:r>
                      <a:r>
                        <a:rPr lang="en-US" sz="2200" cap="none" spc="0" dirty="0" err="1">
                          <a:solidFill>
                            <a:schemeClr val="tx1"/>
                          </a:solidFill>
                        </a:rPr>
                        <a:t>stresul</a:t>
                      </a:r>
                      <a:endParaRPr lang="en-US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70420" marR="170420" marT="85211" marB="1275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Reduce rata de burnout</a:t>
                      </a:r>
                    </a:p>
                  </a:txBody>
                  <a:tcPr marL="170420" marR="170420" marT="85211" marB="1275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154006"/>
                  </a:ext>
                </a:extLst>
              </a:tr>
              <a:tr h="603890"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Echilibru</a:t>
                      </a:r>
                    </a:p>
                  </a:txBody>
                  <a:tcPr marL="170420" marR="170420" marT="85211" marB="127544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Creste retentia angajatilor</a:t>
                      </a:r>
                    </a:p>
                  </a:txBody>
                  <a:tcPr marL="170420" marR="170420" marT="85211" marB="1275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377471"/>
                  </a:ext>
                </a:extLst>
              </a:tr>
              <a:tr h="603890"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Calitatea muncii</a:t>
                      </a:r>
                    </a:p>
                  </a:txBody>
                  <a:tcPr marL="170420" marR="170420" marT="85211" marB="1275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Productivitate sustenabila</a:t>
                      </a:r>
                    </a:p>
                  </a:txBody>
                  <a:tcPr marL="170420" marR="170420" marT="85211" marB="1275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325337"/>
                  </a:ext>
                </a:extLst>
              </a:tr>
              <a:tr h="603890"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Clarificarea asteptarilor</a:t>
                      </a:r>
                    </a:p>
                  </a:txBody>
                  <a:tcPr marL="170420" marR="170420" marT="85211" marB="127544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 dirty="0" err="1">
                          <a:solidFill>
                            <a:schemeClr val="tx1"/>
                          </a:solidFill>
                        </a:rPr>
                        <a:t>Conformitate</a:t>
                      </a:r>
                      <a:r>
                        <a:rPr lang="en-US" sz="22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200" cap="none" spc="0" dirty="0" err="1">
                          <a:solidFill>
                            <a:schemeClr val="tx1"/>
                          </a:solidFill>
                        </a:rPr>
                        <a:t>legala</a:t>
                      </a:r>
                      <a:endParaRPr lang="en-US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70420" marR="170420" marT="85211" marB="1275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283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6277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5D310-F85C-C983-136B-BCC29D228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422" y="2929307"/>
            <a:ext cx="1733550" cy="1168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Intrebari</a:t>
            </a:r>
            <a:r>
              <a:rPr lang="en-US" sz="3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comune</a:t>
            </a:r>
            <a:endParaRPr lang="en-US" sz="3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54D481-22A6-0A4F-4DE8-C458105A72B2}"/>
              </a:ext>
            </a:extLst>
          </p:cNvPr>
          <p:cNvSpPr txBox="1"/>
          <p:nvPr/>
        </p:nvSpPr>
        <p:spPr>
          <a:xfrm>
            <a:off x="4654732" y="850052"/>
            <a:ext cx="6390623" cy="5326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Daca </a:t>
            </a:r>
            <a:r>
              <a:rPr lang="en-US" sz="2400" dirty="0" err="1"/>
              <a:t>exista</a:t>
            </a:r>
            <a:r>
              <a:rPr lang="en-US" sz="2400" dirty="0"/>
              <a:t> o </a:t>
            </a:r>
            <a:r>
              <a:rPr lang="en-US" sz="2400" dirty="0" err="1"/>
              <a:t>urgenta</a:t>
            </a:r>
            <a:r>
              <a:rPr lang="en-US" sz="2400" dirty="0"/>
              <a:t> </a:t>
            </a:r>
            <a:r>
              <a:rPr lang="en-US" sz="2400" dirty="0" err="1"/>
              <a:t>reala</a:t>
            </a:r>
            <a:r>
              <a:rPr lang="en-US" sz="2400" dirty="0"/>
              <a:t>, cum </a:t>
            </a:r>
            <a:r>
              <a:rPr lang="en-US" sz="2400" dirty="0" err="1"/>
              <a:t>contacteaza</a:t>
            </a:r>
            <a:r>
              <a:rPr lang="en-US" sz="2400" dirty="0"/>
              <a:t> </a:t>
            </a:r>
            <a:r>
              <a:rPr lang="en-US" sz="2400" dirty="0" err="1"/>
              <a:t>angajatorul</a:t>
            </a:r>
            <a:r>
              <a:rPr lang="en-US" sz="2400" dirty="0"/>
              <a:t> </a:t>
            </a:r>
            <a:r>
              <a:rPr lang="en-US" sz="2400" dirty="0" err="1"/>
              <a:t>angajatul</a:t>
            </a:r>
            <a:r>
              <a:rPr lang="en-US" sz="2400" dirty="0"/>
              <a:t>?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Colegul</a:t>
            </a:r>
            <a:r>
              <a:rPr lang="en-US" sz="2400" dirty="0"/>
              <a:t> </a:t>
            </a:r>
            <a:r>
              <a:rPr lang="en-US" sz="2400" dirty="0" err="1"/>
              <a:t>lucreaza</a:t>
            </a:r>
            <a:r>
              <a:rPr lang="en-US" sz="2400" dirty="0"/>
              <a:t> in </a:t>
            </a:r>
            <a:r>
              <a:rPr lang="en-US" sz="2400" dirty="0" err="1"/>
              <a:t>Statele</a:t>
            </a:r>
            <a:r>
              <a:rPr lang="en-US" sz="2400" dirty="0"/>
              <a:t> Unite, cum pot </a:t>
            </a:r>
            <a:r>
              <a:rPr lang="en-US" sz="2400" dirty="0" err="1"/>
              <a:t>sa</a:t>
            </a:r>
            <a:r>
              <a:rPr lang="en-US" sz="2400" dirty="0"/>
              <a:t> ma </a:t>
            </a:r>
            <a:r>
              <a:rPr lang="en-US" sz="2400" dirty="0" err="1"/>
              <a:t>sincronizez</a:t>
            </a:r>
            <a:r>
              <a:rPr lang="en-US" sz="2400" dirty="0"/>
              <a:t> cu </a:t>
            </a:r>
            <a:r>
              <a:rPr lang="en-US" sz="2400" dirty="0" err="1"/>
              <a:t>el</a:t>
            </a:r>
            <a:r>
              <a:rPr lang="en-US" sz="2400" dirty="0"/>
              <a:t>?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Cum </a:t>
            </a:r>
            <a:r>
              <a:rPr lang="en-US" sz="2400" dirty="0" err="1"/>
              <a:t>implementez</a:t>
            </a:r>
            <a:r>
              <a:rPr lang="en-US" sz="2400" dirty="0"/>
              <a:t> </a:t>
            </a:r>
            <a:r>
              <a:rPr lang="en-US" sz="2400" dirty="0" err="1"/>
              <a:t>acest</a:t>
            </a:r>
            <a:r>
              <a:rPr lang="en-US" sz="2400" dirty="0"/>
              <a:t> </a:t>
            </a:r>
            <a:r>
              <a:rPr lang="en-US" sz="2400" dirty="0" err="1"/>
              <a:t>drept</a:t>
            </a:r>
            <a:r>
              <a:rPr lang="en-US" sz="2400" dirty="0"/>
              <a:t>, in </a:t>
            </a:r>
            <a:r>
              <a:rPr lang="en-US" sz="2400" dirty="0" err="1"/>
              <a:t>calitate</a:t>
            </a:r>
            <a:r>
              <a:rPr lang="en-US" sz="2400" dirty="0"/>
              <a:t> de </a:t>
            </a:r>
            <a:r>
              <a:rPr lang="en-US" sz="2400" dirty="0" err="1"/>
              <a:t>angajator</a:t>
            </a:r>
            <a:r>
              <a:rPr lang="en-US" sz="2400" dirty="0"/>
              <a:t>? Dar in </a:t>
            </a:r>
            <a:r>
              <a:rPr lang="en-US" sz="2400" dirty="0" err="1"/>
              <a:t>calitate</a:t>
            </a:r>
            <a:r>
              <a:rPr lang="en-US" sz="2400" dirty="0"/>
              <a:t> de </a:t>
            </a:r>
            <a:r>
              <a:rPr lang="en-US" sz="2400" dirty="0" err="1"/>
              <a:t>angajat</a:t>
            </a:r>
            <a:r>
              <a:rPr lang="en-US" sz="2400" dirty="0"/>
              <a:t>?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Ce </a:t>
            </a:r>
            <a:r>
              <a:rPr lang="en-US" sz="2400" dirty="0" err="1"/>
              <a:t>altceva</a:t>
            </a:r>
            <a:r>
              <a:rPr lang="en-US" sz="2400" dirty="0"/>
              <a:t> </a:t>
            </a:r>
            <a:r>
              <a:rPr lang="en-US" sz="2400" dirty="0" err="1"/>
              <a:t>ar</a:t>
            </a:r>
            <a:r>
              <a:rPr lang="en-US" sz="2400" dirty="0"/>
              <a:t> </a:t>
            </a:r>
            <a:r>
              <a:rPr lang="en-US" sz="2400" dirty="0" err="1"/>
              <a:t>trebui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inglobeze</a:t>
            </a:r>
            <a:r>
              <a:rPr lang="en-US" sz="2400" dirty="0"/>
              <a:t> </a:t>
            </a:r>
            <a:r>
              <a:rPr lang="en-US" sz="2400" dirty="0" err="1"/>
              <a:t>aceasta</a:t>
            </a:r>
            <a:r>
              <a:rPr lang="en-US" sz="2400" dirty="0"/>
              <a:t> </a:t>
            </a:r>
            <a:r>
              <a:rPr lang="en-US" sz="2400" dirty="0" err="1"/>
              <a:t>lege</a:t>
            </a:r>
            <a:r>
              <a:rPr lang="en-US" sz="2400" dirty="0"/>
              <a:t> pe </a:t>
            </a:r>
            <a:r>
              <a:rPr lang="en-US" sz="2400" dirty="0" err="1"/>
              <a:t>viitor</a:t>
            </a:r>
            <a:r>
              <a:rPr lang="en-US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13779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3" ma:contentTypeDescription="Create a new document." ma:contentTypeScope="" ma:versionID="bacad1ff664c2d2ec7c8cc0e173910bc">
  <xsd:schema xmlns:xsd="http://www.w3.org/2001/XMLSchema" xmlns:xs="http://www.w3.org/2001/XMLSchema" xmlns:p="http://schemas.microsoft.com/office/2006/metadata/properties" xmlns:ns2="fa0e77c9-1a0d-4ee8-b1f5-4ac48c790630" targetNamespace="http://schemas.microsoft.com/office/2006/metadata/properties" ma:root="true" ma:fieldsID="2d949852c592878203bfce1860d1c848" ns2:_="">
    <xsd:import namespace="fa0e77c9-1a0d-4ee8-b1f5-4ac48c7906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9A8382D-021F-49BC-8542-FE296FD9B325}"/>
</file>

<file path=customXml/itemProps2.xml><?xml version="1.0" encoding="utf-8"?>
<ds:datastoreItem xmlns:ds="http://schemas.openxmlformats.org/officeDocument/2006/customXml" ds:itemID="{894CEBDD-628B-45DF-A248-CC8E9D6B5688}"/>
</file>

<file path=customXml/itemProps3.xml><?xml version="1.0" encoding="utf-8"?>
<ds:datastoreItem xmlns:ds="http://schemas.openxmlformats.org/officeDocument/2006/customXml" ds:itemID="{459F8066-3FBF-4408-B37D-151C3C6434A7}"/>
</file>

<file path=docProps/app.xml><?xml version="1.0" encoding="utf-8"?>
<Properties xmlns="http://schemas.openxmlformats.org/officeDocument/2006/extended-properties" xmlns:vt="http://schemas.openxmlformats.org/officeDocument/2006/docPropsVTypes">
  <TotalTime>1979</TotalTime>
  <Words>203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Dreptul la deconectare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Mapa Cronologica</vt:lpstr>
      <vt:lpstr>Legea 290/2024</vt:lpstr>
      <vt:lpstr>Beneficii</vt:lpstr>
      <vt:lpstr>Intrebari comune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EUGENIU COJOCARU</dc:creator>
  <cp:lastModifiedBy>EUGENIU COJOCARU</cp:lastModifiedBy>
  <cp:revision>5</cp:revision>
  <dcterms:created xsi:type="dcterms:W3CDTF">2025-11-03T15:10:08Z</dcterms:created>
  <dcterms:modified xsi:type="dcterms:W3CDTF">2025-11-05T12:28:32Z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</Properties>
</file>